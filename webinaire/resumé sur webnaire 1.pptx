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100D7-4109-4ADA-845C-DCD056397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E283F6-05F8-4EF0-8B64-1C82C90E4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B5BBE5-C508-4815-B0B5-FE1AF56D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AD5ADB-430F-439D-981C-A4E4A58D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4452F2-7CEB-437F-8280-F1D64AEA0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11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4C2BBA-4A90-4C63-9A9E-36B1E31AA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91908A-3019-45D6-BA11-4F54ECCA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3F2B46-F5CC-4953-AF7A-B1E71EFF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813BC8-FAFF-498B-A670-45582EE4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16768D-2794-4D89-85A8-AD2F247B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28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28976-9301-4E5B-836C-74544A99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0C6D3B-CADC-447A-A26F-549DC3FE6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3DE8EA-5BE5-41F7-8060-DE9B324D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3B1B9F-D2F9-4DB0-A5C6-7593E195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5252D6-B2A9-483F-9BEB-327ED99A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81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C8823-EF56-4308-B4CE-AF760898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592F2B-FED3-445C-9E3B-68F52B9A8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2E30C8-0F5A-4820-BCB8-A04FD5DF8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1EC9C-1892-4401-AC9F-D5E201CB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6B179-C365-4587-A703-8C4E7791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97D104-9BC5-4F43-9F37-BC08B444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AF008E-4D7D-45D8-9928-2A96114F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91CA2-1659-4FA4-94D1-7058EB6FD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42988C-4913-4CDC-B708-75B8305D9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5B9B18C-62C2-4EB3-9640-2EA00E444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BC80BB-5841-4880-8F6D-EEEE9E2A4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90DBCC4-07E8-4279-A405-36D1DDDC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EC2297-3D88-4DCA-8E68-3B9F9C3A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9FAA76-A28F-4EED-B800-75738FA0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05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8DE97-2E0C-411E-8A63-10299625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271D72-5F1F-4184-AA4F-3F74843E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F0DA84-11B6-4F6E-9B23-3C5D78D4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6D19C0-3F43-4A14-9E14-0E3BE89F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80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312B8B-EA05-447D-960A-B2158ECA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655685-2683-4264-BBC5-78E44BB4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65A1AD-E79D-470F-925A-0C7B7098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81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B1903-DB13-4B13-B0BE-EC6556F7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1D3458-067B-446E-B103-30676D1AD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72D613-DFE3-4583-BA72-AD92E60C3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6F937F-E7C1-4C30-9D58-A416DCA4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C1219E-425C-44DA-811E-DF2E1D6F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A9FEB7-0245-4DC1-BF02-46F1133E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85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0F6D6F-9AC5-4AC1-AF9F-76DE74BE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7CDA1A-5A82-4633-AFD6-AE703F15E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EB970B-18C3-4325-82C2-E7F12DE45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9ADC5B-2A95-46B6-B3FB-B960E379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9CFF4A-ADB1-478D-9D62-5ECA5040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68574A-13B3-4952-B0B0-AEABE4A7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03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21D77-62D5-4A91-BE1D-FA13142A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42169F-6F81-4582-A836-EE0D7EA98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9B4C75-55D7-40D9-AEB2-57B067AE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57E34C-29A8-4AD1-8F6B-309E7157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8C9C53-C848-4311-A856-9AF0B43C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51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9A9DE3-207A-4B43-B985-AD70BC173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DAAB6E-4F63-44D1-A776-A3B025789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E8B490-B401-466D-93FA-CD750375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75AA57-07A2-4C5E-92D9-806A6C4F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B0D52-558C-4E01-AA67-8BF0D06E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96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4361B2-9B4D-4CCC-96E8-41B9B56F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7C9DF-B079-4CDB-8003-53162A6BD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69C334-FA33-4F19-B3B4-FD0AE0640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7C98-18AA-4B66-B550-4AF12AB20EA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77EB04-7B18-4990-811C-59FB2BCFF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6D4640-1FA5-4D4E-BAD2-151DCC74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39464-5FA5-480E-B7FC-1AC5C89F0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27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A577899-1DA3-4B77-A8CD-BD5514D2DD64}"/>
              </a:ext>
            </a:extLst>
          </p:cNvPr>
          <p:cNvSpPr txBox="1"/>
          <p:nvPr/>
        </p:nvSpPr>
        <p:spPr>
          <a:xfrm>
            <a:off x="2354580" y="2148840"/>
            <a:ext cx="74828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SN" dirty="0"/>
              <a:t>Le Comité National ITIE, en collaboration avec le Secrétariat international de l’ITIE et </a:t>
            </a:r>
            <a:r>
              <a:rPr lang="fr-SN" dirty="0" err="1"/>
              <a:t>Transparency</a:t>
            </a:r>
            <a:r>
              <a:rPr lang="fr-SN" dirty="0"/>
              <a:t> International organise un atelier de renforcement des capacités portant sur  :</a:t>
            </a:r>
          </a:p>
          <a:p>
            <a:pPr algn="just"/>
            <a:r>
              <a:rPr lang="fr-SN" dirty="0"/>
              <a:t>*« Lutte contre la corruption dans l’attribution des licences : nouvelle Norme ITIE et outils pratiques »*.</a:t>
            </a:r>
          </a:p>
          <a:p>
            <a:pPr algn="just"/>
            <a:r>
              <a:rPr lang="fr-SN" dirty="0"/>
              <a:t>Cet atelier se tiendra en ligne, *le mercredi 6 mai 2026, de 09 h 00 à 11 h 00 GMT, via la plateforme Zoom*. </a:t>
            </a:r>
          </a:p>
          <a:p>
            <a:pPr algn="just"/>
            <a:endParaRPr lang="fr-SN" dirty="0"/>
          </a:p>
          <a:p>
            <a:pPr algn="just"/>
            <a:r>
              <a:rPr lang="fr-SN" dirty="0"/>
              <a:t>Identifier les risques de construction dans le processus d’octroi des licences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49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3801A0A-C9CD-45B0-A2F8-DA65FBF6548F}"/>
              </a:ext>
            </a:extLst>
          </p:cNvPr>
          <p:cNvSpPr txBox="1"/>
          <p:nvPr/>
        </p:nvSpPr>
        <p:spPr>
          <a:xfrm>
            <a:off x="1082040" y="175290"/>
            <a:ext cx="85344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</a:rPr>
              <a:t>Concept abordé</a:t>
            </a:r>
            <a:endParaRPr lang="fr-FR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</a:rPr>
              <a:t>LE MODELE BOT TOUT AU LONG DE LA CHAINE DE VALEUR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</a:rPr>
              <a:t>Exigence 2.5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</a:rPr>
              <a:t>Extractive </a:t>
            </a:r>
            <a:r>
              <a:rPr lang="fr-FR" dirty="0" err="1">
                <a:latin typeface="Times New Roman" panose="02020603050405020304" pitchFamily="18" charset="0"/>
              </a:rPr>
              <a:t>Industirie</a:t>
            </a:r>
            <a:endParaRPr lang="fr-FR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 err="1">
                <a:latin typeface="Times New Roman" panose="02020603050405020304" pitchFamily="18" charset="0"/>
              </a:rPr>
              <a:t>Beneficial</a:t>
            </a:r>
            <a:r>
              <a:rPr lang="fr-FR" dirty="0">
                <a:latin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</a:rPr>
              <a:t>Ownership</a:t>
            </a:r>
            <a:r>
              <a:rPr lang="fr-FR" dirty="0">
                <a:latin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</a:rPr>
              <a:t>transparency</a:t>
            </a:r>
            <a:r>
              <a:rPr lang="fr-FR" dirty="0">
                <a:latin typeface="Times New Roman" panose="02020603050405020304" pitchFamily="18" charset="0"/>
              </a:rPr>
              <a:t> in </a:t>
            </a:r>
            <a:r>
              <a:rPr lang="fr-FR" dirty="0" err="1">
                <a:latin typeface="Times New Roman" panose="02020603050405020304" pitchFamily="18" charset="0"/>
              </a:rPr>
              <a:t>Zambia</a:t>
            </a:r>
            <a:r>
              <a:rPr lang="fr-FR" dirty="0">
                <a:latin typeface="Times New Roman" panose="02020603050405020304" pitchFamily="18" charset="0"/>
              </a:rPr>
              <a:t>, in Ghana,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</a:rPr>
              <a:t>Les étapes du manuel Open Extractives (04)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Présentation du manuel d’</a:t>
            </a:r>
            <a:r>
              <a:rPr lang="fr-FR" dirty="0" err="1"/>
              <a:t>opening</a:t>
            </a:r>
            <a:r>
              <a:rPr lang="fr-FR" dirty="0"/>
              <a:t> extractives sur l’utilisation des données BE dans le </a:t>
            </a:r>
            <a:r>
              <a:rPr lang="fr-FR" dirty="0" err="1"/>
              <a:t>procssus</a:t>
            </a:r>
            <a:r>
              <a:rPr lang="fr-FR" dirty="0"/>
              <a:t> d’octroi des licences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Propriété effective</a:t>
            </a:r>
          </a:p>
          <a:p>
            <a:pPr marL="342900" indent="-342900" algn="just">
              <a:lnSpc>
                <a:spcPct val="150000"/>
              </a:lnSpc>
              <a:buAutoNum type="arabicPeriod" startAt="8"/>
            </a:pPr>
            <a:r>
              <a:rPr lang="fr-FR" dirty="0"/>
              <a:t>Une présentation de </a:t>
            </a:r>
            <a:r>
              <a:rPr lang="fr-FR" dirty="0" err="1"/>
              <a:t>Transparency</a:t>
            </a:r>
            <a:r>
              <a:rPr lang="fr-FR" dirty="0"/>
              <a:t> International (MACRA Tool)</a:t>
            </a:r>
            <a:endParaRPr lang="fr-FR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dirty="0">
              <a:latin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4841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145</Words>
  <Application>Microsoft Office PowerPoint</Application>
  <PresentationFormat>Grand écran</PresentationFormat>
  <Paragraphs>14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sie rachid traore</dc:creator>
  <cp:lastModifiedBy>sie rachid traore</cp:lastModifiedBy>
  <cp:revision>7</cp:revision>
  <dcterms:created xsi:type="dcterms:W3CDTF">2026-05-06T09:26:01Z</dcterms:created>
  <dcterms:modified xsi:type="dcterms:W3CDTF">2026-05-06T13:13:38Z</dcterms:modified>
</cp:coreProperties>
</file>