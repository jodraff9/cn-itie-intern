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5.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6.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7.xml" ContentType="application/vnd.openxmlformats-officedocument.drawingml.chart+xml"/>
  <Override PartName="/ppt/notesSlides/notesSlide19.xml" ContentType="application/vnd.openxmlformats-officedocument.presentationml.notesSlide+xml"/>
  <Override PartName="/ppt/charts/chart8.xml" ContentType="application/vnd.openxmlformats-officedocument.drawingml.chart+xml"/>
  <Override PartName="/ppt/notesSlides/notesSlide20.xml" ContentType="application/vnd.openxmlformats-officedocument.presentationml.notesSlide+xml"/>
  <Override PartName="/ppt/charts/chart9.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78" r:id="rId5"/>
    <p:sldId id="283" r:id="rId6"/>
    <p:sldId id="259" r:id="rId7"/>
    <p:sldId id="261" r:id="rId8"/>
    <p:sldId id="262" r:id="rId9"/>
    <p:sldId id="263" r:id="rId10"/>
    <p:sldId id="279" r:id="rId11"/>
    <p:sldId id="280" r:id="rId12"/>
    <p:sldId id="264" r:id="rId13"/>
    <p:sldId id="265" r:id="rId14"/>
    <p:sldId id="281" r:id="rId15"/>
    <p:sldId id="272" r:id="rId16"/>
    <p:sldId id="268" r:id="rId17"/>
    <p:sldId id="269" r:id="rId18"/>
    <p:sldId id="270" r:id="rId19"/>
    <p:sldId id="271" r:id="rId20"/>
    <p:sldId id="273" r:id="rId21"/>
    <p:sldId id="274" r:id="rId22"/>
    <p:sldId id="275" r:id="rId23"/>
    <p:sldId id="277" r:id="rId24"/>
  </p:sldIdLst>
  <p:sldSz cx="12192000" cy="6858000"/>
  <p:notesSz cx="12192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3C3"/>
    <a:srgbClr val="F4DEDE"/>
    <a:srgbClr val="EAF4F1"/>
    <a:srgbClr val="C9962F"/>
    <a:srgbClr val="082AF5"/>
    <a:srgbClr val="2F7D6E"/>
    <a:srgbClr val="0042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447" autoAdjust="0"/>
  </p:normalViewPr>
  <p:slideViewPr>
    <p:cSldViewPr snapToGrid="0" snapToObjects="1">
      <p:cViewPr varScale="1">
        <p:scale>
          <a:sx n="74" d="100"/>
          <a:sy n="74" d="100"/>
        </p:scale>
        <p:origin x="308" y="44"/>
      </p:cViewPr>
      <p:guideLst>
        <p:guide orient="horz" pos="2183"/>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oleObject" Target="file:///C:\Users\Bmd\Downloads\excelanalysisxlsx.xlsx" TargetMode="External"/><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3" Type="http://schemas.openxmlformats.org/officeDocument/2006/relationships/oleObject" Target="file:///C:\Users\Bmd\Downloads\excelanalysisxlsx.xlsx"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Taux de valeurs manquantes (%)</c:v>
                </c:pt>
              </c:strCache>
            </c:strRef>
          </c:tx>
          <c:spPr>
            <a:solidFill>
              <a:srgbClr val="B33A3A">
                <a:alpha val="100000"/>
              </a:srgbClr>
            </a:solidFill>
            <a:ln>
              <a:noFill/>
            </a:ln>
            <a:effectLst/>
          </c:spPr>
          <c:invertIfNegative val="0"/>
          <c:dPt>
            <c:idx val="0"/>
            <c:invertIfNegative val="0"/>
            <c:bubble3D val="0"/>
            <c:spPr>
              <a:solidFill>
                <a:srgbClr val="B33A3A"/>
              </a:solidFill>
              <a:ln>
                <a:noFill/>
              </a:ln>
              <a:effectLst/>
            </c:spPr>
            <c:extLst>
              <c:ext xmlns:c16="http://schemas.microsoft.com/office/drawing/2014/chart" uri="{C3380CC4-5D6E-409C-BE32-E72D297353CC}">
                <c16:uniqueId val="{00000001-887A-4555-AB85-1643AE362859}"/>
              </c:ext>
            </c:extLst>
          </c:dPt>
          <c:dPt>
            <c:idx val="1"/>
            <c:invertIfNegative val="0"/>
            <c:bubble3D val="0"/>
            <c:spPr>
              <a:solidFill>
                <a:srgbClr val="B33A3A"/>
              </a:solidFill>
              <a:ln>
                <a:noFill/>
              </a:ln>
              <a:effectLst/>
            </c:spPr>
            <c:extLst>
              <c:ext xmlns:c16="http://schemas.microsoft.com/office/drawing/2014/chart" uri="{C3380CC4-5D6E-409C-BE32-E72D297353CC}">
                <c16:uniqueId val="{00000003-887A-4555-AB85-1643AE362859}"/>
              </c:ext>
            </c:extLst>
          </c:dPt>
          <c:dPt>
            <c:idx val="2"/>
            <c:invertIfNegative val="0"/>
            <c:bubble3D val="0"/>
            <c:spPr>
              <a:solidFill>
                <a:srgbClr val="C9962F"/>
              </a:solidFill>
              <a:ln>
                <a:noFill/>
              </a:ln>
              <a:effectLst/>
            </c:spPr>
            <c:extLst>
              <c:ext xmlns:c16="http://schemas.microsoft.com/office/drawing/2014/chart" uri="{C3380CC4-5D6E-409C-BE32-E72D297353CC}">
                <c16:uniqueId val="{00000005-887A-4555-AB85-1643AE362859}"/>
              </c:ext>
            </c:extLst>
          </c:dPt>
          <c:dPt>
            <c:idx val="3"/>
            <c:invertIfNegative val="0"/>
            <c:bubble3D val="0"/>
            <c:spPr>
              <a:solidFill>
                <a:srgbClr val="2F7D6E"/>
              </a:solidFill>
              <a:ln>
                <a:noFill/>
              </a:ln>
              <a:effectLst/>
            </c:spPr>
            <c:extLst>
              <c:ext xmlns:c16="http://schemas.microsoft.com/office/drawing/2014/chart" uri="{C3380CC4-5D6E-409C-BE32-E72D297353CC}">
                <c16:uniqueId val="{00000007-887A-4555-AB85-1643AE362859}"/>
              </c:ext>
            </c:extLst>
          </c:dPt>
          <c:dPt>
            <c:idx val="4"/>
            <c:invertIfNegative val="0"/>
            <c:bubble3D val="0"/>
            <c:spPr>
              <a:solidFill>
                <a:srgbClr val="2F7D6E"/>
              </a:solidFill>
              <a:ln>
                <a:noFill/>
              </a:ln>
              <a:effectLst/>
            </c:spPr>
            <c:extLst>
              <c:ext xmlns:c16="http://schemas.microsoft.com/office/drawing/2014/chart" uri="{C3380CC4-5D6E-409C-BE32-E72D297353CC}">
                <c16:uniqueId val="{00000009-887A-4555-AB85-1643AE362859}"/>
              </c:ext>
            </c:extLst>
          </c:dPt>
          <c:dPt>
            <c:idx val="5"/>
            <c:invertIfNegative val="0"/>
            <c:bubble3D val="0"/>
            <c:spPr>
              <a:solidFill>
                <a:srgbClr val="2F7D6E"/>
              </a:solidFill>
              <a:ln>
                <a:noFill/>
              </a:ln>
              <a:effectLst/>
            </c:spPr>
            <c:extLst>
              <c:ext xmlns:c16="http://schemas.microsoft.com/office/drawing/2014/chart" uri="{C3380CC4-5D6E-409C-BE32-E72D297353CC}">
                <c16:uniqueId val="{0000000B-887A-4555-AB85-1643AE362859}"/>
              </c:ext>
            </c:extLst>
          </c:dPt>
          <c:dLbls>
            <c:numFmt formatCode="0.0&quot;%&quot;" sourceLinked="0"/>
            <c:spPr>
              <a:noFill/>
              <a:ln>
                <a:noFill/>
              </a:ln>
              <a:effectLst/>
            </c:spPr>
            <c:txPr>
              <a:bodyPr/>
              <a:lstStyle/>
              <a:p>
                <a:pPr>
                  <a:defRPr sz="1100" b="1" i="0" u="none" strike="noStrike">
                    <a:solidFill>
                      <a:schemeClr val="bg1"/>
                    </a:solidFill>
                    <a:latin typeface="Arial"/>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Nom de la PPE</c:v>
                </c:pt>
                <c:pt idx="1">
                  <c:v>Est une PPE</c:v>
                </c:pt>
                <c:pt idx="2">
                  <c:v>% Voix directs</c:v>
                </c:pt>
                <c:pt idx="3">
                  <c:v>% Actions directes</c:v>
                </c:pt>
                <c:pt idx="4">
                  <c:v>Fonction PPE</c:v>
                </c:pt>
                <c:pt idx="5">
                  <c:v>Pays de résidence</c:v>
                </c:pt>
              </c:strCache>
            </c:strRef>
          </c:cat>
          <c:val>
            <c:numRef>
              <c:f>Sheet1!$B$2:$B$7</c:f>
              <c:numCache>
                <c:formatCode>General</c:formatCode>
                <c:ptCount val="6"/>
                <c:pt idx="0">
                  <c:v>97.1</c:v>
                </c:pt>
                <c:pt idx="1">
                  <c:v>85.2</c:v>
                </c:pt>
                <c:pt idx="2">
                  <c:v>41.9</c:v>
                </c:pt>
                <c:pt idx="3">
                  <c:v>27.1</c:v>
                </c:pt>
                <c:pt idx="4">
                  <c:v>12.9</c:v>
                </c:pt>
                <c:pt idx="5">
                  <c:v>12.3</c:v>
                </c:pt>
              </c:numCache>
            </c:numRef>
          </c:val>
          <c:extLst>
            <c:ext xmlns:c16="http://schemas.microsoft.com/office/drawing/2014/chart" uri="{C3380CC4-5D6E-409C-BE32-E72D297353CC}">
              <c16:uniqueId val="{0000000C-887A-4555-AB85-1643AE362859}"/>
            </c:ext>
          </c:extLst>
        </c:ser>
        <c:dLbls>
          <c:showLegendKey val="0"/>
          <c:showVal val="1"/>
          <c:showCatName val="0"/>
          <c:showSerName val="0"/>
          <c:showPercent val="0"/>
          <c:showBubbleSize val="0"/>
        </c:dLbls>
        <c:gapWidth val="64"/>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532"/>
                </a:solidFill>
                <a:latin typeface="Calibri"/>
              </a:defRPr>
            </a:pPr>
            <a:endParaRPr lang="fr-FR"/>
          </a:p>
        </c:txPr>
        <c:crossAx val="2094734552"/>
        <c:crosses val="autoZero"/>
        <c:auto val="1"/>
        <c:lblAlgn val="ctr"/>
        <c:lblOffset val="100"/>
        <c:noMultiLvlLbl val="1"/>
      </c:catAx>
      <c:valAx>
        <c:axId val="2094734552"/>
        <c:scaling>
          <c:orientation val="minMax"/>
          <c:max val="100"/>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fr-FR"/>
          </a:p>
        </c:txPr>
        <c:crossAx val="2094734554"/>
        <c:crosses val="autoZero"/>
        <c:crossBetween val="between"/>
        <c:majorUnit val="25"/>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Taux de valeurs manquantes (%)</c:v>
                </c:pt>
              </c:strCache>
            </c:strRef>
          </c:tx>
          <c:spPr>
            <a:solidFill>
              <a:srgbClr val="B33A3A"/>
            </a:solidFill>
            <a:effectLst/>
          </c:spPr>
          <c:invertIfNegative val="0"/>
          <c:dPt>
            <c:idx val="0"/>
            <c:invertIfNegative val="0"/>
            <c:bubble3D val="0"/>
            <c:extLst>
              <c:ext xmlns:c16="http://schemas.microsoft.com/office/drawing/2014/chart" uri="{C3380CC4-5D6E-409C-BE32-E72D297353CC}">
                <c16:uniqueId val="{00000000-AC20-4059-88CB-58DB756E3000}"/>
              </c:ext>
            </c:extLst>
          </c:dPt>
          <c:dPt>
            <c:idx val="1"/>
            <c:invertIfNegative val="0"/>
            <c:bubble3D val="0"/>
            <c:extLst>
              <c:ext xmlns:c16="http://schemas.microsoft.com/office/drawing/2014/chart" uri="{C3380CC4-5D6E-409C-BE32-E72D297353CC}">
                <c16:uniqueId val="{00000001-AC20-4059-88CB-58DB756E3000}"/>
              </c:ext>
            </c:extLst>
          </c:dPt>
          <c:dPt>
            <c:idx val="2"/>
            <c:invertIfNegative val="0"/>
            <c:bubble3D val="0"/>
            <c:extLst>
              <c:ext xmlns:c16="http://schemas.microsoft.com/office/drawing/2014/chart" uri="{C3380CC4-5D6E-409C-BE32-E72D297353CC}">
                <c16:uniqueId val="{00000002-AC20-4059-88CB-58DB756E3000}"/>
              </c:ext>
            </c:extLst>
          </c:dPt>
          <c:dPt>
            <c:idx val="3"/>
            <c:invertIfNegative val="0"/>
            <c:bubble3D val="0"/>
            <c:spPr>
              <a:solidFill>
                <a:srgbClr val="C9962F"/>
              </a:solidFill>
              <a:effectLst/>
            </c:spPr>
            <c:extLst>
              <c:ext xmlns:c16="http://schemas.microsoft.com/office/drawing/2014/chart" uri="{C3380CC4-5D6E-409C-BE32-E72D297353CC}">
                <c16:uniqueId val="{00000004-AC20-4059-88CB-58DB756E3000}"/>
              </c:ext>
            </c:extLst>
          </c:dPt>
          <c:dPt>
            <c:idx val="4"/>
            <c:invertIfNegative val="0"/>
            <c:bubble3D val="0"/>
            <c:spPr>
              <a:solidFill>
                <a:srgbClr val="C9962F"/>
              </a:solidFill>
              <a:effectLst/>
            </c:spPr>
            <c:extLst>
              <c:ext xmlns:c16="http://schemas.microsoft.com/office/drawing/2014/chart" uri="{C3380CC4-5D6E-409C-BE32-E72D297353CC}">
                <c16:uniqueId val="{00000006-AC20-4059-88CB-58DB756E3000}"/>
              </c:ext>
            </c:extLst>
          </c:dPt>
          <c:dPt>
            <c:idx val="5"/>
            <c:invertIfNegative val="0"/>
            <c:bubble3D val="0"/>
            <c:spPr>
              <a:solidFill>
                <a:srgbClr val="C9962F"/>
              </a:solidFill>
              <a:effectLst/>
            </c:spPr>
            <c:extLst>
              <c:ext xmlns:c16="http://schemas.microsoft.com/office/drawing/2014/chart" uri="{C3380CC4-5D6E-409C-BE32-E72D297353CC}">
                <c16:uniqueId val="{00000008-AC20-4059-88CB-58DB756E3000}"/>
              </c:ext>
            </c:extLst>
          </c:dPt>
          <c:dPt>
            <c:idx val="6"/>
            <c:invertIfNegative val="0"/>
            <c:bubble3D val="0"/>
            <c:spPr>
              <a:solidFill>
                <a:srgbClr val="C9962F"/>
              </a:solidFill>
              <a:effectLst/>
            </c:spPr>
            <c:extLst>
              <c:ext xmlns:c16="http://schemas.microsoft.com/office/drawing/2014/chart" uri="{C3380CC4-5D6E-409C-BE32-E72D297353CC}">
                <c16:uniqueId val="{0000000A-AC20-4059-88CB-58DB756E3000}"/>
              </c:ext>
            </c:extLst>
          </c:dPt>
          <c:dPt>
            <c:idx val="7"/>
            <c:invertIfNegative val="0"/>
            <c:bubble3D val="0"/>
            <c:spPr>
              <a:solidFill>
                <a:srgbClr val="2F7D6E"/>
              </a:solidFill>
              <a:effectLst/>
            </c:spPr>
            <c:extLst>
              <c:ext xmlns:c16="http://schemas.microsoft.com/office/drawing/2014/chart" uri="{C3380CC4-5D6E-409C-BE32-E72D297353CC}">
                <c16:uniqueId val="{0000000C-AC20-4059-88CB-58DB756E3000}"/>
              </c:ext>
            </c:extLst>
          </c:dPt>
          <c:dLbls>
            <c:numFmt formatCode="0.0&quot;%&quot;" sourceLinked="0"/>
            <c:spPr>
              <a:noFill/>
              <a:ln>
                <a:noFill/>
              </a:ln>
              <a:effectLst/>
            </c:spPr>
            <c:txPr>
              <a:bodyPr/>
              <a:lstStyle/>
              <a:p>
                <a:pPr>
                  <a:defRPr sz="1100" b="1" i="0" u="none" strike="noStrike">
                    <a:solidFill>
                      <a:schemeClr val="bg1"/>
                    </a:solidFill>
                    <a:latin typeface="Arial"/>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Kédougou</c:v>
                </c:pt>
                <c:pt idx="1">
                  <c:v>Diourbel</c:v>
                </c:pt>
                <c:pt idx="2">
                  <c:v>Kaolack</c:v>
                </c:pt>
                <c:pt idx="3">
                  <c:v>Ziguinchor</c:v>
                </c:pt>
                <c:pt idx="4">
                  <c:v>Fatick</c:v>
                </c:pt>
                <c:pt idx="5">
                  <c:v>Dakar</c:v>
                </c:pt>
                <c:pt idx="6">
                  <c:v>Tambacounda</c:v>
                </c:pt>
                <c:pt idx="7">
                  <c:v>Thiès</c:v>
                </c:pt>
              </c:strCache>
            </c:strRef>
          </c:cat>
          <c:val>
            <c:numRef>
              <c:f>Sheet1!$B$2:$B$9</c:f>
              <c:numCache>
                <c:formatCode>General</c:formatCode>
                <c:ptCount val="8"/>
                <c:pt idx="0">
                  <c:v>68.099999999999994</c:v>
                </c:pt>
                <c:pt idx="1">
                  <c:v>66.7</c:v>
                </c:pt>
                <c:pt idx="2">
                  <c:v>66.7</c:v>
                </c:pt>
                <c:pt idx="3">
                  <c:v>50</c:v>
                </c:pt>
                <c:pt idx="4">
                  <c:v>50</c:v>
                </c:pt>
                <c:pt idx="5">
                  <c:v>42.9</c:v>
                </c:pt>
                <c:pt idx="6">
                  <c:v>41.7</c:v>
                </c:pt>
                <c:pt idx="7">
                  <c:v>36.4</c:v>
                </c:pt>
              </c:numCache>
            </c:numRef>
          </c:val>
          <c:extLst>
            <c:ext xmlns:c16="http://schemas.microsoft.com/office/drawing/2014/chart" uri="{C3380CC4-5D6E-409C-BE32-E72D297353CC}">
              <c16:uniqueId val="{0000000D-AC20-4059-88CB-58DB756E3000}"/>
            </c:ext>
          </c:extLst>
        </c:ser>
        <c:dLbls>
          <c:showLegendKey val="0"/>
          <c:showVal val="1"/>
          <c:showCatName val="0"/>
          <c:showSerName val="0"/>
          <c:showPercent val="0"/>
          <c:showBubbleSize val="0"/>
        </c:dLbls>
        <c:gapWidth val="64"/>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1E2532"/>
                </a:solidFill>
                <a:latin typeface="Calibri"/>
              </a:defRPr>
            </a:pPr>
            <a:endParaRPr lang="fr-FR"/>
          </a:p>
        </c:txPr>
        <c:crossAx val="2094734552"/>
        <c:crosses val="autoZero"/>
        <c:auto val="1"/>
        <c:lblAlgn val="ctr"/>
        <c:lblOffset val="100"/>
        <c:noMultiLvlLbl val="1"/>
      </c:catAx>
      <c:valAx>
        <c:axId val="2094734552"/>
        <c:scaling>
          <c:orientation val="minMax"/>
          <c:max val="80"/>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fr-FR"/>
          </a:p>
        </c:txPr>
        <c:crossAx val="2094734554"/>
        <c:crosses val="autoZero"/>
        <c:crossBetween val="between"/>
        <c:majorUnit val="2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Feuil1!$B$42</c:f>
              <c:strCache>
                <c:ptCount val="1"/>
                <c:pt idx="0">
                  <c:v>Toutes deux renseignées</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Tahoma" panose="020B0604030504040204" pitchFamily="34" charset="0"/>
                    <a:ea typeface="Tahoma" panose="020B0604030504040204" pitchFamily="34" charset="0"/>
                    <a:cs typeface="Tahoma" panose="020B0604030504040204" pitchFamily="34" charset="0"/>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Feuil1!$A$43:$A$47</c:f>
              <c:numCache>
                <c:formatCode>General</c:formatCode>
                <c:ptCount val="5"/>
                <c:pt idx="0">
                  <c:v>2021</c:v>
                </c:pt>
                <c:pt idx="1">
                  <c:v>2022</c:v>
                </c:pt>
                <c:pt idx="2">
                  <c:v>2023</c:v>
                </c:pt>
                <c:pt idx="3">
                  <c:v>2024</c:v>
                </c:pt>
                <c:pt idx="4">
                  <c:v>2025</c:v>
                </c:pt>
              </c:numCache>
            </c:numRef>
          </c:cat>
          <c:val>
            <c:numRef>
              <c:f>Feuil1!$B$43:$B$47</c:f>
              <c:numCache>
                <c:formatCode>0.0%</c:formatCode>
                <c:ptCount val="5"/>
                <c:pt idx="0">
                  <c:v>0.46700000000000003</c:v>
                </c:pt>
                <c:pt idx="1">
                  <c:v>0.73399999999999999</c:v>
                </c:pt>
                <c:pt idx="2">
                  <c:v>0.39700000000000002</c:v>
                </c:pt>
                <c:pt idx="3">
                  <c:v>0.745</c:v>
                </c:pt>
                <c:pt idx="4">
                  <c:v>0.53200000000000003</c:v>
                </c:pt>
              </c:numCache>
            </c:numRef>
          </c:val>
          <c:extLst>
            <c:ext xmlns:c16="http://schemas.microsoft.com/office/drawing/2014/chart" uri="{C3380CC4-5D6E-409C-BE32-E72D297353CC}">
              <c16:uniqueId val="{00000000-54DD-4F2B-AF0D-B848CF0273A3}"/>
            </c:ext>
          </c:extLst>
        </c:ser>
        <c:ser>
          <c:idx val="1"/>
          <c:order val="1"/>
          <c:tx>
            <c:strRef>
              <c:f>Feuil1!$C$42</c:f>
              <c:strCache>
                <c:ptCount val="1"/>
                <c:pt idx="0">
                  <c:v>Voix absente uniquement</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Tahoma" panose="020B0604030504040204" pitchFamily="34" charset="0"/>
                    <a:ea typeface="Tahoma" panose="020B0604030504040204" pitchFamily="34" charset="0"/>
                    <a:cs typeface="Tahoma" panose="020B0604030504040204" pitchFamily="34" charset="0"/>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Feuil1!$A$43:$A$47</c:f>
              <c:numCache>
                <c:formatCode>General</c:formatCode>
                <c:ptCount val="5"/>
                <c:pt idx="0">
                  <c:v>2021</c:v>
                </c:pt>
                <c:pt idx="1">
                  <c:v>2022</c:v>
                </c:pt>
                <c:pt idx="2">
                  <c:v>2023</c:v>
                </c:pt>
                <c:pt idx="3">
                  <c:v>2024</c:v>
                </c:pt>
                <c:pt idx="4">
                  <c:v>2025</c:v>
                </c:pt>
              </c:numCache>
            </c:numRef>
          </c:cat>
          <c:val>
            <c:numRef>
              <c:f>Feuil1!$C$43:$C$47</c:f>
              <c:numCache>
                <c:formatCode>0.0%</c:formatCode>
                <c:ptCount val="5"/>
                <c:pt idx="0">
                  <c:v>0.33300000000000002</c:v>
                </c:pt>
                <c:pt idx="1">
                  <c:v>0.154</c:v>
                </c:pt>
                <c:pt idx="2">
                  <c:v>0.17399999999999999</c:v>
                </c:pt>
                <c:pt idx="3">
                  <c:v>0.112</c:v>
                </c:pt>
                <c:pt idx="4">
                  <c:v>9.0999999999999998E-2</c:v>
                </c:pt>
              </c:numCache>
            </c:numRef>
          </c:val>
          <c:extLst>
            <c:ext xmlns:c16="http://schemas.microsoft.com/office/drawing/2014/chart" uri="{C3380CC4-5D6E-409C-BE32-E72D297353CC}">
              <c16:uniqueId val="{00000001-54DD-4F2B-AF0D-B848CF0273A3}"/>
            </c:ext>
          </c:extLst>
        </c:ser>
        <c:ser>
          <c:idx val="2"/>
          <c:order val="2"/>
          <c:tx>
            <c:strRef>
              <c:f>Feuil1!$D$42</c:f>
              <c:strCache>
                <c:ptCount val="1"/>
                <c:pt idx="0">
                  <c:v>Action absente uniquement</c:v>
                </c:pt>
              </c:strCache>
            </c:strRef>
          </c:tx>
          <c:spPr>
            <a:solidFill>
              <a:schemeClr val="accent3"/>
            </a:solidFill>
            <a:ln>
              <a:noFill/>
            </a:ln>
            <a:effectLst/>
          </c:spPr>
          <c:invertIfNegative val="0"/>
          <c:dLbls>
            <c:delete val="1"/>
          </c:dLbls>
          <c:cat>
            <c:numRef>
              <c:f>Feuil1!$A$43:$A$47</c:f>
              <c:numCache>
                <c:formatCode>General</c:formatCode>
                <c:ptCount val="5"/>
                <c:pt idx="0">
                  <c:v>2021</c:v>
                </c:pt>
                <c:pt idx="1">
                  <c:v>2022</c:v>
                </c:pt>
                <c:pt idx="2">
                  <c:v>2023</c:v>
                </c:pt>
                <c:pt idx="3">
                  <c:v>2024</c:v>
                </c:pt>
                <c:pt idx="4">
                  <c:v>2025</c:v>
                </c:pt>
              </c:numCache>
            </c:numRef>
          </c:cat>
          <c:val>
            <c:numRef>
              <c:f>Feuil1!$D$43:$D$47</c:f>
              <c:numCache>
                <c:formatCode>0.0%</c:formatCode>
                <c:ptCount val="5"/>
                <c:pt idx="0">
                  <c:v>1.7000000000000001E-2</c:v>
                </c:pt>
                <c:pt idx="1">
                  <c:v>4.1000000000000002E-2</c:v>
                </c:pt>
                <c:pt idx="2">
                  <c:v>0</c:v>
                </c:pt>
                <c:pt idx="3">
                  <c:v>2.1000000000000001E-2</c:v>
                </c:pt>
                <c:pt idx="4">
                  <c:v>0</c:v>
                </c:pt>
              </c:numCache>
            </c:numRef>
          </c:val>
          <c:extLst>
            <c:ext xmlns:c16="http://schemas.microsoft.com/office/drawing/2014/chart" uri="{C3380CC4-5D6E-409C-BE32-E72D297353CC}">
              <c16:uniqueId val="{00000002-54DD-4F2B-AF0D-B848CF0273A3}"/>
            </c:ext>
          </c:extLst>
        </c:ser>
        <c:ser>
          <c:idx val="3"/>
          <c:order val="3"/>
          <c:tx>
            <c:strRef>
              <c:f>Feuil1!$E$42</c:f>
              <c:strCache>
                <c:ptCount val="1"/>
                <c:pt idx="0">
                  <c:v>Action et Voix absentes</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Feuil1!$A$43:$A$47</c:f>
              <c:numCache>
                <c:formatCode>General</c:formatCode>
                <c:ptCount val="5"/>
                <c:pt idx="0">
                  <c:v>2021</c:v>
                </c:pt>
                <c:pt idx="1">
                  <c:v>2022</c:v>
                </c:pt>
                <c:pt idx="2">
                  <c:v>2023</c:v>
                </c:pt>
                <c:pt idx="3">
                  <c:v>2024</c:v>
                </c:pt>
                <c:pt idx="4">
                  <c:v>2025</c:v>
                </c:pt>
              </c:numCache>
            </c:numRef>
          </c:cat>
          <c:val>
            <c:numRef>
              <c:f>Feuil1!$E$43:$E$47</c:f>
              <c:numCache>
                <c:formatCode>0.0%</c:formatCode>
                <c:ptCount val="5"/>
                <c:pt idx="0">
                  <c:v>0.183</c:v>
                </c:pt>
                <c:pt idx="1">
                  <c:v>7.0999999999999994E-2</c:v>
                </c:pt>
                <c:pt idx="2">
                  <c:v>0.42899999999999999</c:v>
                </c:pt>
                <c:pt idx="3">
                  <c:v>0.122</c:v>
                </c:pt>
                <c:pt idx="4">
                  <c:v>0.377</c:v>
                </c:pt>
              </c:numCache>
            </c:numRef>
          </c:val>
          <c:extLst>
            <c:ext xmlns:c16="http://schemas.microsoft.com/office/drawing/2014/chart" uri="{C3380CC4-5D6E-409C-BE32-E72D297353CC}">
              <c16:uniqueId val="{00000003-54DD-4F2B-AF0D-B848CF0273A3}"/>
            </c:ext>
          </c:extLst>
        </c:ser>
        <c:dLbls>
          <c:dLblPos val="ctr"/>
          <c:showLegendKey val="0"/>
          <c:showVal val="1"/>
          <c:showCatName val="0"/>
          <c:showSerName val="0"/>
          <c:showPercent val="0"/>
          <c:showBubbleSize val="0"/>
        </c:dLbls>
        <c:gapWidth val="150"/>
        <c:overlap val="100"/>
        <c:axId val="-1747004144"/>
        <c:axId val="-1747006320"/>
      </c:barChart>
      <c:catAx>
        <c:axId val="-1747004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fr-FR"/>
          </a:p>
        </c:txPr>
        <c:crossAx val="-1747006320"/>
        <c:crosses val="autoZero"/>
        <c:auto val="1"/>
        <c:lblAlgn val="ctr"/>
        <c:lblOffset val="100"/>
        <c:noMultiLvlLbl val="0"/>
      </c:catAx>
      <c:valAx>
        <c:axId val="-1747006320"/>
        <c:scaling>
          <c:orientation val="minMax"/>
          <c:max val="1"/>
        </c:scaling>
        <c:delete val="1"/>
        <c:axPos val="l"/>
        <c:numFmt formatCode="0.%" sourceLinked="0"/>
        <c:majorTickMark val="none"/>
        <c:minorTickMark val="none"/>
        <c:tickLblPos val="nextTo"/>
        <c:crossAx val="-1747004144"/>
        <c:crosses val="autoZero"/>
        <c:crossBetween val="between"/>
      </c:valAx>
      <c:spPr>
        <a:solidFill>
          <a:schemeClr val="lt1"/>
        </a:solidFill>
        <a:ln w="12700" cap="flat" cmpd="sng" algn="ctr">
          <a:solidFill>
            <a:schemeClr val="accent6">
              <a:lumMod val="40000"/>
              <a:lumOff val="60000"/>
            </a:schemeClr>
          </a:solidFill>
          <a:prstDash val="solid"/>
          <a:miter lim="800000"/>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pPr>
          <a:endParaRPr lang="fr-FR"/>
        </a:p>
      </c:txPr>
    </c:legend>
    <c:plotVisOnly val="1"/>
    <c:dispBlanksAs val="gap"/>
    <c:showDLblsOverMax val="0"/>
  </c:chart>
  <c:spPr>
    <a:noFill/>
    <a:ln>
      <a:noFill/>
    </a:ln>
    <a:effectLst/>
  </c:spPr>
  <c:txPr>
    <a:bodyPr/>
    <a:lstStyle/>
    <a:p>
      <a:pPr>
        <a:defRPr>
          <a:latin typeface="Tahoma" panose="020B0604030504040204" pitchFamily="34" charset="0"/>
          <a:ea typeface="Tahoma" panose="020B0604030504040204" pitchFamily="34" charset="0"/>
          <a:cs typeface="Tahoma" panose="020B0604030504040204" pitchFamily="34" charset="0"/>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917596370382567"/>
          <c:y val="1.543081176179366E-2"/>
          <c:w val="0.88082403629617434"/>
          <c:h val="0.79646149840471225"/>
        </c:manualLayout>
      </c:layout>
      <c:barChart>
        <c:barDir val="col"/>
        <c:grouping val="clustered"/>
        <c:varyColors val="0"/>
        <c:ser>
          <c:idx val="0"/>
          <c:order val="0"/>
          <c:tx>
            <c:strRef>
              <c:f>Feuil1!$A$52</c:f>
              <c:strCache>
                <c:ptCount val="1"/>
                <c:pt idx="0">
                  <c:v>code binaire dans « Fonction PPE (545)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Feuil1!$B$51</c:f>
              <c:strCache>
                <c:ptCount val="1"/>
                <c:pt idx="0">
                  <c:v>Pourcentage</c:v>
                </c:pt>
              </c:strCache>
            </c:strRef>
          </c:cat>
          <c:val>
            <c:numRef>
              <c:f>Feuil1!$B$52</c:f>
              <c:numCache>
                <c:formatCode>0.0%</c:formatCode>
                <c:ptCount val="1"/>
                <c:pt idx="0">
                  <c:v>0.86780000000000002</c:v>
                </c:pt>
              </c:numCache>
            </c:numRef>
          </c:val>
          <c:extLst>
            <c:ext xmlns:c16="http://schemas.microsoft.com/office/drawing/2014/chart" uri="{C3380CC4-5D6E-409C-BE32-E72D297353CC}">
              <c16:uniqueId val="{00000000-C39A-406A-8F6C-4F41D17C07DE}"/>
            </c:ext>
          </c:extLst>
        </c:ser>
        <c:ser>
          <c:idx val="1"/>
          <c:order val="1"/>
          <c:tx>
            <c:strRef>
              <c:f>Feuil1!$A$53</c:f>
              <c:strCache>
                <c:ptCount val="1"/>
                <c:pt idx="0">
                  <c:v> nom de pays dans « Est Une PPE » (14)</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Feuil1!$B$51</c:f>
              <c:strCache>
                <c:ptCount val="1"/>
                <c:pt idx="0">
                  <c:v>Pourcentage</c:v>
                </c:pt>
              </c:strCache>
            </c:strRef>
          </c:cat>
          <c:val>
            <c:numRef>
              <c:f>Feuil1!$B$53</c:f>
              <c:numCache>
                <c:formatCode>0.0%</c:formatCode>
                <c:ptCount val="1"/>
                <c:pt idx="0">
                  <c:v>2.23E-2</c:v>
                </c:pt>
              </c:numCache>
            </c:numRef>
          </c:val>
          <c:extLst>
            <c:ext xmlns:c16="http://schemas.microsoft.com/office/drawing/2014/chart" uri="{C3380CC4-5D6E-409C-BE32-E72D297353CC}">
              <c16:uniqueId val="{00000001-C39A-406A-8F6C-4F41D17C07DE}"/>
            </c:ext>
          </c:extLst>
        </c:ser>
        <c:ser>
          <c:idx val="2"/>
          <c:order val="2"/>
          <c:tx>
            <c:strRef>
              <c:f>Feuil1!$A$54</c:f>
              <c:strCache>
                <c:ptCount val="1"/>
                <c:pt idx="0">
                  <c:v>libellé collectif dans « NomPPE » (2)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Feuil1!$B$51</c:f>
              <c:strCache>
                <c:ptCount val="1"/>
                <c:pt idx="0">
                  <c:v>Pourcentage</c:v>
                </c:pt>
              </c:strCache>
            </c:strRef>
          </c:cat>
          <c:val>
            <c:numRef>
              <c:f>Feuil1!$B$54</c:f>
              <c:numCache>
                <c:formatCode>0.0%</c:formatCode>
                <c:ptCount val="1"/>
                <c:pt idx="0">
                  <c:v>3.2000000000000002E-3</c:v>
                </c:pt>
              </c:numCache>
            </c:numRef>
          </c:val>
          <c:extLst>
            <c:ext xmlns:c16="http://schemas.microsoft.com/office/drawing/2014/chart" uri="{C3380CC4-5D6E-409C-BE32-E72D297353CC}">
              <c16:uniqueId val="{00000002-C39A-406A-8F6C-4F41D17C07DE}"/>
            </c:ext>
          </c:extLst>
        </c:ser>
        <c:ser>
          <c:idx val="3"/>
          <c:order val="3"/>
          <c:tx>
            <c:strRef>
              <c:f>Feuil1!$A$55</c:f>
              <c:strCache>
                <c:ptCount val="1"/>
                <c:pt idx="0">
                  <c:v>nom de personne dans « Fonction PPE » (2)</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Feuil1!$B$51</c:f>
              <c:strCache>
                <c:ptCount val="1"/>
                <c:pt idx="0">
                  <c:v>Pourcentage</c:v>
                </c:pt>
              </c:strCache>
            </c:strRef>
          </c:cat>
          <c:val>
            <c:numRef>
              <c:f>Feuil1!$B$55</c:f>
              <c:numCache>
                <c:formatCode>0.0%</c:formatCode>
                <c:ptCount val="1"/>
                <c:pt idx="0">
                  <c:v>3.2000000000000002E-3</c:v>
                </c:pt>
              </c:numCache>
            </c:numRef>
          </c:val>
          <c:extLst>
            <c:ext xmlns:c16="http://schemas.microsoft.com/office/drawing/2014/chart" uri="{C3380CC4-5D6E-409C-BE32-E72D297353CC}">
              <c16:uniqueId val="{00000003-C39A-406A-8F6C-4F41D17C07DE}"/>
            </c:ext>
          </c:extLst>
        </c:ser>
        <c:dLbls>
          <c:dLblPos val="outEnd"/>
          <c:showLegendKey val="0"/>
          <c:showVal val="1"/>
          <c:showCatName val="0"/>
          <c:showSerName val="0"/>
          <c:showPercent val="0"/>
          <c:showBubbleSize val="0"/>
        </c:dLbls>
        <c:gapWidth val="101"/>
        <c:axId val="1741418063"/>
        <c:axId val="1741418543"/>
      </c:barChart>
      <c:catAx>
        <c:axId val="17414180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741418543"/>
        <c:crosses val="autoZero"/>
        <c:auto val="1"/>
        <c:lblAlgn val="ctr"/>
        <c:lblOffset val="100"/>
        <c:noMultiLvlLbl val="0"/>
      </c:catAx>
      <c:valAx>
        <c:axId val="1741418543"/>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7414180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Statut déclaratif</c:v>
                </c:pt>
              </c:strCache>
            </c:strRef>
          </c:tx>
          <c:spPr>
            <a:solidFill>
              <a:srgbClr val="2F7D6E"/>
            </a:solidFill>
            <a:ln w="9525" cap="flat">
              <a:solidFill>
                <a:srgbClr val="F9F9F9"/>
              </a:solidFill>
              <a:prstDash val="solid"/>
              <a:round/>
            </a:ln>
            <a:effectLst/>
          </c:spPr>
          <c:dPt>
            <c:idx val="0"/>
            <c:bubble3D val="0"/>
            <c:spPr>
              <a:solidFill>
                <a:srgbClr val="2F7D6E"/>
              </a:solidFill>
              <a:ln w="25400" cap="flat">
                <a:solidFill>
                  <a:srgbClr val="FFFFFF"/>
                </a:solidFill>
                <a:prstDash val="solid"/>
                <a:round/>
              </a:ln>
              <a:effectLst/>
            </c:spPr>
            <c:extLst>
              <c:ext xmlns:c16="http://schemas.microsoft.com/office/drawing/2014/chart" uri="{C3380CC4-5D6E-409C-BE32-E72D297353CC}">
                <c16:uniqueId val="{00000001-C1AC-4367-B092-ACFC364CE254}"/>
              </c:ext>
            </c:extLst>
          </c:dPt>
          <c:dPt>
            <c:idx val="1"/>
            <c:bubble3D val="0"/>
            <c:spPr>
              <a:solidFill>
                <a:srgbClr val="FF0000"/>
              </a:solidFill>
              <a:ln w="25400" cap="flat">
                <a:solidFill>
                  <a:srgbClr val="FFFFFF"/>
                </a:solidFill>
                <a:prstDash val="solid"/>
                <a:round/>
              </a:ln>
              <a:effectLst/>
            </c:spPr>
            <c:extLst>
              <c:ext xmlns:c16="http://schemas.microsoft.com/office/drawing/2014/chart" uri="{C3380CC4-5D6E-409C-BE32-E72D297353CC}">
                <c16:uniqueId val="{00000003-C1AC-4367-B092-ACFC364CE254}"/>
              </c:ext>
            </c:extLst>
          </c:dPt>
          <c:cat>
            <c:strRef>
              <c:f>Sheet1!$A$2:$A$3</c:f>
              <c:strCache>
                <c:ptCount val="2"/>
                <c:pt idx="0">
                  <c:v>Déclarées au RBE</c:v>
                </c:pt>
                <c:pt idx="1">
                  <c:v>Non déclarées</c:v>
                </c:pt>
              </c:strCache>
            </c:strRef>
          </c:cat>
          <c:val>
            <c:numRef>
              <c:f>Sheet1!$B$2:$B$3</c:f>
              <c:numCache>
                <c:formatCode>General</c:formatCode>
                <c:ptCount val="2"/>
                <c:pt idx="0">
                  <c:v>115</c:v>
                </c:pt>
                <c:pt idx="1">
                  <c:v>274</c:v>
                </c:pt>
              </c:numCache>
            </c:numRef>
          </c:val>
          <c:extLst>
            <c:ext xmlns:c16="http://schemas.microsoft.com/office/drawing/2014/chart" uri="{C3380CC4-5D6E-409C-BE32-E72D297353CC}">
              <c16:uniqueId val="{00000004-C1AC-4367-B092-ACFC364CE254}"/>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Taux de conformité (%)</c:v>
                </c:pt>
              </c:strCache>
            </c:strRef>
          </c:tx>
          <c:spPr>
            <a:solidFill>
              <a:srgbClr val="2F7D6E"/>
            </a:solidFill>
            <a:effectLst/>
          </c:spPr>
          <c:invertIfNegative val="0"/>
          <c:dPt>
            <c:idx val="0"/>
            <c:invertIfNegative val="0"/>
            <c:bubble3D val="0"/>
            <c:extLst>
              <c:ext xmlns:c16="http://schemas.microsoft.com/office/drawing/2014/chart" uri="{C3380CC4-5D6E-409C-BE32-E72D297353CC}">
                <c16:uniqueId val="{00000001-4553-4045-A474-BAE506C0C90B}"/>
              </c:ext>
            </c:extLst>
          </c:dPt>
          <c:dPt>
            <c:idx val="1"/>
            <c:invertIfNegative val="0"/>
            <c:bubble3D val="0"/>
            <c:spPr>
              <a:solidFill>
                <a:srgbClr val="C9962F"/>
              </a:solidFill>
              <a:effectLst/>
            </c:spPr>
            <c:extLst>
              <c:ext xmlns:c16="http://schemas.microsoft.com/office/drawing/2014/chart" uri="{C3380CC4-5D6E-409C-BE32-E72D297353CC}">
                <c16:uniqueId val="{00000003-4553-4045-A474-BAE506C0C90B}"/>
              </c:ext>
            </c:extLst>
          </c:dPt>
          <c:dPt>
            <c:idx val="2"/>
            <c:invertIfNegative val="0"/>
            <c:bubble3D val="0"/>
            <c:spPr>
              <a:solidFill>
                <a:srgbClr val="C9962F"/>
              </a:solidFill>
              <a:effectLst/>
            </c:spPr>
            <c:extLst>
              <c:ext xmlns:c16="http://schemas.microsoft.com/office/drawing/2014/chart" uri="{C3380CC4-5D6E-409C-BE32-E72D297353CC}">
                <c16:uniqueId val="{00000005-4553-4045-A474-BAE506C0C90B}"/>
              </c:ext>
            </c:extLst>
          </c:dPt>
          <c:dPt>
            <c:idx val="3"/>
            <c:invertIfNegative val="0"/>
            <c:bubble3D val="0"/>
            <c:spPr>
              <a:solidFill>
                <a:srgbClr val="C9962F"/>
              </a:solidFill>
              <a:effectLst/>
            </c:spPr>
            <c:extLst>
              <c:ext xmlns:c16="http://schemas.microsoft.com/office/drawing/2014/chart" uri="{C3380CC4-5D6E-409C-BE32-E72D297353CC}">
                <c16:uniqueId val="{00000007-4553-4045-A474-BAE506C0C90B}"/>
              </c:ext>
            </c:extLst>
          </c:dPt>
          <c:dPt>
            <c:idx val="4"/>
            <c:invertIfNegative val="0"/>
            <c:bubble3D val="0"/>
            <c:spPr>
              <a:solidFill>
                <a:srgbClr val="C9962F"/>
              </a:solidFill>
              <a:effectLst/>
            </c:spPr>
            <c:extLst>
              <c:ext xmlns:c16="http://schemas.microsoft.com/office/drawing/2014/chart" uri="{C3380CC4-5D6E-409C-BE32-E72D297353CC}">
                <c16:uniqueId val="{00000009-4553-4045-A474-BAE506C0C90B}"/>
              </c:ext>
            </c:extLst>
          </c:dPt>
          <c:dPt>
            <c:idx val="5"/>
            <c:invertIfNegative val="0"/>
            <c:bubble3D val="0"/>
            <c:spPr>
              <a:solidFill>
                <a:srgbClr val="C9962F"/>
              </a:solidFill>
              <a:effectLst/>
            </c:spPr>
            <c:extLst>
              <c:ext xmlns:c16="http://schemas.microsoft.com/office/drawing/2014/chart" uri="{C3380CC4-5D6E-409C-BE32-E72D297353CC}">
                <c16:uniqueId val="{0000000B-4553-4045-A474-BAE506C0C90B}"/>
              </c:ext>
            </c:extLst>
          </c:dPt>
          <c:dPt>
            <c:idx val="6"/>
            <c:invertIfNegative val="0"/>
            <c:bubble3D val="0"/>
            <c:spPr>
              <a:solidFill>
                <a:srgbClr val="C9962F"/>
              </a:solidFill>
              <a:effectLst/>
            </c:spPr>
            <c:extLst>
              <c:ext xmlns:c16="http://schemas.microsoft.com/office/drawing/2014/chart" uri="{C3380CC4-5D6E-409C-BE32-E72D297353CC}">
                <c16:uniqueId val="{0000000D-4553-4045-A474-BAE506C0C90B}"/>
              </c:ext>
            </c:extLst>
          </c:dPt>
          <c:dPt>
            <c:idx val="7"/>
            <c:invertIfNegative val="0"/>
            <c:bubble3D val="0"/>
            <c:spPr>
              <a:solidFill>
                <a:srgbClr val="B33A3A"/>
              </a:solidFill>
              <a:effectLst/>
            </c:spPr>
            <c:extLst>
              <c:ext xmlns:c16="http://schemas.microsoft.com/office/drawing/2014/chart" uri="{C3380CC4-5D6E-409C-BE32-E72D297353CC}">
                <c16:uniqueId val="{0000000F-4553-4045-A474-BAE506C0C90B}"/>
              </c:ext>
            </c:extLst>
          </c:dPt>
          <c:dPt>
            <c:idx val="8"/>
            <c:invertIfNegative val="0"/>
            <c:bubble3D val="0"/>
            <c:spPr>
              <a:solidFill>
                <a:srgbClr val="B33A3A"/>
              </a:solidFill>
              <a:effectLst/>
            </c:spPr>
            <c:extLst>
              <c:ext xmlns:c16="http://schemas.microsoft.com/office/drawing/2014/chart" uri="{C3380CC4-5D6E-409C-BE32-E72D297353CC}">
                <c16:uniqueId val="{00000011-4553-4045-A474-BAE506C0C90B}"/>
              </c:ext>
            </c:extLst>
          </c:dPt>
          <c:dLbls>
            <c:numFmt formatCode="0.0&quot;%&quot;" sourceLinked="0"/>
            <c:spPr>
              <a:noFill/>
              <a:ln>
                <a:noFill/>
              </a:ln>
              <a:effectLst/>
            </c:spPr>
            <c:txPr>
              <a:bodyPr/>
              <a:lstStyle/>
              <a:p>
                <a:pPr>
                  <a:defRPr sz="1100" b="1" i="0" u="none" strike="noStrike">
                    <a:solidFill>
                      <a:schemeClr val="bg1"/>
                    </a:solidFill>
                    <a:latin typeface="Arial"/>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AEPM - 26 ent.</c:v>
                </c:pt>
                <c:pt idx="1">
                  <c:v>PR - 66 ent.</c:v>
                </c:pt>
                <c:pt idx="2">
                  <c:v>CM - 14 ent.</c:v>
                </c:pt>
                <c:pt idx="3">
                  <c:v>PE - 7 ent.</c:v>
                </c:pt>
                <c:pt idx="4">
                  <c:v>AESM - 77 ent.</c:v>
                </c:pt>
                <c:pt idx="5">
                  <c:v>AECPT - 55 ent.</c:v>
                </c:pt>
                <c:pt idx="6">
                  <c:v>AP - 7 ent.</c:v>
                </c:pt>
                <c:pt idx="7">
                  <c:v>AEHTR - 94 ent.</c:v>
                </c:pt>
                <c:pt idx="8">
                  <c:v>AECPP - 71 ent.</c:v>
                </c:pt>
              </c:strCache>
            </c:strRef>
          </c:cat>
          <c:val>
            <c:numRef>
              <c:f>Sheet1!$B$2:$B$10</c:f>
              <c:numCache>
                <c:formatCode>General</c:formatCode>
                <c:ptCount val="9"/>
                <c:pt idx="0">
                  <c:v>50</c:v>
                </c:pt>
                <c:pt idx="1">
                  <c:v>47</c:v>
                </c:pt>
                <c:pt idx="2">
                  <c:v>42.9</c:v>
                </c:pt>
                <c:pt idx="3">
                  <c:v>42.9</c:v>
                </c:pt>
                <c:pt idx="4">
                  <c:v>42.9</c:v>
                </c:pt>
                <c:pt idx="5">
                  <c:v>38.200000000000003</c:v>
                </c:pt>
                <c:pt idx="6">
                  <c:v>28.6</c:v>
                </c:pt>
                <c:pt idx="7">
                  <c:v>22.3</c:v>
                </c:pt>
                <c:pt idx="8">
                  <c:v>15.5</c:v>
                </c:pt>
              </c:numCache>
            </c:numRef>
          </c:val>
          <c:extLst>
            <c:ext xmlns:c16="http://schemas.microsoft.com/office/drawing/2014/chart" uri="{C3380CC4-5D6E-409C-BE32-E72D297353CC}">
              <c16:uniqueId val="{00000012-4553-4045-A474-BAE506C0C90B}"/>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532"/>
                </a:solidFill>
                <a:latin typeface="Calibri"/>
              </a:defRPr>
            </a:pPr>
            <a:endParaRPr lang="fr-FR"/>
          </a:p>
        </c:txPr>
        <c:crossAx val="2094734552"/>
        <c:crosses val="autoZero"/>
        <c:auto val="1"/>
        <c:lblAlgn val="ctr"/>
        <c:lblOffset val="100"/>
        <c:noMultiLvlLbl val="1"/>
      </c:catAx>
      <c:valAx>
        <c:axId val="2094734552"/>
        <c:scaling>
          <c:orientation val="minMax"/>
          <c:max val="60"/>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fr-FR"/>
          </a:p>
        </c:txPr>
        <c:crossAx val="2094734554"/>
        <c:crosses val="autoZero"/>
        <c:crossBetween val="between"/>
        <c:majorUnit val="15"/>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Taux de conformité (%)</c:v>
                </c:pt>
              </c:strCache>
            </c:strRef>
          </c:tx>
          <c:spPr>
            <a:solidFill>
              <a:srgbClr val="2F7D6E"/>
            </a:solidFill>
            <a:effectLst/>
          </c:spPr>
          <c:invertIfNegative val="0"/>
          <c:dPt>
            <c:idx val="0"/>
            <c:invertIfNegative val="0"/>
            <c:bubble3D val="0"/>
            <c:extLst>
              <c:ext xmlns:c16="http://schemas.microsoft.com/office/drawing/2014/chart" uri="{C3380CC4-5D6E-409C-BE32-E72D297353CC}">
                <c16:uniqueId val="{00000001-67B1-421B-9192-99206DDE3B71}"/>
              </c:ext>
            </c:extLst>
          </c:dPt>
          <c:dPt>
            <c:idx val="1"/>
            <c:invertIfNegative val="0"/>
            <c:bubble3D val="0"/>
            <c:extLst>
              <c:ext xmlns:c16="http://schemas.microsoft.com/office/drawing/2014/chart" uri="{C3380CC4-5D6E-409C-BE32-E72D297353CC}">
                <c16:uniqueId val="{00000003-67B1-421B-9192-99206DDE3B71}"/>
              </c:ext>
            </c:extLst>
          </c:dPt>
          <c:dPt>
            <c:idx val="2"/>
            <c:invertIfNegative val="0"/>
            <c:bubble3D val="0"/>
            <c:extLst>
              <c:ext xmlns:c16="http://schemas.microsoft.com/office/drawing/2014/chart" uri="{C3380CC4-5D6E-409C-BE32-E72D297353CC}">
                <c16:uniqueId val="{00000005-67B1-421B-9192-99206DDE3B71}"/>
              </c:ext>
            </c:extLst>
          </c:dPt>
          <c:dPt>
            <c:idx val="3"/>
            <c:invertIfNegative val="0"/>
            <c:bubble3D val="0"/>
            <c:extLst>
              <c:ext xmlns:c16="http://schemas.microsoft.com/office/drawing/2014/chart" uri="{C3380CC4-5D6E-409C-BE32-E72D297353CC}">
                <c16:uniqueId val="{00000007-67B1-421B-9192-99206DDE3B71}"/>
              </c:ext>
            </c:extLst>
          </c:dPt>
          <c:dPt>
            <c:idx val="4"/>
            <c:invertIfNegative val="0"/>
            <c:bubble3D val="0"/>
            <c:spPr>
              <a:solidFill>
                <a:srgbClr val="C9962F"/>
              </a:solidFill>
              <a:effectLst/>
            </c:spPr>
            <c:extLst>
              <c:ext xmlns:c16="http://schemas.microsoft.com/office/drawing/2014/chart" uri="{C3380CC4-5D6E-409C-BE32-E72D297353CC}">
                <c16:uniqueId val="{00000009-67B1-421B-9192-99206DDE3B71}"/>
              </c:ext>
            </c:extLst>
          </c:dPt>
          <c:dPt>
            <c:idx val="5"/>
            <c:invertIfNegative val="0"/>
            <c:bubble3D val="0"/>
            <c:spPr>
              <a:solidFill>
                <a:srgbClr val="C9962F"/>
              </a:solidFill>
              <a:effectLst/>
            </c:spPr>
            <c:extLst>
              <c:ext xmlns:c16="http://schemas.microsoft.com/office/drawing/2014/chart" uri="{C3380CC4-5D6E-409C-BE32-E72D297353CC}">
                <c16:uniqueId val="{0000000B-67B1-421B-9192-99206DDE3B71}"/>
              </c:ext>
            </c:extLst>
          </c:dPt>
          <c:dPt>
            <c:idx val="6"/>
            <c:invertIfNegative val="0"/>
            <c:bubble3D val="0"/>
            <c:spPr>
              <a:solidFill>
                <a:srgbClr val="C9962F"/>
              </a:solidFill>
              <a:effectLst/>
            </c:spPr>
            <c:extLst>
              <c:ext xmlns:c16="http://schemas.microsoft.com/office/drawing/2014/chart" uri="{C3380CC4-5D6E-409C-BE32-E72D297353CC}">
                <c16:uniqueId val="{0000000D-67B1-421B-9192-99206DDE3B71}"/>
              </c:ext>
            </c:extLst>
          </c:dPt>
          <c:dPt>
            <c:idx val="7"/>
            <c:invertIfNegative val="0"/>
            <c:bubble3D val="0"/>
            <c:spPr>
              <a:solidFill>
                <a:srgbClr val="C9962F"/>
              </a:solidFill>
              <a:effectLst/>
            </c:spPr>
            <c:extLst>
              <c:ext xmlns:c16="http://schemas.microsoft.com/office/drawing/2014/chart" uri="{C3380CC4-5D6E-409C-BE32-E72D297353CC}">
                <c16:uniqueId val="{0000000F-67B1-421B-9192-99206DDE3B71}"/>
              </c:ext>
            </c:extLst>
          </c:dPt>
          <c:dPt>
            <c:idx val="8"/>
            <c:invertIfNegative val="0"/>
            <c:bubble3D val="0"/>
            <c:spPr>
              <a:solidFill>
                <a:srgbClr val="B33A3A"/>
              </a:solidFill>
              <a:effectLst/>
            </c:spPr>
            <c:extLst>
              <c:ext xmlns:c16="http://schemas.microsoft.com/office/drawing/2014/chart" uri="{C3380CC4-5D6E-409C-BE32-E72D297353CC}">
                <c16:uniqueId val="{00000011-67B1-421B-9192-99206DDE3B71}"/>
              </c:ext>
            </c:extLst>
          </c:dPt>
          <c:dPt>
            <c:idx val="9"/>
            <c:invertIfNegative val="0"/>
            <c:bubble3D val="0"/>
            <c:spPr>
              <a:solidFill>
                <a:srgbClr val="B33A3A"/>
              </a:solidFill>
              <a:effectLst/>
            </c:spPr>
            <c:extLst>
              <c:ext xmlns:c16="http://schemas.microsoft.com/office/drawing/2014/chart" uri="{C3380CC4-5D6E-409C-BE32-E72D297353CC}">
                <c16:uniqueId val="{00000013-67B1-421B-9192-99206DDE3B71}"/>
              </c:ext>
            </c:extLst>
          </c:dPt>
          <c:dPt>
            <c:idx val="10"/>
            <c:invertIfNegative val="0"/>
            <c:bubble3D val="0"/>
            <c:spPr>
              <a:solidFill>
                <a:srgbClr val="B33A3A"/>
              </a:solidFill>
              <a:effectLst/>
            </c:spPr>
            <c:extLst>
              <c:ext xmlns:c16="http://schemas.microsoft.com/office/drawing/2014/chart" uri="{C3380CC4-5D6E-409C-BE32-E72D297353CC}">
                <c16:uniqueId val="{00000015-67B1-421B-9192-99206DDE3B71}"/>
              </c:ext>
            </c:extLst>
          </c:dPt>
          <c:dPt>
            <c:idx val="11"/>
            <c:invertIfNegative val="0"/>
            <c:bubble3D val="0"/>
            <c:spPr>
              <a:solidFill>
                <a:srgbClr val="B33A3A"/>
              </a:solidFill>
              <a:effectLst/>
            </c:spPr>
            <c:extLst>
              <c:ext xmlns:c16="http://schemas.microsoft.com/office/drawing/2014/chart" uri="{C3380CC4-5D6E-409C-BE32-E72D297353CC}">
                <c16:uniqueId val="{00000017-67B1-421B-9192-99206DDE3B71}"/>
              </c:ext>
            </c:extLst>
          </c:dPt>
          <c:dPt>
            <c:idx val="12"/>
            <c:invertIfNegative val="0"/>
            <c:bubble3D val="0"/>
            <c:spPr>
              <a:solidFill>
                <a:srgbClr val="B33A3A"/>
              </a:solidFill>
              <a:effectLst/>
            </c:spPr>
            <c:extLst>
              <c:ext xmlns:c16="http://schemas.microsoft.com/office/drawing/2014/chart" uri="{C3380CC4-5D6E-409C-BE32-E72D297353CC}">
                <c16:uniqueId val="{00000019-67B1-421B-9192-99206DDE3B71}"/>
              </c:ext>
            </c:extLst>
          </c:dPt>
          <c:dLbls>
            <c:dLbl>
              <c:idx val="0"/>
              <c:numFmt formatCode="0.0&quot;%&quot;" sourceLinked="0"/>
              <c:spPr>
                <a:noFill/>
                <a:ln>
                  <a:noFill/>
                </a:ln>
                <a:effectLst/>
              </c:spPr>
              <c:txPr>
                <a:bodyPr/>
                <a:lstStyle/>
                <a:p>
                  <a:pPr>
                    <a:defRPr sz="1050" b="1" i="0" u="none" strike="noStrike">
                      <a:solidFill>
                        <a:schemeClr val="bg1"/>
                      </a:solidFill>
                      <a:latin typeface="Arial"/>
                    </a:defRPr>
                  </a:pPr>
                  <a:endParaRPr lang="fr-FR"/>
                </a:p>
              </c:txPr>
              <c:dLblPos val="ctr"/>
              <c:showLegendKey val="0"/>
              <c:showVal val="1"/>
              <c:showCatName val="0"/>
              <c:showSerName val="0"/>
              <c:showPercent val="0"/>
              <c:showBubbleSize val="0"/>
              <c:extLst>
                <c:ext xmlns:c16="http://schemas.microsoft.com/office/drawing/2014/chart" uri="{C3380CC4-5D6E-409C-BE32-E72D297353CC}">
                  <c16:uniqueId val="{00000001-67B1-421B-9192-99206DDE3B71}"/>
                </c:ext>
              </c:extLst>
            </c:dLbl>
            <c:dLbl>
              <c:idx val="1"/>
              <c:numFmt formatCode="0.0&quot;%&quot;" sourceLinked="0"/>
              <c:spPr>
                <a:noFill/>
                <a:ln>
                  <a:noFill/>
                </a:ln>
                <a:effectLst/>
              </c:spPr>
              <c:txPr>
                <a:bodyPr/>
                <a:lstStyle/>
                <a:p>
                  <a:pPr>
                    <a:defRPr sz="1050" b="1" i="0" u="none" strike="noStrike">
                      <a:solidFill>
                        <a:schemeClr val="bg1"/>
                      </a:solidFill>
                      <a:latin typeface="Arial"/>
                    </a:defRPr>
                  </a:pPr>
                  <a:endParaRPr lang="fr-FR"/>
                </a:p>
              </c:txPr>
              <c:dLblPos val="ctr"/>
              <c:showLegendKey val="0"/>
              <c:showVal val="1"/>
              <c:showCatName val="0"/>
              <c:showSerName val="0"/>
              <c:showPercent val="0"/>
              <c:showBubbleSize val="0"/>
              <c:extLst>
                <c:ext xmlns:c16="http://schemas.microsoft.com/office/drawing/2014/chart" uri="{C3380CC4-5D6E-409C-BE32-E72D297353CC}">
                  <c16:uniqueId val="{00000003-67B1-421B-9192-99206DDE3B71}"/>
                </c:ext>
              </c:extLst>
            </c:dLbl>
            <c:dLbl>
              <c:idx val="2"/>
              <c:numFmt formatCode="0.0&quot;%&quot;" sourceLinked="0"/>
              <c:spPr>
                <a:noFill/>
                <a:ln>
                  <a:noFill/>
                </a:ln>
                <a:effectLst/>
              </c:spPr>
              <c:txPr>
                <a:bodyPr/>
                <a:lstStyle/>
                <a:p>
                  <a:pPr>
                    <a:defRPr sz="1050" b="1" i="0" u="none" strike="noStrike">
                      <a:solidFill>
                        <a:schemeClr val="bg1"/>
                      </a:solidFill>
                      <a:latin typeface="Arial"/>
                    </a:defRPr>
                  </a:pPr>
                  <a:endParaRPr lang="fr-FR"/>
                </a:p>
              </c:txPr>
              <c:dLblPos val="ctr"/>
              <c:showLegendKey val="0"/>
              <c:showVal val="1"/>
              <c:showCatName val="0"/>
              <c:showSerName val="0"/>
              <c:showPercent val="0"/>
              <c:showBubbleSize val="0"/>
              <c:extLst>
                <c:ext xmlns:c16="http://schemas.microsoft.com/office/drawing/2014/chart" uri="{C3380CC4-5D6E-409C-BE32-E72D297353CC}">
                  <c16:uniqueId val="{00000005-67B1-421B-9192-99206DDE3B71}"/>
                </c:ext>
              </c:extLst>
            </c:dLbl>
            <c:dLbl>
              <c:idx val="3"/>
              <c:numFmt formatCode="0.0&quot;%&quot;" sourceLinked="0"/>
              <c:spPr>
                <a:noFill/>
                <a:ln>
                  <a:noFill/>
                </a:ln>
                <a:effectLst/>
              </c:spPr>
              <c:txPr>
                <a:bodyPr/>
                <a:lstStyle/>
                <a:p>
                  <a:pPr>
                    <a:defRPr sz="1050" b="1" i="0" u="none" strike="noStrike">
                      <a:solidFill>
                        <a:schemeClr val="bg1"/>
                      </a:solidFill>
                      <a:latin typeface="Arial"/>
                    </a:defRPr>
                  </a:pPr>
                  <a:endParaRPr lang="fr-FR"/>
                </a:p>
              </c:txPr>
              <c:dLblPos val="ctr"/>
              <c:showLegendKey val="0"/>
              <c:showVal val="1"/>
              <c:showCatName val="0"/>
              <c:showSerName val="0"/>
              <c:showPercent val="0"/>
              <c:showBubbleSize val="0"/>
              <c:extLst>
                <c:ext xmlns:c16="http://schemas.microsoft.com/office/drawing/2014/chart" uri="{C3380CC4-5D6E-409C-BE32-E72D297353CC}">
                  <c16:uniqueId val="{00000007-67B1-421B-9192-99206DDE3B71}"/>
                </c:ext>
              </c:extLst>
            </c:dLbl>
            <c:dLbl>
              <c:idx val="4"/>
              <c:numFmt formatCode="0.0&quot;%&quot;" sourceLinked="0"/>
              <c:spPr>
                <a:noFill/>
                <a:ln>
                  <a:noFill/>
                </a:ln>
                <a:effectLst/>
              </c:spPr>
              <c:txPr>
                <a:bodyPr/>
                <a:lstStyle/>
                <a:p>
                  <a:pPr>
                    <a:defRPr sz="1050" b="1" i="0" u="none" strike="noStrike">
                      <a:solidFill>
                        <a:schemeClr val="bg1"/>
                      </a:solidFill>
                      <a:latin typeface="Arial"/>
                    </a:defRPr>
                  </a:pPr>
                  <a:endParaRPr lang="fr-FR"/>
                </a:p>
              </c:txPr>
              <c:dLblPos val="ctr"/>
              <c:showLegendKey val="0"/>
              <c:showVal val="1"/>
              <c:showCatName val="0"/>
              <c:showSerName val="0"/>
              <c:showPercent val="0"/>
              <c:showBubbleSize val="0"/>
              <c:extLst>
                <c:ext xmlns:c16="http://schemas.microsoft.com/office/drawing/2014/chart" uri="{C3380CC4-5D6E-409C-BE32-E72D297353CC}">
                  <c16:uniqueId val="{00000009-67B1-421B-9192-99206DDE3B71}"/>
                </c:ext>
              </c:extLst>
            </c:dLbl>
            <c:dLbl>
              <c:idx val="5"/>
              <c:numFmt formatCode="0.0&quot;%&quot;" sourceLinked="0"/>
              <c:spPr>
                <a:noFill/>
                <a:ln>
                  <a:noFill/>
                </a:ln>
                <a:effectLst/>
              </c:spPr>
              <c:txPr>
                <a:bodyPr/>
                <a:lstStyle/>
                <a:p>
                  <a:pPr>
                    <a:defRPr sz="1050" b="1" i="0" u="none" strike="noStrike">
                      <a:solidFill>
                        <a:schemeClr val="bg1"/>
                      </a:solidFill>
                      <a:latin typeface="Arial"/>
                    </a:defRPr>
                  </a:pPr>
                  <a:endParaRPr lang="fr-FR"/>
                </a:p>
              </c:txPr>
              <c:dLblPos val="ctr"/>
              <c:showLegendKey val="0"/>
              <c:showVal val="1"/>
              <c:showCatName val="0"/>
              <c:showSerName val="0"/>
              <c:showPercent val="0"/>
              <c:showBubbleSize val="0"/>
              <c:extLst>
                <c:ext xmlns:c16="http://schemas.microsoft.com/office/drawing/2014/chart" uri="{C3380CC4-5D6E-409C-BE32-E72D297353CC}">
                  <c16:uniqueId val="{0000000B-67B1-421B-9192-99206DDE3B71}"/>
                </c:ext>
              </c:extLst>
            </c:dLbl>
            <c:dLbl>
              <c:idx val="6"/>
              <c:numFmt formatCode="0.0&quot;%&quot;" sourceLinked="0"/>
              <c:spPr>
                <a:noFill/>
                <a:ln>
                  <a:noFill/>
                </a:ln>
                <a:effectLst/>
              </c:spPr>
              <c:txPr>
                <a:bodyPr/>
                <a:lstStyle/>
                <a:p>
                  <a:pPr>
                    <a:defRPr sz="1050" b="1" i="0" u="none" strike="noStrike">
                      <a:solidFill>
                        <a:schemeClr val="bg1"/>
                      </a:solidFill>
                      <a:latin typeface="Arial"/>
                    </a:defRPr>
                  </a:pPr>
                  <a:endParaRPr lang="fr-FR"/>
                </a:p>
              </c:txPr>
              <c:dLblPos val="ctr"/>
              <c:showLegendKey val="0"/>
              <c:showVal val="1"/>
              <c:showCatName val="0"/>
              <c:showSerName val="0"/>
              <c:showPercent val="0"/>
              <c:showBubbleSize val="0"/>
              <c:extLst>
                <c:ext xmlns:c16="http://schemas.microsoft.com/office/drawing/2014/chart" uri="{C3380CC4-5D6E-409C-BE32-E72D297353CC}">
                  <c16:uniqueId val="{0000000D-67B1-421B-9192-99206DDE3B71}"/>
                </c:ext>
              </c:extLst>
            </c:dLbl>
            <c:dLbl>
              <c:idx val="7"/>
              <c:numFmt formatCode="0.0&quot;%&quot;" sourceLinked="0"/>
              <c:spPr>
                <a:noFill/>
                <a:ln>
                  <a:noFill/>
                </a:ln>
                <a:effectLst/>
              </c:spPr>
              <c:txPr>
                <a:bodyPr/>
                <a:lstStyle/>
                <a:p>
                  <a:pPr>
                    <a:defRPr sz="1050" b="1" i="0" u="none" strike="noStrike">
                      <a:solidFill>
                        <a:schemeClr val="bg1"/>
                      </a:solidFill>
                      <a:latin typeface="Arial"/>
                    </a:defRPr>
                  </a:pPr>
                  <a:endParaRPr lang="fr-FR"/>
                </a:p>
              </c:txPr>
              <c:dLblPos val="ctr"/>
              <c:showLegendKey val="0"/>
              <c:showVal val="1"/>
              <c:showCatName val="0"/>
              <c:showSerName val="0"/>
              <c:showPercent val="0"/>
              <c:showBubbleSize val="0"/>
              <c:extLst>
                <c:ext xmlns:c16="http://schemas.microsoft.com/office/drawing/2014/chart" uri="{C3380CC4-5D6E-409C-BE32-E72D297353CC}">
                  <c16:uniqueId val="{0000000F-67B1-421B-9192-99206DDE3B71}"/>
                </c:ext>
              </c:extLst>
            </c:dLbl>
            <c:dLbl>
              <c:idx val="8"/>
              <c:numFmt formatCode="0.0&quot;%&quot;" sourceLinked="0"/>
              <c:spPr>
                <a:noFill/>
                <a:ln>
                  <a:noFill/>
                </a:ln>
                <a:effectLst/>
              </c:spPr>
              <c:txPr>
                <a:bodyPr/>
                <a:lstStyle/>
                <a:p>
                  <a:pPr>
                    <a:defRPr sz="1050" b="1" i="0" u="none" strike="noStrike">
                      <a:solidFill>
                        <a:schemeClr val="bg1"/>
                      </a:solidFill>
                      <a:latin typeface="Arial"/>
                    </a:defRPr>
                  </a:pPr>
                  <a:endParaRPr lang="fr-FR"/>
                </a:p>
              </c:txPr>
              <c:dLblPos val="ctr"/>
              <c:showLegendKey val="0"/>
              <c:showVal val="1"/>
              <c:showCatName val="0"/>
              <c:showSerName val="0"/>
              <c:showPercent val="0"/>
              <c:showBubbleSize val="0"/>
              <c:extLst>
                <c:ext xmlns:c16="http://schemas.microsoft.com/office/drawing/2014/chart" uri="{C3380CC4-5D6E-409C-BE32-E72D297353CC}">
                  <c16:uniqueId val="{00000011-67B1-421B-9192-99206DDE3B71}"/>
                </c:ext>
              </c:extLst>
            </c:dLbl>
            <c:numFmt formatCode="0.0&quot;%&quot;" sourceLinked="0"/>
            <c:spPr>
              <a:noFill/>
              <a:ln>
                <a:noFill/>
              </a:ln>
              <a:effectLst/>
            </c:spPr>
            <c:txPr>
              <a:bodyPr/>
              <a:lstStyle/>
              <a:p>
                <a:pPr>
                  <a:defRPr sz="1050" b="1" i="0" u="none" strike="noStrike">
                    <a:solidFill>
                      <a:schemeClr val="tx1"/>
                    </a:solidFill>
                    <a:latin typeface="Arial"/>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Tambacounda (28)</c:v>
                </c:pt>
                <c:pt idx="1">
                  <c:v>Kaolack (2)</c:v>
                </c:pt>
                <c:pt idx="2">
                  <c:v>Kaffrine (2)</c:v>
                </c:pt>
                <c:pt idx="3">
                  <c:v>Fatick (2)</c:v>
                </c:pt>
                <c:pt idx="4">
                  <c:v>Diourbel (7)</c:v>
                </c:pt>
                <c:pt idx="5">
                  <c:v>Matam (7)</c:v>
                </c:pt>
                <c:pt idx="6">
                  <c:v>Kédougou (147)</c:v>
                </c:pt>
                <c:pt idx="7">
                  <c:v>Dakar (9)</c:v>
                </c:pt>
                <c:pt idx="8">
                  <c:v>Thiès (190)</c:v>
                </c:pt>
                <c:pt idx="9">
                  <c:v>Saint-Louis (3)</c:v>
                </c:pt>
                <c:pt idx="10">
                  <c:v>Louga (3)</c:v>
                </c:pt>
                <c:pt idx="11">
                  <c:v>Sédhiou (1)</c:v>
                </c:pt>
                <c:pt idx="12">
                  <c:v>Ziguinchor (1)</c:v>
                </c:pt>
              </c:strCache>
            </c:strRef>
          </c:cat>
          <c:val>
            <c:numRef>
              <c:f>Sheet1!$B$2:$B$14</c:f>
              <c:numCache>
                <c:formatCode>General</c:formatCode>
                <c:ptCount val="13"/>
                <c:pt idx="0">
                  <c:v>57.1</c:v>
                </c:pt>
                <c:pt idx="1">
                  <c:v>50</c:v>
                </c:pt>
                <c:pt idx="2">
                  <c:v>50</c:v>
                </c:pt>
                <c:pt idx="3">
                  <c:v>50</c:v>
                </c:pt>
                <c:pt idx="4">
                  <c:v>42.9</c:v>
                </c:pt>
                <c:pt idx="5">
                  <c:v>42.9</c:v>
                </c:pt>
                <c:pt idx="6">
                  <c:v>40.1</c:v>
                </c:pt>
                <c:pt idx="7">
                  <c:v>33.299999999999997</c:v>
                </c:pt>
                <c:pt idx="8">
                  <c:v>23.7</c:v>
                </c:pt>
                <c:pt idx="9">
                  <c:v>0</c:v>
                </c:pt>
                <c:pt idx="10">
                  <c:v>0</c:v>
                </c:pt>
                <c:pt idx="11">
                  <c:v>0</c:v>
                </c:pt>
                <c:pt idx="12">
                  <c:v>0</c:v>
                </c:pt>
              </c:numCache>
            </c:numRef>
          </c:val>
          <c:extLst>
            <c:ext xmlns:c16="http://schemas.microsoft.com/office/drawing/2014/chart" uri="{C3380CC4-5D6E-409C-BE32-E72D297353CC}">
              <c16:uniqueId val="{0000001A-67B1-421B-9192-99206DDE3B71}"/>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E2532"/>
                </a:solidFill>
                <a:latin typeface="Calibri"/>
              </a:defRPr>
            </a:pPr>
            <a:endParaRPr lang="fr-FR"/>
          </a:p>
        </c:txPr>
        <c:crossAx val="2094734552"/>
        <c:crosses val="autoZero"/>
        <c:auto val="1"/>
        <c:lblAlgn val="ctr"/>
        <c:lblOffset val="100"/>
        <c:noMultiLvlLbl val="1"/>
      </c:catAx>
      <c:valAx>
        <c:axId val="2094734552"/>
        <c:scaling>
          <c:orientation val="minMax"/>
          <c:max val="65"/>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fr-FR"/>
          </a:p>
        </c:txPr>
        <c:crossAx val="2094734554"/>
        <c:crosses val="autoZero"/>
        <c:crossBetween val="between"/>
        <c:majorUnit val="15"/>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Taux de conformité (%)</c:v>
                </c:pt>
              </c:strCache>
            </c:strRef>
          </c:tx>
          <c:spPr>
            <a:solidFill>
              <a:srgbClr val="2F7D6E"/>
            </a:solidFill>
            <a:effectLst/>
          </c:spPr>
          <c:invertIfNegative val="0"/>
          <c:dPt>
            <c:idx val="0"/>
            <c:invertIfNegative val="0"/>
            <c:bubble3D val="0"/>
            <c:extLst>
              <c:ext xmlns:c16="http://schemas.microsoft.com/office/drawing/2014/chart" uri="{C3380CC4-5D6E-409C-BE32-E72D297353CC}">
                <c16:uniqueId val="{00000001-9FE6-43CE-A128-6F8A714F9323}"/>
              </c:ext>
            </c:extLst>
          </c:dPt>
          <c:dPt>
            <c:idx val="1"/>
            <c:invertIfNegative val="0"/>
            <c:bubble3D val="0"/>
            <c:extLst>
              <c:ext xmlns:c16="http://schemas.microsoft.com/office/drawing/2014/chart" uri="{C3380CC4-5D6E-409C-BE32-E72D297353CC}">
                <c16:uniqueId val="{00000003-9FE6-43CE-A128-6F8A714F9323}"/>
              </c:ext>
            </c:extLst>
          </c:dPt>
          <c:dPt>
            <c:idx val="2"/>
            <c:invertIfNegative val="0"/>
            <c:bubble3D val="0"/>
            <c:extLst>
              <c:ext xmlns:c16="http://schemas.microsoft.com/office/drawing/2014/chart" uri="{C3380CC4-5D6E-409C-BE32-E72D297353CC}">
                <c16:uniqueId val="{00000005-9FE6-43CE-A128-6F8A714F9323}"/>
              </c:ext>
            </c:extLst>
          </c:dPt>
          <c:dPt>
            <c:idx val="3"/>
            <c:invertIfNegative val="0"/>
            <c:bubble3D val="0"/>
            <c:spPr>
              <a:solidFill>
                <a:srgbClr val="C9962F"/>
              </a:solidFill>
              <a:effectLst/>
            </c:spPr>
            <c:extLst>
              <c:ext xmlns:c16="http://schemas.microsoft.com/office/drawing/2014/chart" uri="{C3380CC4-5D6E-409C-BE32-E72D297353CC}">
                <c16:uniqueId val="{00000007-9FE6-43CE-A128-6F8A714F9323}"/>
              </c:ext>
            </c:extLst>
          </c:dPt>
          <c:dPt>
            <c:idx val="4"/>
            <c:invertIfNegative val="0"/>
            <c:bubble3D val="0"/>
            <c:spPr>
              <a:solidFill>
                <a:srgbClr val="C9962F"/>
              </a:solidFill>
              <a:effectLst/>
            </c:spPr>
            <c:extLst>
              <c:ext xmlns:c16="http://schemas.microsoft.com/office/drawing/2014/chart" uri="{C3380CC4-5D6E-409C-BE32-E72D297353CC}">
                <c16:uniqueId val="{00000009-9FE6-43CE-A128-6F8A714F9323}"/>
              </c:ext>
            </c:extLst>
          </c:dPt>
          <c:dPt>
            <c:idx val="5"/>
            <c:invertIfNegative val="0"/>
            <c:bubble3D val="0"/>
            <c:spPr>
              <a:solidFill>
                <a:srgbClr val="B33A3A"/>
              </a:solidFill>
              <a:effectLst/>
            </c:spPr>
            <c:extLst>
              <c:ext xmlns:c16="http://schemas.microsoft.com/office/drawing/2014/chart" uri="{C3380CC4-5D6E-409C-BE32-E72D297353CC}">
                <c16:uniqueId val="{0000000B-9FE6-43CE-A128-6F8A714F9323}"/>
              </c:ext>
            </c:extLst>
          </c:dPt>
          <c:dPt>
            <c:idx val="6"/>
            <c:invertIfNegative val="0"/>
            <c:bubble3D val="0"/>
            <c:spPr>
              <a:solidFill>
                <a:srgbClr val="B33A3A"/>
              </a:solidFill>
              <a:effectLst/>
            </c:spPr>
            <c:extLst>
              <c:ext xmlns:c16="http://schemas.microsoft.com/office/drawing/2014/chart" uri="{C3380CC4-5D6E-409C-BE32-E72D297353CC}">
                <c16:uniqueId val="{0000000D-9FE6-43CE-A128-6F8A714F9323}"/>
              </c:ext>
            </c:extLst>
          </c:dPt>
          <c:dPt>
            <c:idx val="7"/>
            <c:invertIfNegative val="0"/>
            <c:bubble3D val="0"/>
            <c:spPr>
              <a:solidFill>
                <a:srgbClr val="B33A3A"/>
              </a:solidFill>
              <a:effectLst/>
            </c:spPr>
            <c:extLst>
              <c:ext xmlns:c16="http://schemas.microsoft.com/office/drawing/2014/chart" uri="{C3380CC4-5D6E-409C-BE32-E72D297353CC}">
                <c16:uniqueId val="{0000000F-9FE6-43CE-A128-6F8A714F9323}"/>
              </c:ext>
            </c:extLst>
          </c:dPt>
          <c:dPt>
            <c:idx val="8"/>
            <c:invertIfNegative val="0"/>
            <c:bubble3D val="0"/>
            <c:spPr>
              <a:solidFill>
                <a:srgbClr val="B33A3A"/>
              </a:solidFill>
              <a:effectLst/>
            </c:spPr>
            <c:extLst>
              <c:ext xmlns:c16="http://schemas.microsoft.com/office/drawing/2014/chart" uri="{C3380CC4-5D6E-409C-BE32-E72D297353CC}">
                <c16:uniqueId val="{00000011-9FE6-43CE-A128-6F8A714F9323}"/>
              </c:ext>
            </c:extLst>
          </c:dPt>
          <c:dLbls>
            <c:numFmt formatCode="0.0&quot;%&quot;" sourceLinked="0"/>
            <c:spPr>
              <a:noFill/>
              <a:ln>
                <a:noFill/>
              </a:ln>
              <a:effectLst/>
            </c:spPr>
            <c:txPr>
              <a:bodyPr/>
              <a:lstStyle/>
              <a:p>
                <a:pPr>
                  <a:defRPr sz="1100" b="1" i="0" u="none" strike="noStrike">
                    <a:solidFill>
                      <a:schemeClr val="bg1"/>
                    </a:solidFill>
                    <a:latin typeface="Arial"/>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Argile (11)</c:v>
                </c:pt>
                <c:pt idx="1">
                  <c:v>Lithium (Li) (6)</c:v>
                </c:pt>
                <c:pt idx="2">
                  <c:v>Manganèse (Mn) (5)</c:v>
                </c:pt>
                <c:pt idx="3">
                  <c:v>Or (Au) (127)</c:v>
                </c:pt>
                <c:pt idx="4">
                  <c:v>Sable de dune (34)</c:v>
                </c:pt>
                <c:pt idx="5">
                  <c:v>Phosphate de chaux (18)</c:v>
                </c:pt>
                <c:pt idx="6">
                  <c:v>Sable latéritique (92)</c:v>
                </c:pt>
                <c:pt idx="7">
                  <c:v>Calcaire (32)</c:v>
                </c:pt>
                <c:pt idx="8">
                  <c:v>Basalte (34)</c:v>
                </c:pt>
              </c:strCache>
            </c:strRef>
          </c:cat>
          <c:val>
            <c:numRef>
              <c:f>Sheet1!$B$2:$B$10</c:f>
              <c:numCache>
                <c:formatCode>General</c:formatCode>
                <c:ptCount val="9"/>
                <c:pt idx="0">
                  <c:v>81.8</c:v>
                </c:pt>
                <c:pt idx="1">
                  <c:v>66.7</c:v>
                </c:pt>
                <c:pt idx="2">
                  <c:v>60</c:v>
                </c:pt>
                <c:pt idx="3">
                  <c:v>44.1</c:v>
                </c:pt>
                <c:pt idx="4">
                  <c:v>35.299999999999997</c:v>
                </c:pt>
                <c:pt idx="5">
                  <c:v>27.8</c:v>
                </c:pt>
                <c:pt idx="6">
                  <c:v>22.8</c:v>
                </c:pt>
                <c:pt idx="7">
                  <c:v>21.9</c:v>
                </c:pt>
                <c:pt idx="8">
                  <c:v>14.7</c:v>
                </c:pt>
              </c:numCache>
            </c:numRef>
          </c:val>
          <c:extLst>
            <c:ext xmlns:c16="http://schemas.microsoft.com/office/drawing/2014/chart" uri="{C3380CC4-5D6E-409C-BE32-E72D297353CC}">
              <c16:uniqueId val="{00000012-9FE6-43CE-A128-6F8A714F9323}"/>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532"/>
                </a:solidFill>
                <a:latin typeface="Calibri"/>
              </a:defRPr>
            </a:pPr>
            <a:endParaRPr lang="fr-FR"/>
          </a:p>
        </c:txPr>
        <c:crossAx val="2094734552"/>
        <c:crosses val="autoZero"/>
        <c:auto val="1"/>
        <c:lblAlgn val="ctr"/>
        <c:lblOffset val="100"/>
        <c:noMultiLvlLbl val="1"/>
      </c:catAx>
      <c:valAx>
        <c:axId val="2094734552"/>
        <c:scaling>
          <c:orientation val="minMax"/>
          <c:max val="100"/>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fr-FR"/>
          </a:p>
        </c:txPr>
        <c:crossAx val="2094734554"/>
        <c:crosses val="autoZero"/>
        <c:crossBetween val="between"/>
        <c:majorUnit val="25"/>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Entreprises</c:v>
                </c:pt>
              </c:strCache>
            </c:strRef>
          </c:tx>
          <c:spPr>
            <a:solidFill>
              <a:srgbClr val="C9962F"/>
            </a:solidFill>
            <a:effectLst/>
          </c:spPr>
          <c:invertIfNegative val="0"/>
          <c:dPt>
            <c:idx val="0"/>
            <c:invertIfNegative val="0"/>
            <c:bubble3D val="0"/>
            <c:extLst>
              <c:ext xmlns:c16="http://schemas.microsoft.com/office/drawing/2014/chart" uri="{C3380CC4-5D6E-409C-BE32-E72D297353CC}">
                <c16:uniqueId val="{00000000-DAFC-4645-AAE9-42A9E34C574A}"/>
              </c:ext>
            </c:extLst>
          </c:dPt>
          <c:dPt>
            <c:idx val="1"/>
            <c:invertIfNegative val="0"/>
            <c:bubble3D val="0"/>
            <c:spPr>
              <a:solidFill>
                <a:srgbClr val="E8ECF3"/>
              </a:solidFill>
              <a:effectLst/>
            </c:spPr>
            <c:extLst>
              <c:ext xmlns:c16="http://schemas.microsoft.com/office/drawing/2014/chart" uri="{C3380CC4-5D6E-409C-BE32-E72D297353CC}">
                <c16:uniqueId val="{00000002-DAFC-4645-AAE9-42A9E34C574A}"/>
              </c:ext>
            </c:extLst>
          </c:dPt>
          <c:dPt>
            <c:idx val="2"/>
            <c:invertIfNegative val="0"/>
            <c:bubble3D val="0"/>
            <c:spPr>
              <a:solidFill>
                <a:srgbClr val="E8ECF3"/>
              </a:solidFill>
              <a:effectLst/>
            </c:spPr>
            <c:extLst>
              <c:ext xmlns:c16="http://schemas.microsoft.com/office/drawing/2014/chart" uri="{C3380CC4-5D6E-409C-BE32-E72D297353CC}">
                <c16:uniqueId val="{00000004-DAFC-4645-AAE9-42A9E34C574A}"/>
              </c:ext>
            </c:extLst>
          </c:dPt>
          <c:dPt>
            <c:idx val="3"/>
            <c:invertIfNegative val="0"/>
            <c:bubble3D val="0"/>
            <c:spPr>
              <a:solidFill>
                <a:srgbClr val="E8ECF3"/>
              </a:solidFill>
              <a:effectLst/>
            </c:spPr>
            <c:extLst>
              <c:ext xmlns:c16="http://schemas.microsoft.com/office/drawing/2014/chart" uri="{C3380CC4-5D6E-409C-BE32-E72D297353CC}">
                <c16:uniqueId val="{00000006-DAFC-4645-AAE9-42A9E34C574A}"/>
              </c:ext>
            </c:extLst>
          </c:dPt>
          <c:dPt>
            <c:idx val="4"/>
            <c:invertIfNegative val="0"/>
            <c:bubble3D val="0"/>
            <c:spPr>
              <a:solidFill>
                <a:srgbClr val="E8ECF3"/>
              </a:solidFill>
              <a:effectLst/>
            </c:spPr>
            <c:extLst>
              <c:ext xmlns:c16="http://schemas.microsoft.com/office/drawing/2014/chart" uri="{C3380CC4-5D6E-409C-BE32-E72D297353CC}">
                <c16:uniqueId val="{00000008-DAFC-4645-AAE9-42A9E34C574A}"/>
              </c:ext>
            </c:extLst>
          </c:dPt>
          <c:dPt>
            <c:idx val="5"/>
            <c:invertIfNegative val="0"/>
            <c:bubble3D val="0"/>
            <c:spPr>
              <a:solidFill>
                <a:srgbClr val="E8ECF3"/>
              </a:solidFill>
              <a:effectLst/>
            </c:spPr>
            <c:extLst>
              <c:ext xmlns:c16="http://schemas.microsoft.com/office/drawing/2014/chart" uri="{C3380CC4-5D6E-409C-BE32-E72D297353CC}">
                <c16:uniqueId val="{0000000A-DAFC-4645-AAE9-42A9E34C574A}"/>
              </c:ext>
            </c:extLst>
          </c:dPt>
          <c:dPt>
            <c:idx val="6"/>
            <c:invertIfNegative val="0"/>
            <c:bubble3D val="0"/>
            <c:spPr>
              <a:solidFill>
                <a:srgbClr val="E8ECF3"/>
              </a:solidFill>
              <a:effectLst/>
            </c:spPr>
            <c:extLst>
              <c:ext xmlns:c16="http://schemas.microsoft.com/office/drawing/2014/chart" uri="{C3380CC4-5D6E-409C-BE32-E72D297353CC}">
                <c16:uniqueId val="{0000000C-DAFC-4645-AAE9-42A9E34C574A}"/>
              </c:ext>
            </c:extLst>
          </c:dPt>
          <c:dPt>
            <c:idx val="7"/>
            <c:invertIfNegative val="0"/>
            <c:bubble3D val="0"/>
            <c:spPr>
              <a:solidFill>
                <a:srgbClr val="E8ECF3"/>
              </a:solidFill>
              <a:effectLst/>
            </c:spPr>
            <c:extLst>
              <c:ext xmlns:c16="http://schemas.microsoft.com/office/drawing/2014/chart" uri="{C3380CC4-5D6E-409C-BE32-E72D297353CC}">
                <c16:uniqueId val="{0000000E-DAFC-4645-AAE9-42A9E34C574A}"/>
              </c:ext>
            </c:extLst>
          </c:dPt>
          <c:dPt>
            <c:idx val="8"/>
            <c:invertIfNegative val="0"/>
            <c:bubble3D val="0"/>
            <c:spPr>
              <a:solidFill>
                <a:srgbClr val="E8ECF3"/>
              </a:solidFill>
              <a:effectLst/>
            </c:spPr>
            <c:extLst>
              <c:ext xmlns:c16="http://schemas.microsoft.com/office/drawing/2014/chart" uri="{C3380CC4-5D6E-409C-BE32-E72D297353CC}">
                <c16:uniqueId val="{00000010-DAFC-4645-AAE9-42A9E34C574A}"/>
              </c:ext>
            </c:extLst>
          </c:dPt>
          <c:dLbls>
            <c:numFmt formatCode="#,##0" sourceLinked="0"/>
            <c:spPr>
              <a:noFill/>
              <a:ln>
                <a:noFill/>
              </a:ln>
              <a:effectLst/>
            </c:spPr>
            <c:txPr>
              <a:bodyPr/>
              <a:lstStyle/>
              <a:p>
                <a:pPr>
                  <a:defRPr sz="1100" b="1" i="0" u="none" strike="noStrike">
                    <a:solidFill>
                      <a:srgbClr val="1B2A4A"/>
                    </a:solidFill>
                    <a:latin typeface="Arial"/>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Dakar</c:v>
                </c:pt>
                <c:pt idx="1">
                  <c:v>Thiès</c:v>
                </c:pt>
                <c:pt idx="2">
                  <c:v>Kédougou</c:v>
                </c:pt>
                <c:pt idx="3">
                  <c:v>Diourbel</c:v>
                </c:pt>
                <c:pt idx="4">
                  <c:v>Kaolack</c:v>
                </c:pt>
                <c:pt idx="5">
                  <c:v>Tambacounda</c:v>
                </c:pt>
                <c:pt idx="6">
                  <c:v>Mbour</c:v>
                </c:pt>
                <c:pt idx="7">
                  <c:v>Fatick</c:v>
                </c:pt>
                <c:pt idx="8">
                  <c:v>Ziguinchor</c:v>
                </c:pt>
              </c:strCache>
            </c:strRef>
          </c:cat>
          <c:val>
            <c:numRef>
              <c:f>Sheet1!$B$2:$B$10</c:f>
              <c:numCache>
                <c:formatCode>General</c:formatCode>
                <c:ptCount val="9"/>
                <c:pt idx="0">
                  <c:v>142</c:v>
                </c:pt>
                <c:pt idx="1">
                  <c:v>23</c:v>
                </c:pt>
                <c:pt idx="2">
                  <c:v>15</c:v>
                </c:pt>
                <c:pt idx="3">
                  <c:v>4</c:v>
                </c:pt>
                <c:pt idx="4">
                  <c:v>2</c:v>
                </c:pt>
                <c:pt idx="5">
                  <c:v>2</c:v>
                </c:pt>
                <c:pt idx="6">
                  <c:v>2</c:v>
                </c:pt>
                <c:pt idx="7">
                  <c:v>1</c:v>
                </c:pt>
                <c:pt idx="8">
                  <c:v>1</c:v>
                </c:pt>
              </c:numCache>
            </c:numRef>
          </c:val>
          <c:extLst>
            <c:ext xmlns:c16="http://schemas.microsoft.com/office/drawing/2014/chart" uri="{C3380CC4-5D6E-409C-BE32-E72D297353CC}">
              <c16:uniqueId val="{00000011-DAFC-4645-AAE9-42A9E34C574A}"/>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532"/>
                </a:solidFill>
                <a:latin typeface="Calibri"/>
              </a:defRPr>
            </a:pPr>
            <a:endParaRPr lang="fr-FR"/>
          </a:p>
        </c:txPr>
        <c:crossAx val="2094734552"/>
        <c:crosses val="autoZero"/>
        <c:auto val="1"/>
        <c:lblAlgn val="ctr"/>
        <c:lblOffset val="100"/>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fr-FR"/>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560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261460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159477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16006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6890703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38600" y="857250"/>
            <a:ext cx="4114800" cy="2314575"/>
          </a:xfrm>
          <a:prstGeom prst="rect">
            <a:avLst/>
          </a:prstGeom>
          <a:noFill/>
          <a:ln w="12700">
            <a:solidFill>
              <a:prstClr val="black"/>
            </a:solidFill>
          </a:ln>
        </p:spPr>
      </p:sp>
      <p:sp>
        <p:nvSpPr>
          <p:cNvPr id="3" name="Espace réservé des notes 2"/>
          <p:cNvSpPr>
            <a:spLocks noGrp="1"/>
          </p:cNvSpPr>
          <p:nvPr>
            <p:ph type="body" idx="1"/>
          </p:nvPr>
        </p:nvSpPr>
        <p:spPr>
          <a:xfrm>
            <a:off x="1219200" y="3300413"/>
            <a:ext cx="9753600" cy="2700337"/>
          </a:xfrm>
          <a:prstGeom prst="rect">
            <a:avLst/>
          </a:prstGeom>
        </p:spPr>
        <p:txBody>
          <a:bodyPr/>
          <a:lstStyle/>
          <a:p>
            <a:endParaRPr lang="fr-SN" dirty="0"/>
          </a:p>
        </p:txBody>
      </p:sp>
    </p:spTree>
    <p:extLst>
      <p:ext uri="{BB962C8B-B14F-4D97-AF65-F5344CB8AC3E}">
        <p14:creationId xmlns:p14="http://schemas.microsoft.com/office/powerpoint/2010/main" val="1340425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constats </a:t>
            </a:r>
            <a:r>
              <a:rPr lang="en-US" dirty="0" err="1"/>
              <a:t>résument</a:t>
            </a:r>
            <a:r>
              <a:rPr lang="en-US" dirty="0"/>
              <a:t> </a:t>
            </a:r>
            <a:r>
              <a:rPr lang="en-US" dirty="0" err="1"/>
              <a:t>cet</a:t>
            </a:r>
            <a:r>
              <a:rPr lang="en-US" dirty="0"/>
              <a:t> audit : </a:t>
            </a:r>
            <a:r>
              <a:rPr lang="en-US" dirty="0" err="1"/>
              <a:t>une</a:t>
            </a:r>
            <a:r>
              <a:rPr lang="en-US" dirty="0"/>
              <a:t> </a:t>
            </a:r>
            <a:r>
              <a:rPr lang="en-US" dirty="0" err="1"/>
              <a:t>qualité</a:t>
            </a:r>
            <a:r>
              <a:rPr lang="en-US" dirty="0"/>
              <a:t> de données </a:t>
            </a:r>
            <a:r>
              <a:rPr lang="en-US" dirty="0" err="1"/>
              <a:t>globalement</a:t>
            </a:r>
            <a:r>
              <a:rPr lang="en-US" dirty="0"/>
              <a:t> </a:t>
            </a:r>
            <a:r>
              <a:rPr lang="en-US" dirty="0" err="1"/>
              <a:t>insuffisante</a:t>
            </a:r>
            <a:r>
              <a:rPr lang="en-US" dirty="0"/>
              <a:t> (23 % de </a:t>
            </a:r>
            <a:r>
              <a:rPr lang="en-US" dirty="0" err="1"/>
              <a:t>valeurs</a:t>
            </a:r>
            <a:r>
              <a:rPr lang="en-US" dirty="0"/>
              <a:t> manquantes), des lacunes </a:t>
            </a:r>
            <a:r>
              <a:rPr lang="en-US" dirty="0" err="1"/>
              <a:t>particulièrement</a:t>
            </a:r>
            <a:r>
              <a:rPr lang="en-US" dirty="0"/>
              <a:t> fortes sur les variables </a:t>
            </a:r>
            <a:r>
              <a:rPr lang="en-US" dirty="0" err="1"/>
              <a:t>liées</a:t>
            </a:r>
            <a:r>
              <a:rPr lang="en-US" dirty="0"/>
              <a:t> aux </a:t>
            </a:r>
            <a:r>
              <a:rPr lang="en-US" dirty="0" err="1"/>
              <a:t>personnes</a:t>
            </a:r>
            <a:r>
              <a:rPr lang="en-US" dirty="0"/>
              <a:t> </a:t>
            </a:r>
            <a:r>
              <a:rPr lang="en-US" dirty="0" err="1"/>
              <a:t>politiquement</a:t>
            </a:r>
            <a:r>
              <a:rPr lang="en-US" dirty="0"/>
              <a:t> </a:t>
            </a:r>
            <a:r>
              <a:rPr lang="en-US" dirty="0" err="1"/>
              <a:t>exposées</a:t>
            </a:r>
            <a:r>
              <a:rPr lang="en-US" dirty="0"/>
              <a:t>, des </a:t>
            </a:r>
            <a:r>
              <a:rPr lang="en-US" dirty="0" err="1"/>
              <a:t>erreurs</a:t>
            </a:r>
            <a:r>
              <a:rPr lang="en-US" dirty="0"/>
              <a:t> de </a:t>
            </a:r>
            <a:r>
              <a:rPr lang="en-US" dirty="0" err="1"/>
              <a:t>saisie</a:t>
            </a:r>
            <a:r>
              <a:rPr lang="en-US" dirty="0"/>
              <a:t> </a:t>
            </a:r>
            <a:r>
              <a:rPr lang="en-US" dirty="0" err="1"/>
              <a:t>récurrentes</a:t>
            </a:r>
            <a:r>
              <a:rPr lang="en-US" dirty="0"/>
              <a:t> </a:t>
            </a:r>
            <a:r>
              <a:rPr lang="en-US" dirty="0" err="1"/>
              <a:t>concentrées</a:t>
            </a:r>
            <a:r>
              <a:rPr lang="en-US" dirty="0"/>
              <a:t> sur un seul type de confusion, </a:t>
            </a:r>
            <a:r>
              <a:rPr lang="en-US" dirty="0" err="1"/>
              <a:t>une</a:t>
            </a:r>
            <a:r>
              <a:rPr lang="en-US" dirty="0"/>
              <a:t> </a:t>
            </a:r>
            <a:r>
              <a:rPr lang="en-US" dirty="0" err="1"/>
              <a:t>conformité</a:t>
            </a:r>
            <a:r>
              <a:rPr lang="en-US" dirty="0"/>
              <a:t> </a:t>
            </a:r>
            <a:r>
              <a:rPr lang="en-US" dirty="0" err="1"/>
              <a:t>déclarative</a:t>
            </a:r>
            <a:r>
              <a:rPr lang="en-US" dirty="0"/>
              <a:t> très </a:t>
            </a:r>
            <a:r>
              <a:rPr lang="en-US" dirty="0" err="1"/>
              <a:t>faible</a:t>
            </a:r>
            <a:r>
              <a:rPr lang="en-US" dirty="0"/>
              <a:t> chez les </a:t>
            </a:r>
            <a:r>
              <a:rPr lang="en-US" dirty="0" err="1"/>
              <a:t>titulaires</a:t>
            </a:r>
            <a:r>
              <a:rPr lang="en-US" dirty="0"/>
              <a:t> de </a:t>
            </a:r>
            <a:r>
              <a:rPr lang="en-US" dirty="0" err="1"/>
              <a:t>titres</a:t>
            </a:r>
            <a:r>
              <a:rPr lang="en-US" dirty="0"/>
              <a:t> et plus encore chez les sous-</a:t>
            </a:r>
            <a:r>
              <a:rPr lang="en-US" dirty="0" err="1"/>
              <a:t>traitants</a:t>
            </a:r>
            <a:r>
              <a:rPr lang="en-US" dirty="0"/>
              <a:t>, et </a:t>
            </a:r>
            <a:r>
              <a:rPr lang="en-US" dirty="0" err="1"/>
              <a:t>enfin</a:t>
            </a:r>
            <a:r>
              <a:rPr lang="en-US" dirty="0"/>
              <a:t> des </a:t>
            </a:r>
            <a:r>
              <a:rPr lang="en-US" dirty="0" err="1"/>
              <a:t>difficultés</a:t>
            </a:r>
            <a:r>
              <a:rPr lang="en-US" dirty="0"/>
              <a:t> </a:t>
            </a:r>
            <a:r>
              <a:rPr lang="en-US" dirty="0" err="1"/>
              <a:t>d'interopérabilité</a:t>
            </a:r>
            <a:r>
              <a:rPr lang="en-US" dirty="0"/>
              <a:t> entre les bases faute </a:t>
            </a:r>
            <a:r>
              <a:rPr lang="en-US" dirty="0" err="1"/>
              <a:t>d'identifiant</a:t>
            </a:r>
            <a:r>
              <a:rPr lang="en-US" dirty="0"/>
              <a:t> unique </a:t>
            </a:r>
            <a:r>
              <a:rPr lang="en-US" dirty="0" err="1"/>
              <a:t>partagé</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présentation a pour objectif d'éclairer la décision en synthétisant les constats clés de l'audit de qualité des données du RBE. L'équipe reste disponible pour approfondir tout point spécifique avec les parties prenantes du comité de pilotage.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5.svg"/><Relationship Id="rId5" Type="http://schemas.openxmlformats.org/officeDocument/2006/relationships/image" Target="../media/image8.png"/><Relationship Id="rId10" Type="http://schemas.openxmlformats.org/officeDocument/2006/relationships/image" Target="../media/image4.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chart" Target="../charts/chart4.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chart" Target="../charts/chart5.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chart" Target="../charts/chart6.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chart" Target="../charts/char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chart" Target="../charts/chart8.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chart" Target="../charts/chart9.xml"/></Relationships>
</file>

<file path=ppt/slides/_rels/slide2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5.svg"/><Relationship Id="rId4" Type="http://schemas.openxmlformats.org/officeDocument/2006/relationships/image" Target="../media/image14.png"/><Relationship Id="rId9" Type="http://schemas.openxmlformats.org/officeDocument/2006/relationships/image" Target="../media/image4.png"/></Relationships>
</file>

<file path=ppt/slides/_rels/slide2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5.sv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5" name="Shape 2"/>
          <p:cNvSpPr/>
          <p:nvPr/>
        </p:nvSpPr>
        <p:spPr>
          <a:xfrm>
            <a:off x="566928" y="3913632"/>
            <a:ext cx="7452000" cy="0"/>
          </a:xfrm>
          <a:prstGeom prst="line">
            <a:avLst/>
          </a:prstGeom>
          <a:noFill/>
          <a:ln w="25400">
            <a:solidFill>
              <a:srgbClr val="C9962F"/>
            </a:solidFill>
            <a:prstDash val="solid"/>
          </a:ln>
        </p:spPr>
      </p:sp>
      <p:sp>
        <p:nvSpPr>
          <p:cNvPr id="4" name="Text 1"/>
          <p:cNvSpPr/>
          <p:nvPr/>
        </p:nvSpPr>
        <p:spPr>
          <a:xfrm>
            <a:off x="566928" y="1848232"/>
            <a:ext cx="8778240" cy="1750760"/>
          </a:xfrm>
          <a:prstGeom prst="rect">
            <a:avLst/>
          </a:prstGeom>
          <a:noFill/>
          <a:ln/>
        </p:spPr>
        <p:txBody>
          <a:bodyPr wrap="square" lIns="0" tIns="0" rIns="0" bIns="0" rtlCol="0" anchor="t"/>
          <a:lstStyle/>
          <a:p>
            <a:pPr marL="0" indent="0">
              <a:lnSpc>
                <a:spcPct val="108000"/>
              </a:lnSpc>
              <a:buNone/>
            </a:pPr>
            <a:r>
              <a:rPr lang="en-US" sz="4000" b="1" dirty="0">
                <a:solidFill>
                  <a:srgbClr val="082AF5"/>
                </a:solidFill>
                <a:latin typeface="Montserrat" pitchFamily="34" charset="0"/>
                <a:ea typeface="Montserrat" pitchFamily="34" charset="-122"/>
                <a:cs typeface="Montserrat" pitchFamily="34" charset="-120"/>
              </a:rPr>
              <a:t>Analyse de la qualité des données du Registre des Bénéficiaires Effectifs (RBE)</a:t>
            </a:r>
            <a:endParaRPr lang="en-US" sz="4000" dirty="0">
              <a:solidFill>
                <a:srgbClr val="082AF5"/>
              </a:solidFill>
            </a:endParaRPr>
          </a:p>
        </p:txBody>
      </p:sp>
      <p:sp>
        <p:nvSpPr>
          <p:cNvPr id="7" name="Text 4"/>
          <p:cNvSpPr/>
          <p:nvPr/>
        </p:nvSpPr>
        <p:spPr>
          <a:xfrm>
            <a:off x="566928" y="5989320"/>
            <a:ext cx="2377440" cy="548640"/>
          </a:xfrm>
          <a:prstGeom prst="rect">
            <a:avLst/>
          </a:prstGeom>
          <a:noFill/>
          <a:ln/>
        </p:spPr>
        <p:txBody>
          <a:bodyPr wrap="square" lIns="0" tIns="0" rIns="0" bIns="0" rtlCol="0" anchor="ctr"/>
          <a:lstStyle/>
          <a:p>
            <a:pPr marL="0" indent="0">
              <a:lnSpc>
                <a:spcPts val="1600"/>
              </a:lnSpc>
              <a:buNone/>
            </a:pPr>
            <a:r>
              <a:rPr lang="en-US" sz="1050" b="1" kern="0" spc="150" dirty="0">
                <a:solidFill>
                  <a:srgbClr val="082AF5"/>
                </a:solidFill>
                <a:latin typeface="Calibri" pitchFamily="34" charset="0"/>
                <a:ea typeface="Calibri" pitchFamily="34" charset="-122"/>
                <a:cs typeface="Calibri" pitchFamily="34" charset="-120"/>
              </a:rPr>
              <a:t>DATE
</a:t>
            </a:r>
            <a:endParaRPr lang="en-US" sz="1050" dirty="0">
              <a:solidFill>
                <a:srgbClr val="082AF5"/>
              </a:solidFill>
            </a:endParaRPr>
          </a:p>
          <a:p>
            <a:pPr marL="0" indent="0">
              <a:lnSpc>
                <a:spcPts val="1600"/>
              </a:lnSpc>
              <a:buNone/>
            </a:pPr>
            <a:r>
              <a:rPr lang="en-US" sz="1300" dirty="0">
                <a:solidFill>
                  <a:srgbClr val="082AF5"/>
                </a:solidFill>
                <a:latin typeface="Calibri" pitchFamily="34" charset="0"/>
                <a:ea typeface="Calibri" pitchFamily="34" charset="-122"/>
                <a:cs typeface="Calibri" pitchFamily="34" charset="-120"/>
              </a:rPr>
              <a:t>Juin 2026</a:t>
            </a:r>
            <a:endParaRPr lang="en-US" sz="1050" dirty="0">
              <a:solidFill>
                <a:srgbClr val="082AF5"/>
              </a:solidFill>
            </a:endParaRPr>
          </a:p>
        </p:txBody>
      </p:sp>
      <p:grpSp>
        <p:nvGrpSpPr>
          <p:cNvPr id="10" name="Groupe 9">
            <a:extLst>
              <a:ext uri="{FF2B5EF4-FFF2-40B4-BE49-F238E27FC236}">
                <a16:creationId xmlns:a16="http://schemas.microsoft.com/office/drawing/2014/main" id="{3B0E8DED-4F71-2950-A2BC-1679AE64CF30}"/>
              </a:ext>
            </a:extLst>
          </p:cNvPr>
          <p:cNvGrpSpPr/>
          <p:nvPr/>
        </p:nvGrpSpPr>
        <p:grpSpPr>
          <a:xfrm rot="10800000">
            <a:off x="0" y="-792097"/>
            <a:ext cx="12192000" cy="2640329"/>
            <a:chOff x="0" y="-1269"/>
            <a:chExt cx="12192000" cy="2640329"/>
          </a:xfrm>
        </p:grpSpPr>
        <p:pic>
          <p:nvPicPr>
            <p:cNvPr id="3" name="Image 2">
              <a:extLst>
                <a:ext uri="{FF2B5EF4-FFF2-40B4-BE49-F238E27FC236}">
                  <a16:creationId xmlns:a16="http://schemas.microsoft.com/office/drawing/2014/main" id="{1A1F98D5-1111-E5A7-F6DA-AC4BBB3428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0" y="0"/>
              <a:ext cx="6096000" cy="2639060"/>
            </a:xfrm>
            <a:prstGeom prst="rect">
              <a:avLst/>
            </a:prstGeom>
            <a:noFill/>
          </p:spPr>
        </p:pic>
        <p:pic>
          <p:nvPicPr>
            <p:cNvPr id="9" name="Image 8">
              <a:extLst>
                <a:ext uri="{FF2B5EF4-FFF2-40B4-BE49-F238E27FC236}">
                  <a16:creationId xmlns:a16="http://schemas.microsoft.com/office/drawing/2014/main" id="{A6FE3F88-6F95-E474-CC1A-8D2EA26431A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6096000" y="-1269"/>
              <a:ext cx="6096000" cy="2639060"/>
            </a:xfrm>
            <a:prstGeom prst="rect">
              <a:avLst/>
            </a:prstGeom>
            <a:noFill/>
          </p:spPr>
        </p:pic>
      </p:grpSp>
      <p:pic>
        <p:nvPicPr>
          <p:cNvPr id="12" name="Picture 14">
            <a:extLst>
              <a:ext uri="{FF2B5EF4-FFF2-40B4-BE49-F238E27FC236}">
                <a16:creationId xmlns:a16="http://schemas.microsoft.com/office/drawing/2014/main" id="{C4C3673D-2415-93AE-0652-417BD725A5D9}"/>
              </a:ext>
            </a:extLst>
          </p:cNvPr>
          <p:cNvPicPr/>
          <p:nvPr/>
        </p:nvPicPr>
        <p:blipFill>
          <a:blip r:embed="rId4">
            <a:alphaModFix/>
            <a:extLst>
              <a:ext uri="{28A0092B-C50C-407E-A947-70E740481C1C}">
                <a14:useLocalDpi xmlns:a14="http://schemas.microsoft.com/office/drawing/2010/main" val="0"/>
              </a:ext>
            </a:extLst>
          </a:blip>
          <a:stretch>
            <a:fillRect/>
          </a:stretch>
        </p:blipFill>
        <p:spPr>
          <a:xfrm>
            <a:off x="7974584" y="3324607"/>
            <a:ext cx="4125976" cy="2926205"/>
          </a:xfrm>
          <a:prstGeom prst="rect">
            <a:avLst/>
          </a:prstGeom>
          <a:noFill/>
          <a:ln>
            <a:noFill/>
          </a:ln>
        </p:spPr>
      </p:pic>
      <p:pic>
        <p:nvPicPr>
          <p:cNvPr id="13" name="Image 0" descr="/home/claude/work/assets/corner_ornament.png">
            <a:extLst>
              <a:ext uri="{FF2B5EF4-FFF2-40B4-BE49-F238E27FC236}">
                <a16:creationId xmlns:a16="http://schemas.microsoft.com/office/drawing/2014/main" id="{E2A2994C-A561-9D52-2454-107CC911F13A}"/>
              </a:ext>
            </a:extLst>
          </p:cNvPr>
          <p:cNvPicPr>
            <a:picLocks noChangeAspect="1"/>
          </p:cNvPicPr>
          <p:nvPr/>
        </p:nvPicPr>
        <p:blipFill>
          <a:blip r:embed="rId5"/>
          <a:stretch>
            <a:fillRect/>
          </a:stretch>
        </p:blipFill>
        <p:spPr>
          <a:xfrm rot="10800000">
            <a:off x="18288" y="4125848"/>
            <a:ext cx="4340352" cy="2712720"/>
          </a:xfrm>
          <a:prstGeom prst="rect">
            <a:avLst/>
          </a:prstGeom>
        </p:spPr>
      </p:pic>
      <p:pic>
        <p:nvPicPr>
          <p:cNvPr id="14" name="Picture 14">
            <a:extLst>
              <a:ext uri="{FF2B5EF4-FFF2-40B4-BE49-F238E27FC236}">
                <a16:creationId xmlns:a16="http://schemas.microsoft.com/office/drawing/2014/main" id="{311B863D-4A75-3576-22EC-9E7EF438D578}"/>
              </a:ext>
            </a:extLst>
          </p:cNvPr>
          <p:cNvPicPr/>
          <p:nvPr/>
        </p:nvPicPr>
        <p:blipFill>
          <a:blip r:embed="rId4">
            <a:alphaModFix amt="5000"/>
            <a:extLst>
              <a:ext uri="{28A0092B-C50C-407E-A947-70E740481C1C}">
                <a14:useLocalDpi xmlns:a14="http://schemas.microsoft.com/office/drawing/2010/main" val="0"/>
              </a:ext>
            </a:extLst>
          </a:blip>
          <a:stretch>
            <a:fillRect/>
          </a:stretch>
        </p:blipFill>
        <p:spPr>
          <a:xfrm>
            <a:off x="-2576576" y="-537514"/>
            <a:ext cx="5508752" cy="3454077"/>
          </a:xfrm>
          <a:prstGeom prst="rect">
            <a:avLst/>
          </a:prstGeom>
          <a:noFill/>
          <a:ln>
            <a:noFill/>
          </a:ln>
        </p:spPr>
      </p:pic>
      <p:pic>
        <p:nvPicPr>
          <p:cNvPr id="15" name="Picture 14">
            <a:extLst>
              <a:ext uri="{FF2B5EF4-FFF2-40B4-BE49-F238E27FC236}">
                <a16:creationId xmlns:a16="http://schemas.microsoft.com/office/drawing/2014/main" id="{58C8425F-EF32-CBF1-0BC8-45C87F22E7A4}"/>
              </a:ext>
            </a:extLst>
          </p:cNvPr>
          <p:cNvPicPr/>
          <p:nvPr/>
        </p:nvPicPr>
        <p:blipFill>
          <a:blip r:embed="rId4">
            <a:alphaModFix amt="5000"/>
            <a:extLst>
              <a:ext uri="{28A0092B-C50C-407E-A947-70E740481C1C}">
                <a14:useLocalDpi xmlns:a14="http://schemas.microsoft.com/office/drawing/2010/main" val="0"/>
              </a:ext>
            </a:extLst>
          </a:blip>
          <a:stretch>
            <a:fillRect/>
          </a:stretch>
        </p:blipFill>
        <p:spPr>
          <a:xfrm>
            <a:off x="2846832" y="-574632"/>
            <a:ext cx="5508752" cy="3454077"/>
          </a:xfrm>
          <a:prstGeom prst="rect">
            <a:avLst/>
          </a:prstGeom>
          <a:noFill/>
          <a:ln>
            <a:noFill/>
          </a:ln>
        </p:spPr>
      </p:pic>
      <p:pic>
        <p:nvPicPr>
          <p:cNvPr id="16" name="Picture 14">
            <a:extLst>
              <a:ext uri="{FF2B5EF4-FFF2-40B4-BE49-F238E27FC236}">
                <a16:creationId xmlns:a16="http://schemas.microsoft.com/office/drawing/2014/main" id="{4A8F85D2-C388-35D0-7C6C-167C2C184BEC}"/>
              </a:ext>
            </a:extLst>
          </p:cNvPr>
          <p:cNvPicPr/>
          <p:nvPr/>
        </p:nvPicPr>
        <p:blipFill>
          <a:blip r:embed="rId4">
            <a:alphaModFix amt="5000"/>
            <a:extLst>
              <a:ext uri="{28A0092B-C50C-407E-A947-70E740481C1C}">
                <a14:useLocalDpi xmlns:a14="http://schemas.microsoft.com/office/drawing/2010/main" val="0"/>
              </a:ext>
            </a:extLst>
          </a:blip>
          <a:stretch>
            <a:fillRect/>
          </a:stretch>
        </p:blipFill>
        <p:spPr>
          <a:xfrm>
            <a:off x="8041132" y="-547299"/>
            <a:ext cx="5508752" cy="3454077"/>
          </a:xfrm>
          <a:prstGeom prst="rect">
            <a:avLst/>
          </a:prstGeom>
          <a:noFill/>
          <a:ln>
            <a:noFill/>
          </a:ln>
        </p:spPr>
      </p:pic>
      <p:pic>
        <p:nvPicPr>
          <p:cNvPr id="2" name="Picture 14">
            <a:extLst>
              <a:ext uri="{FF2B5EF4-FFF2-40B4-BE49-F238E27FC236}">
                <a16:creationId xmlns:a16="http://schemas.microsoft.com/office/drawing/2014/main" id="{B2E832A2-1373-35FD-A5C2-313E34612C1F}"/>
              </a:ext>
            </a:extLst>
          </p:cNvPr>
          <p:cNvPicPr/>
          <p:nvPr/>
        </p:nvPicPr>
        <p:blipFill>
          <a:blip r:embed="rId4">
            <a:alphaModFix amt="5000"/>
            <a:extLst>
              <a:ext uri="{28A0092B-C50C-407E-A947-70E740481C1C}">
                <a14:useLocalDpi xmlns:a14="http://schemas.microsoft.com/office/drawing/2010/main" val="0"/>
              </a:ext>
            </a:extLst>
          </a:blip>
          <a:stretch>
            <a:fillRect/>
          </a:stretch>
        </p:blipFill>
        <p:spPr>
          <a:xfrm>
            <a:off x="-443992" y="5638385"/>
            <a:ext cx="5508752" cy="3454077"/>
          </a:xfrm>
          <a:prstGeom prst="rect">
            <a:avLst/>
          </a:prstGeom>
          <a:noFill/>
          <a:ln>
            <a:noFill/>
          </a:ln>
        </p:spPr>
      </p:pic>
      <p:pic>
        <p:nvPicPr>
          <p:cNvPr id="6" name="Graphique 5" descr="Ampoule et engrenage avec un remplissage uni">
            <a:extLst>
              <a:ext uri="{FF2B5EF4-FFF2-40B4-BE49-F238E27FC236}">
                <a16:creationId xmlns:a16="http://schemas.microsoft.com/office/drawing/2014/main" id="{C8B09E39-1BEC-4EBD-5498-FF3C3D655D6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3" name="Text 0"/>
          <p:cNvSpPr/>
          <p:nvPr/>
        </p:nvSpPr>
        <p:spPr>
          <a:xfrm>
            <a:off x="566928" y="384048"/>
            <a:ext cx="7315200" cy="274320"/>
          </a:xfrm>
          <a:prstGeom prst="rect">
            <a:avLst/>
          </a:prstGeom>
          <a:noFill/>
          <a:ln/>
        </p:spPr>
        <p:txBody>
          <a:bodyPr wrap="square" lIns="0" tIns="0" rIns="0" bIns="0" rtlCol="0" anchor="ctr"/>
          <a:lstStyle/>
          <a:p>
            <a:pPr marL="0" indent="0" algn="l">
              <a:buNone/>
            </a:pPr>
            <a:r>
              <a:rPr lang="fr-SN" sz="3200" b="1" kern="0" spc="220" dirty="0">
                <a:latin typeface="Calibri" pitchFamily="34" charset="0"/>
                <a:ea typeface="Calibri" pitchFamily="34" charset="-122"/>
                <a:cs typeface="Calibri" pitchFamily="34" charset="-120"/>
              </a:rPr>
              <a:t>PLAN DE LA PRÉSENTATION</a:t>
            </a:r>
            <a:endParaRPr lang="fr-SN" sz="3200" dirty="0"/>
          </a:p>
        </p:txBody>
      </p:sp>
      <p:sp>
        <p:nvSpPr>
          <p:cNvPr id="4" name="Text 1"/>
          <p:cNvSpPr/>
          <p:nvPr/>
        </p:nvSpPr>
        <p:spPr>
          <a:xfrm>
            <a:off x="566928" y="640080"/>
            <a:ext cx="10424160" cy="713232"/>
          </a:xfrm>
          <a:prstGeom prst="rect">
            <a:avLst/>
          </a:prstGeom>
          <a:noFill/>
          <a:ln/>
        </p:spPr>
        <p:txBody>
          <a:bodyPr wrap="square" lIns="0" tIns="0" rIns="0" bIns="0" rtlCol="0" anchor="t"/>
          <a:lstStyle/>
          <a:p>
            <a:pPr marL="0" indent="0" algn="l">
              <a:buNone/>
            </a:pPr>
            <a:r>
              <a:rPr lang="fr-SN" sz="2600" b="1" dirty="0">
                <a:solidFill>
                  <a:srgbClr val="082AF5"/>
                </a:solidFill>
                <a:latin typeface="Montserrat" pitchFamily="34" charset="0"/>
                <a:ea typeface="Montserrat" pitchFamily="34" charset="-122"/>
                <a:cs typeface="Montserrat" pitchFamily="34" charset="-120"/>
              </a:rPr>
              <a:t>Sommaire</a:t>
            </a:r>
            <a:endParaRPr lang="fr-SN" sz="2600" dirty="0">
              <a:solidFill>
                <a:srgbClr val="082AF5"/>
              </a:solidFill>
            </a:endParaRPr>
          </a:p>
        </p:txBody>
      </p:sp>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fr-SN" sz="900" kern="0" spc="100" dirty="0">
                <a:solidFill>
                  <a:srgbClr val="082AF5"/>
                </a:solidFill>
                <a:latin typeface="Calibri" pitchFamily="34" charset="0"/>
                <a:ea typeface="Calibri" pitchFamily="34" charset="-122"/>
                <a:cs typeface="Calibri" pitchFamily="34" charset="-120"/>
              </a:rPr>
              <a:t>ANALYSE DE QUALITÉ DES DONNÉES DU RBE</a:t>
            </a:r>
            <a:endParaRPr lang="fr-SN" sz="900" dirty="0">
              <a:solidFill>
                <a:srgbClr val="082AF5"/>
              </a:solidFill>
            </a:endParaRPr>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fr-SN" sz="900" dirty="0">
                <a:solidFill>
                  <a:srgbClr val="082AF5"/>
                </a:solidFill>
                <a:latin typeface="Calibri" pitchFamily="34" charset="0"/>
                <a:ea typeface="Calibri" pitchFamily="34" charset="-122"/>
                <a:cs typeface="Calibri" pitchFamily="34" charset="-120"/>
              </a:rPr>
              <a:t>01 / 21</a:t>
            </a:r>
            <a:endParaRPr lang="fr-SN" sz="900" dirty="0">
              <a:solidFill>
                <a:srgbClr val="082AF5"/>
              </a:solidFill>
            </a:endParaRPr>
          </a:p>
        </p:txBody>
      </p:sp>
      <p:sp>
        <p:nvSpPr>
          <p:cNvPr id="10" name="Shape 7"/>
          <p:cNvSpPr/>
          <p:nvPr/>
        </p:nvSpPr>
        <p:spPr>
          <a:xfrm>
            <a:off x="3252216" y="2130552"/>
            <a:ext cx="420624" cy="420624"/>
          </a:xfrm>
          <a:prstGeom prst="ellipse">
            <a:avLst/>
          </a:prstGeom>
          <a:solidFill>
            <a:srgbClr val="082AF5"/>
          </a:solidFill>
          <a:ln/>
        </p:spPr>
      </p:sp>
      <p:pic>
        <p:nvPicPr>
          <p:cNvPr id="11" name="Image 1" descr="/home/claude/work/assets/icons/arrowRight_white.png"/>
          <p:cNvPicPr>
            <a:picLocks noChangeAspect="1"/>
          </p:cNvPicPr>
          <p:nvPr/>
        </p:nvPicPr>
        <p:blipFill>
          <a:blip r:embed="rId4"/>
          <a:stretch>
            <a:fillRect/>
          </a:stretch>
        </p:blipFill>
        <p:spPr>
          <a:xfrm>
            <a:off x="3378403" y="2256739"/>
            <a:ext cx="168250" cy="168250"/>
          </a:xfrm>
          <a:prstGeom prst="rect">
            <a:avLst/>
          </a:prstGeom>
        </p:spPr>
      </p:pic>
      <p:sp>
        <p:nvSpPr>
          <p:cNvPr id="12" name="Text 8"/>
          <p:cNvSpPr/>
          <p:nvPr/>
        </p:nvSpPr>
        <p:spPr>
          <a:xfrm>
            <a:off x="3252216" y="2130552"/>
            <a:ext cx="420624" cy="420624"/>
          </a:xfrm>
          <a:prstGeom prst="rect">
            <a:avLst/>
          </a:prstGeom>
          <a:noFill/>
          <a:ln/>
        </p:spPr>
        <p:txBody>
          <a:bodyPr wrap="square" lIns="0" tIns="0" rIns="0" bIns="0" rtlCol="0" anchor="ctr"/>
          <a:lstStyle/>
          <a:p>
            <a:pPr marL="0" indent="0">
              <a:buNone/>
            </a:pPr>
            <a:r>
              <a:rPr lang="fr-SN" sz="100" dirty="0">
                <a:solidFill>
                  <a:srgbClr val="082AF5"/>
                </a:solidFill>
                <a:latin typeface="Montserrat" pitchFamily="34" charset="0"/>
                <a:ea typeface="Montserrat" pitchFamily="34" charset="-122"/>
                <a:cs typeface="Montserrat" pitchFamily="34" charset="-120"/>
              </a:rPr>
              <a:t>01</a:t>
            </a:r>
            <a:endParaRPr lang="fr-SN" sz="100" dirty="0">
              <a:solidFill>
                <a:srgbClr val="082AF5"/>
              </a:solidFill>
            </a:endParaRPr>
          </a:p>
        </p:txBody>
      </p:sp>
      <p:sp>
        <p:nvSpPr>
          <p:cNvPr id="13" name="Text 9"/>
          <p:cNvSpPr/>
          <p:nvPr/>
        </p:nvSpPr>
        <p:spPr>
          <a:xfrm>
            <a:off x="3855720" y="2112264"/>
            <a:ext cx="4480560" cy="457200"/>
          </a:xfrm>
          <a:prstGeom prst="rect">
            <a:avLst/>
          </a:prstGeom>
          <a:noFill/>
          <a:ln/>
        </p:spPr>
        <p:txBody>
          <a:bodyPr wrap="square" lIns="0" tIns="0" rIns="0" bIns="0" rtlCol="0" anchor="ctr"/>
          <a:lstStyle/>
          <a:p>
            <a:pPr marL="0" indent="0">
              <a:buNone/>
            </a:pPr>
            <a:r>
              <a:rPr lang="fr-SN" sz="2800" dirty="0">
                <a:solidFill>
                  <a:srgbClr val="082AF5"/>
                </a:solidFill>
                <a:latin typeface="Calibri" pitchFamily="34" charset="0"/>
                <a:ea typeface="Calibri" pitchFamily="34" charset="-122"/>
                <a:cs typeface="Calibri" pitchFamily="34" charset="-120"/>
              </a:rPr>
              <a:t>Contexte et justification</a:t>
            </a:r>
            <a:endParaRPr lang="fr-SN" sz="2800" dirty="0">
              <a:solidFill>
                <a:srgbClr val="082AF5"/>
              </a:solidFill>
            </a:endParaRPr>
          </a:p>
        </p:txBody>
      </p:sp>
      <p:sp>
        <p:nvSpPr>
          <p:cNvPr id="14" name="Text 10"/>
          <p:cNvSpPr/>
          <p:nvPr/>
        </p:nvSpPr>
        <p:spPr>
          <a:xfrm>
            <a:off x="7559040" y="2112264"/>
            <a:ext cx="822960" cy="457200"/>
          </a:xfrm>
          <a:prstGeom prst="rect">
            <a:avLst/>
          </a:prstGeom>
          <a:noFill/>
          <a:ln/>
        </p:spPr>
        <p:txBody>
          <a:bodyPr wrap="square" lIns="0" tIns="0" rIns="0" bIns="0" rtlCol="0" anchor="ctr"/>
          <a:lstStyle/>
          <a:p>
            <a:pPr marL="0" indent="0" algn="r">
              <a:buNone/>
            </a:pPr>
            <a:r>
              <a:rPr lang="fr-SN" sz="2400" b="1" dirty="0">
                <a:solidFill>
                  <a:srgbClr val="082AF5"/>
                </a:solidFill>
                <a:latin typeface="Montserrat" pitchFamily="34" charset="0"/>
                <a:ea typeface="Montserrat" pitchFamily="34" charset="-122"/>
                <a:cs typeface="Montserrat" pitchFamily="34" charset="-120"/>
              </a:rPr>
              <a:t>01</a:t>
            </a:r>
            <a:endParaRPr lang="fr-SN" sz="2400" dirty="0">
              <a:solidFill>
                <a:srgbClr val="082AF5"/>
              </a:solidFill>
            </a:endParaRPr>
          </a:p>
        </p:txBody>
      </p:sp>
      <p:sp>
        <p:nvSpPr>
          <p:cNvPr id="15" name="Shape 11"/>
          <p:cNvSpPr/>
          <p:nvPr/>
        </p:nvSpPr>
        <p:spPr>
          <a:xfrm>
            <a:off x="3252216" y="2697480"/>
            <a:ext cx="420624" cy="420624"/>
          </a:xfrm>
          <a:prstGeom prst="ellipse">
            <a:avLst/>
          </a:prstGeom>
          <a:solidFill>
            <a:srgbClr val="082AF5"/>
          </a:solidFill>
          <a:ln/>
        </p:spPr>
      </p:sp>
      <p:pic>
        <p:nvPicPr>
          <p:cNvPr id="16" name="Image 2" descr="/home/claude/work/assets/icons/arrowRight_white.png"/>
          <p:cNvPicPr>
            <a:picLocks noChangeAspect="1"/>
          </p:cNvPicPr>
          <p:nvPr/>
        </p:nvPicPr>
        <p:blipFill>
          <a:blip r:embed="rId4"/>
          <a:stretch>
            <a:fillRect/>
          </a:stretch>
        </p:blipFill>
        <p:spPr>
          <a:xfrm>
            <a:off x="3378403" y="2823667"/>
            <a:ext cx="168250" cy="168250"/>
          </a:xfrm>
          <a:prstGeom prst="rect">
            <a:avLst/>
          </a:prstGeom>
        </p:spPr>
      </p:pic>
      <p:sp>
        <p:nvSpPr>
          <p:cNvPr id="17" name="Text 12"/>
          <p:cNvSpPr/>
          <p:nvPr/>
        </p:nvSpPr>
        <p:spPr>
          <a:xfrm>
            <a:off x="3252216" y="2697480"/>
            <a:ext cx="420624" cy="420624"/>
          </a:xfrm>
          <a:prstGeom prst="rect">
            <a:avLst/>
          </a:prstGeom>
          <a:noFill/>
          <a:ln/>
        </p:spPr>
        <p:txBody>
          <a:bodyPr wrap="square" lIns="0" tIns="0" rIns="0" bIns="0" rtlCol="0" anchor="ctr"/>
          <a:lstStyle/>
          <a:p>
            <a:pPr marL="0" indent="0">
              <a:buNone/>
            </a:pPr>
            <a:r>
              <a:rPr lang="fr-SN" sz="100" dirty="0">
                <a:solidFill>
                  <a:srgbClr val="082AF5"/>
                </a:solidFill>
                <a:latin typeface="Montserrat" pitchFamily="34" charset="0"/>
                <a:ea typeface="Montserrat" pitchFamily="34" charset="-122"/>
                <a:cs typeface="Montserrat" pitchFamily="34" charset="-120"/>
              </a:rPr>
              <a:t>02</a:t>
            </a:r>
            <a:endParaRPr lang="fr-SN" sz="100" dirty="0">
              <a:solidFill>
                <a:srgbClr val="082AF5"/>
              </a:solidFill>
            </a:endParaRPr>
          </a:p>
        </p:txBody>
      </p:sp>
      <p:sp>
        <p:nvSpPr>
          <p:cNvPr id="18" name="Text 13"/>
          <p:cNvSpPr/>
          <p:nvPr/>
        </p:nvSpPr>
        <p:spPr>
          <a:xfrm>
            <a:off x="3855720" y="2679192"/>
            <a:ext cx="4480560" cy="457200"/>
          </a:xfrm>
          <a:prstGeom prst="rect">
            <a:avLst/>
          </a:prstGeom>
          <a:noFill/>
          <a:ln/>
        </p:spPr>
        <p:txBody>
          <a:bodyPr wrap="square" lIns="0" tIns="0" rIns="0" bIns="0" rtlCol="0" anchor="ctr"/>
          <a:lstStyle/>
          <a:p>
            <a:pPr marL="0" indent="0">
              <a:buNone/>
            </a:pPr>
            <a:r>
              <a:rPr lang="fr-SN" sz="2800" dirty="0">
                <a:solidFill>
                  <a:srgbClr val="082AF5"/>
                </a:solidFill>
                <a:latin typeface="Calibri" pitchFamily="34" charset="0"/>
                <a:ea typeface="Calibri" pitchFamily="34" charset="-122"/>
                <a:cs typeface="Calibri" pitchFamily="34" charset="-120"/>
              </a:rPr>
              <a:t>Présentation de la base RBE</a:t>
            </a:r>
            <a:endParaRPr lang="fr-SN" sz="2800" dirty="0">
              <a:solidFill>
                <a:srgbClr val="082AF5"/>
              </a:solidFill>
            </a:endParaRPr>
          </a:p>
        </p:txBody>
      </p:sp>
      <p:sp>
        <p:nvSpPr>
          <p:cNvPr id="19" name="Text 14"/>
          <p:cNvSpPr/>
          <p:nvPr/>
        </p:nvSpPr>
        <p:spPr>
          <a:xfrm>
            <a:off x="7559040" y="2679192"/>
            <a:ext cx="822960" cy="457200"/>
          </a:xfrm>
          <a:prstGeom prst="rect">
            <a:avLst/>
          </a:prstGeom>
          <a:noFill/>
          <a:ln/>
        </p:spPr>
        <p:txBody>
          <a:bodyPr wrap="square" lIns="0" tIns="0" rIns="0" bIns="0" rtlCol="0" anchor="ctr"/>
          <a:lstStyle/>
          <a:p>
            <a:pPr marL="0" indent="0" algn="r">
              <a:buNone/>
            </a:pPr>
            <a:r>
              <a:rPr lang="fr-SN" sz="2400" b="1" dirty="0">
                <a:solidFill>
                  <a:srgbClr val="082AF5"/>
                </a:solidFill>
                <a:latin typeface="Montserrat" pitchFamily="34" charset="0"/>
                <a:ea typeface="Montserrat" pitchFamily="34" charset="-122"/>
                <a:cs typeface="Montserrat" pitchFamily="34" charset="-120"/>
              </a:rPr>
              <a:t>02</a:t>
            </a:r>
            <a:endParaRPr lang="fr-SN" sz="2400" dirty="0">
              <a:solidFill>
                <a:srgbClr val="082AF5"/>
              </a:solidFill>
            </a:endParaRPr>
          </a:p>
        </p:txBody>
      </p:sp>
      <p:sp>
        <p:nvSpPr>
          <p:cNvPr id="20" name="Shape 15"/>
          <p:cNvSpPr/>
          <p:nvPr/>
        </p:nvSpPr>
        <p:spPr>
          <a:xfrm>
            <a:off x="3252216" y="3264408"/>
            <a:ext cx="420624" cy="420624"/>
          </a:xfrm>
          <a:prstGeom prst="ellipse">
            <a:avLst/>
          </a:prstGeom>
          <a:solidFill>
            <a:srgbClr val="082AF5"/>
          </a:solidFill>
          <a:ln/>
        </p:spPr>
      </p:sp>
      <p:pic>
        <p:nvPicPr>
          <p:cNvPr id="21" name="Image 3" descr="/home/claude/work/assets/icons/arrowRight_white.png"/>
          <p:cNvPicPr>
            <a:picLocks noChangeAspect="1"/>
          </p:cNvPicPr>
          <p:nvPr/>
        </p:nvPicPr>
        <p:blipFill>
          <a:blip r:embed="rId4"/>
          <a:stretch>
            <a:fillRect/>
          </a:stretch>
        </p:blipFill>
        <p:spPr>
          <a:xfrm>
            <a:off x="3378403" y="3390595"/>
            <a:ext cx="168250" cy="168250"/>
          </a:xfrm>
          <a:prstGeom prst="rect">
            <a:avLst/>
          </a:prstGeom>
        </p:spPr>
      </p:pic>
      <p:sp>
        <p:nvSpPr>
          <p:cNvPr id="22" name="Text 16"/>
          <p:cNvSpPr/>
          <p:nvPr/>
        </p:nvSpPr>
        <p:spPr>
          <a:xfrm>
            <a:off x="3252216" y="3264408"/>
            <a:ext cx="420624" cy="420624"/>
          </a:xfrm>
          <a:prstGeom prst="rect">
            <a:avLst/>
          </a:prstGeom>
          <a:noFill/>
          <a:ln/>
        </p:spPr>
        <p:txBody>
          <a:bodyPr wrap="square" lIns="0" tIns="0" rIns="0" bIns="0" rtlCol="0" anchor="ctr"/>
          <a:lstStyle/>
          <a:p>
            <a:pPr marL="0" indent="0">
              <a:buNone/>
            </a:pPr>
            <a:r>
              <a:rPr lang="fr-SN" sz="100" dirty="0">
                <a:solidFill>
                  <a:srgbClr val="082AF5"/>
                </a:solidFill>
                <a:latin typeface="Montserrat" pitchFamily="34" charset="0"/>
                <a:ea typeface="Montserrat" pitchFamily="34" charset="-122"/>
                <a:cs typeface="Montserrat" pitchFamily="34" charset="-120"/>
              </a:rPr>
              <a:t>03</a:t>
            </a:r>
            <a:endParaRPr lang="fr-SN" sz="100" dirty="0">
              <a:solidFill>
                <a:srgbClr val="082AF5"/>
              </a:solidFill>
            </a:endParaRPr>
          </a:p>
        </p:txBody>
      </p:sp>
      <p:sp>
        <p:nvSpPr>
          <p:cNvPr id="23" name="Text 17"/>
          <p:cNvSpPr/>
          <p:nvPr/>
        </p:nvSpPr>
        <p:spPr>
          <a:xfrm>
            <a:off x="3855720" y="3246120"/>
            <a:ext cx="4480560" cy="457200"/>
          </a:xfrm>
          <a:prstGeom prst="rect">
            <a:avLst/>
          </a:prstGeom>
          <a:noFill/>
          <a:ln/>
        </p:spPr>
        <p:txBody>
          <a:bodyPr wrap="square" lIns="0" tIns="0" rIns="0" bIns="0" rtlCol="0" anchor="ctr"/>
          <a:lstStyle/>
          <a:p>
            <a:pPr marL="0" indent="0">
              <a:buNone/>
            </a:pPr>
            <a:r>
              <a:rPr lang="fr-SN" sz="2800" dirty="0">
                <a:solidFill>
                  <a:srgbClr val="082AF5"/>
                </a:solidFill>
                <a:latin typeface="Calibri" pitchFamily="34" charset="0"/>
                <a:ea typeface="Calibri" pitchFamily="34" charset="-122"/>
                <a:cs typeface="Calibri" pitchFamily="34" charset="-120"/>
              </a:rPr>
              <a:t>Résultats des analyses</a:t>
            </a:r>
            <a:endParaRPr lang="fr-SN" sz="2800" dirty="0">
              <a:solidFill>
                <a:srgbClr val="082AF5"/>
              </a:solidFill>
            </a:endParaRPr>
          </a:p>
        </p:txBody>
      </p:sp>
      <p:sp>
        <p:nvSpPr>
          <p:cNvPr id="24" name="Text 18"/>
          <p:cNvSpPr/>
          <p:nvPr/>
        </p:nvSpPr>
        <p:spPr>
          <a:xfrm>
            <a:off x="7559040" y="3246120"/>
            <a:ext cx="822960" cy="457200"/>
          </a:xfrm>
          <a:prstGeom prst="rect">
            <a:avLst/>
          </a:prstGeom>
          <a:noFill/>
          <a:ln/>
        </p:spPr>
        <p:txBody>
          <a:bodyPr wrap="square" lIns="0" tIns="0" rIns="0" bIns="0" rtlCol="0" anchor="ctr"/>
          <a:lstStyle/>
          <a:p>
            <a:pPr marL="0" indent="0" algn="r">
              <a:buNone/>
            </a:pPr>
            <a:r>
              <a:rPr lang="fr-SN" sz="2400" b="1" dirty="0">
                <a:solidFill>
                  <a:srgbClr val="082AF5"/>
                </a:solidFill>
                <a:latin typeface="Montserrat" pitchFamily="34" charset="0"/>
                <a:ea typeface="Montserrat" pitchFamily="34" charset="-122"/>
                <a:cs typeface="Montserrat" pitchFamily="34" charset="-120"/>
              </a:rPr>
              <a:t>03</a:t>
            </a:r>
            <a:endParaRPr lang="fr-SN" sz="2400" dirty="0">
              <a:solidFill>
                <a:srgbClr val="082AF5"/>
              </a:solidFill>
            </a:endParaRPr>
          </a:p>
        </p:txBody>
      </p:sp>
      <p:sp>
        <p:nvSpPr>
          <p:cNvPr id="25" name="Shape 19"/>
          <p:cNvSpPr/>
          <p:nvPr/>
        </p:nvSpPr>
        <p:spPr>
          <a:xfrm>
            <a:off x="3252216" y="3831336"/>
            <a:ext cx="420624" cy="420624"/>
          </a:xfrm>
          <a:prstGeom prst="ellipse">
            <a:avLst/>
          </a:prstGeom>
          <a:solidFill>
            <a:srgbClr val="082AF5"/>
          </a:solidFill>
          <a:ln/>
        </p:spPr>
      </p:sp>
      <p:pic>
        <p:nvPicPr>
          <p:cNvPr id="26" name="Image 4" descr="/home/claude/work/assets/icons/arrowRight_white.png"/>
          <p:cNvPicPr>
            <a:picLocks noChangeAspect="1"/>
          </p:cNvPicPr>
          <p:nvPr/>
        </p:nvPicPr>
        <p:blipFill>
          <a:blip r:embed="rId4"/>
          <a:stretch>
            <a:fillRect/>
          </a:stretch>
        </p:blipFill>
        <p:spPr>
          <a:xfrm>
            <a:off x="3378403" y="3957523"/>
            <a:ext cx="168250" cy="168250"/>
          </a:xfrm>
          <a:prstGeom prst="rect">
            <a:avLst/>
          </a:prstGeom>
        </p:spPr>
      </p:pic>
      <p:sp>
        <p:nvSpPr>
          <p:cNvPr id="27" name="Text 20"/>
          <p:cNvSpPr/>
          <p:nvPr/>
        </p:nvSpPr>
        <p:spPr>
          <a:xfrm>
            <a:off x="3252216" y="3831336"/>
            <a:ext cx="420624" cy="420624"/>
          </a:xfrm>
          <a:prstGeom prst="rect">
            <a:avLst/>
          </a:prstGeom>
          <a:noFill/>
          <a:ln/>
        </p:spPr>
        <p:txBody>
          <a:bodyPr wrap="square" lIns="0" tIns="0" rIns="0" bIns="0" rtlCol="0" anchor="ctr"/>
          <a:lstStyle/>
          <a:p>
            <a:pPr marL="0" indent="0">
              <a:buNone/>
            </a:pPr>
            <a:r>
              <a:rPr lang="fr-SN" sz="100" dirty="0">
                <a:solidFill>
                  <a:srgbClr val="082AF5"/>
                </a:solidFill>
                <a:latin typeface="Montserrat" pitchFamily="34" charset="0"/>
                <a:ea typeface="Montserrat" pitchFamily="34" charset="-122"/>
                <a:cs typeface="Montserrat" pitchFamily="34" charset="-120"/>
              </a:rPr>
              <a:t>04</a:t>
            </a:r>
            <a:endParaRPr lang="fr-SN" sz="100" dirty="0">
              <a:solidFill>
                <a:srgbClr val="082AF5"/>
              </a:solidFill>
            </a:endParaRPr>
          </a:p>
        </p:txBody>
      </p:sp>
      <p:sp>
        <p:nvSpPr>
          <p:cNvPr id="28" name="Text 21"/>
          <p:cNvSpPr/>
          <p:nvPr/>
        </p:nvSpPr>
        <p:spPr>
          <a:xfrm>
            <a:off x="3855720" y="3813048"/>
            <a:ext cx="4480560" cy="457200"/>
          </a:xfrm>
          <a:prstGeom prst="rect">
            <a:avLst/>
          </a:prstGeom>
          <a:noFill/>
          <a:ln/>
        </p:spPr>
        <p:txBody>
          <a:bodyPr wrap="square" lIns="0" tIns="0" rIns="0" bIns="0" rtlCol="0" anchor="ctr"/>
          <a:lstStyle/>
          <a:p>
            <a:pPr marL="0" indent="0">
              <a:buNone/>
            </a:pPr>
            <a:r>
              <a:rPr lang="fr-SN" sz="2800" dirty="0">
                <a:solidFill>
                  <a:srgbClr val="082AF5"/>
                </a:solidFill>
                <a:latin typeface="Calibri" pitchFamily="34" charset="0"/>
                <a:ea typeface="Calibri" pitchFamily="34" charset="-122"/>
                <a:cs typeface="Calibri" pitchFamily="34" charset="-120"/>
              </a:rPr>
              <a:t>Conclusion</a:t>
            </a:r>
            <a:endParaRPr lang="fr-SN" sz="2800" dirty="0">
              <a:solidFill>
                <a:srgbClr val="082AF5"/>
              </a:solidFill>
            </a:endParaRPr>
          </a:p>
        </p:txBody>
      </p:sp>
      <p:sp>
        <p:nvSpPr>
          <p:cNvPr id="29" name="Text 22"/>
          <p:cNvSpPr/>
          <p:nvPr/>
        </p:nvSpPr>
        <p:spPr>
          <a:xfrm>
            <a:off x="7559040" y="3813048"/>
            <a:ext cx="822960" cy="457200"/>
          </a:xfrm>
          <a:prstGeom prst="rect">
            <a:avLst/>
          </a:prstGeom>
          <a:noFill/>
          <a:ln/>
        </p:spPr>
        <p:txBody>
          <a:bodyPr wrap="square" lIns="0" tIns="0" rIns="0" bIns="0" rtlCol="0" anchor="ctr"/>
          <a:lstStyle/>
          <a:p>
            <a:pPr marL="0" indent="0" algn="r">
              <a:buNone/>
            </a:pPr>
            <a:r>
              <a:rPr lang="fr-SN" sz="2400" b="1" dirty="0">
                <a:solidFill>
                  <a:srgbClr val="082AF5"/>
                </a:solidFill>
                <a:latin typeface="Montserrat" pitchFamily="34" charset="0"/>
                <a:ea typeface="Montserrat" pitchFamily="34" charset="-122"/>
                <a:cs typeface="Montserrat" pitchFamily="34" charset="-120"/>
              </a:rPr>
              <a:t>04</a:t>
            </a:r>
            <a:endParaRPr lang="fr-SN" sz="2400" dirty="0">
              <a:solidFill>
                <a:srgbClr val="082AF5"/>
              </a:solidFill>
            </a:endParaRPr>
          </a:p>
        </p:txBody>
      </p:sp>
      <p:sp>
        <p:nvSpPr>
          <p:cNvPr id="30" name="Shape 23"/>
          <p:cNvSpPr/>
          <p:nvPr/>
        </p:nvSpPr>
        <p:spPr>
          <a:xfrm>
            <a:off x="3252216" y="4398264"/>
            <a:ext cx="420624" cy="420624"/>
          </a:xfrm>
          <a:prstGeom prst="ellipse">
            <a:avLst/>
          </a:prstGeom>
          <a:solidFill>
            <a:srgbClr val="082AF5"/>
          </a:solidFill>
          <a:ln/>
        </p:spPr>
      </p:sp>
      <p:pic>
        <p:nvPicPr>
          <p:cNvPr id="31" name="Image 5" descr="/home/claude/work/assets/icons/arrowRight_white.png"/>
          <p:cNvPicPr>
            <a:picLocks noChangeAspect="1"/>
          </p:cNvPicPr>
          <p:nvPr/>
        </p:nvPicPr>
        <p:blipFill>
          <a:blip r:embed="rId4"/>
          <a:stretch>
            <a:fillRect/>
          </a:stretch>
        </p:blipFill>
        <p:spPr>
          <a:xfrm>
            <a:off x="3378403" y="4524451"/>
            <a:ext cx="168250" cy="168250"/>
          </a:xfrm>
          <a:prstGeom prst="rect">
            <a:avLst/>
          </a:prstGeom>
        </p:spPr>
      </p:pic>
      <p:sp>
        <p:nvSpPr>
          <p:cNvPr id="32" name="Text 24"/>
          <p:cNvSpPr/>
          <p:nvPr/>
        </p:nvSpPr>
        <p:spPr>
          <a:xfrm>
            <a:off x="3252216" y="4398264"/>
            <a:ext cx="420624" cy="420624"/>
          </a:xfrm>
          <a:prstGeom prst="rect">
            <a:avLst/>
          </a:prstGeom>
          <a:noFill/>
          <a:ln/>
        </p:spPr>
        <p:txBody>
          <a:bodyPr wrap="square" lIns="0" tIns="0" rIns="0" bIns="0" rtlCol="0" anchor="ctr"/>
          <a:lstStyle/>
          <a:p>
            <a:pPr marL="0" indent="0">
              <a:buNone/>
            </a:pPr>
            <a:r>
              <a:rPr lang="fr-SN" sz="100" dirty="0">
                <a:solidFill>
                  <a:srgbClr val="082AF5"/>
                </a:solidFill>
                <a:latin typeface="Montserrat" pitchFamily="34" charset="0"/>
                <a:ea typeface="Montserrat" pitchFamily="34" charset="-122"/>
                <a:cs typeface="Montserrat" pitchFamily="34" charset="-120"/>
              </a:rPr>
              <a:t>05</a:t>
            </a:r>
            <a:endParaRPr lang="fr-SN" sz="100" dirty="0">
              <a:solidFill>
                <a:srgbClr val="082AF5"/>
              </a:solidFill>
            </a:endParaRPr>
          </a:p>
        </p:txBody>
      </p:sp>
      <p:sp>
        <p:nvSpPr>
          <p:cNvPr id="33" name="Text 25"/>
          <p:cNvSpPr/>
          <p:nvPr/>
        </p:nvSpPr>
        <p:spPr>
          <a:xfrm>
            <a:off x="3855720" y="4379976"/>
            <a:ext cx="4480560" cy="457200"/>
          </a:xfrm>
          <a:prstGeom prst="rect">
            <a:avLst/>
          </a:prstGeom>
          <a:noFill/>
          <a:ln/>
        </p:spPr>
        <p:txBody>
          <a:bodyPr wrap="square" lIns="0" tIns="0" rIns="0" bIns="0" rtlCol="0" anchor="ctr"/>
          <a:lstStyle/>
          <a:p>
            <a:pPr marL="0" indent="0">
              <a:buNone/>
            </a:pPr>
            <a:r>
              <a:rPr lang="fr-SN" sz="2800" dirty="0">
                <a:solidFill>
                  <a:srgbClr val="082AF5"/>
                </a:solidFill>
                <a:latin typeface="Calibri" pitchFamily="34" charset="0"/>
                <a:ea typeface="Calibri" pitchFamily="34" charset="-122"/>
                <a:cs typeface="Calibri" pitchFamily="34" charset="-120"/>
              </a:rPr>
              <a:t>Recommandations</a:t>
            </a:r>
            <a:endParaRPr lang="fr-SN" sz="2800" dirty="0">
              <a:solidFill>
                <a:srgbClr val="082AF5"/>
              </a:solidFill>
            </a:endParaRPr>
          </a:p>
        </p:txBody>
      </p:sp>
      <p:sp>
        <p:nvSpPr>
          <p:cNvPr id="34" name="Text 26"/>
          <p:cNvSpPr/>
          <p:nvPr/>
        </p:nvSpPr>
        <p:spPr>
          <a:xfrm>
            <a:off x="7559040" y="4379976"/>
            <a:ext cx="822960" cy="457200"/>
          </a:xfrm>
          <a:prstGeom prst="rect">
            <a:avLst/>
          </a:prstGeom>
          <a:noFill/>
          <a:ln/>
        </p:spPr>
        <p:txBody>
          <a:bodyPr wrap="square" lIns="0" tIns="0" rIns="0" bIns="0" rtlCol="0" anchor="ctr"/>
          <a:lstStyle/>
          <a:p>
            <a:pPr marL="0" indent="0" algn="r">
              <a:buNone/>
            </a:pPr>
            <a:r>
              <a:rPr lang="fr-SN" sz="2400" b="1" dirty="0">
                <a:solidFill>
                  <a:srgbClr val="082AF5"/>
                </a:solidFill>
                <a:latin typeface="Montserrat" pitchFamily="34" charset="0"/>
                <a:ea typeface="Montserrat" pitchFamily="34" charset="-122"/>
                <a:cs typeface="Montserrat" pitchFamily="34" charset="-120"/>
              </a:rPr>
              <a:t>05</a:t>
            </a:r>
            <a:endParaRPr lang="fr-SN" sz="2400" dirty="0">
              <a:solidFill>
                <a:srgbClr val="082AF5"/>
              </a:solidFill>
            </a:endParaRPr>
          </a:p>
        </p:txBody>
      </p:sp>
      <p:sp>
        <p:nvSpPr>
          <p:cNvPr id="55" name="Shape 4">
            <a:extLst>
              <a:ext uri="{FF2B5EF4-FFF2-40B4-BE49-F238E27FC236}">
                <a16:creationId xmlns:a16="http://schemas.microsoft.com/office/drawing/2014/main" id="{25E475F9-98D6-6154-F4E3-5006367CFBC7}"/>
              </a:ext>
            </a:extLst>
          </p:cNvPr>
          <p:cNvSpPr/>
          <p:nvPr/>
        </p:nvSpPr>
        <p:spPr>
          <a:xfrm>
            <a:off x="10044887" y="6561646"/>
            <a:ext cx="45720" cy="45720"/>
          </a:xfrm>
          <a:prstGeom prst="ellipse">
            <a:avLst/>
          </a:prstGeom>
          <a:solidFill>
            <a:srgbClr val="C9962F"/>
          </a:solidFill>
          <a:ln/>
        </p:spPr>
      </p:sp>
      <p:sp>
        <p:nvSpPr>
          <p:cNvPr id="56" name="Shape 5">
            <a:extLst>
              <a:ext uri="{FF2B5EF4-FFF2-40B4-BE49-F238E27FC236}">
                <a16:creationId xmlns:a16="http://schemas.microsoft.com/office/drawing/2014/main" id="{AD1BCEB3-1B15-203C-5102-8EEA81CC4B4F}"/>
              </a:ext>
            </a:extLst>
          </p:cNvPr>
          <p:cNvSpPr/>
          <p:nvPr/>
        </p:nvSpPr>
        <p:spPr>
          <a:xfrm>
            <a:off x="9926015" y="6561646"/>
            <a:ext cx="45720" cy="45720"/>
          </a:xfrm>
          <a:prstGeom prst="ellipse">
            <a:avLst/>
          </a:prstGeom>
          <a:solidFill>
            <a:srgbClr val="C9962F"/>
          </a:solidFill>
          <a:ln/>
        </p:spPr>
      </p:sp>
      <p:sp>
        <p:nvSpPr>
          <p:cNvPr id="57" name="Shape 6">
            <a:extLst>
              <a:ext uri="{FF2B5EF4-FFF2-40B4-BE49-F238E27FC236}">
                <a16:creationId xmlns:a16="http://schemas.microsoft.com/office/drawing/2014/main" id="{B8DB5D4E-DAA0-89F3-0661-641787CC4976}"/>
              </a:ext>
            </a:extLst>
          </p:cNvPr>
          <p:cNvSpPr/>
          <p:nvPr/>
        </p:nvSpPr>
        <p:spPr>
          <a:xfrm>
            <a:off x="9807143" y="6561646"/>
            <a:ext cx="45720" cy="45720"/>
          </a:xfrm>
          <a:prstGeom prst="ellipse">
            <a:avLst/>
          </a:prstGeom>
          <a:solidFill>
            <a:srgbClr val="C9962F"/>
          </a:solid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heel(1)">
                                      <p:cBhvr>
                                        <p:cTn id="7" dur="500"/>
                                        <p:tgtEl>
                                          <p:spTgt spid="57"/>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wheel(1)">
                                      <p:cBhvr>
                                        <p:cTn id="11" dur="500"/>
                                        <p:tgtEl>
                                          <p:spTgt spid="56"/>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wheel(1)">
                                      <p:cBhvr>
                                        <p:cTn id="1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02 / 21</a:t>
            </a:r>
            <a:endParaRPr lang="en-US" sz="900" dirty="0"/>
          </a:p>
        </p:txBody>
      </p:sp>
      <p:sp>
        <p:nvSpPr>
          <p:cNvPr id="30" name="Shape 4">
            <a:extLst>
              <a:ext uri="{FF2B5EF4-FFF2-40B4-BE49-F238E27FC236}">
                <a16:creationId xmlns:a16="http://schemas.microsoft.com/office/drawing/2014/main" id="{67EAE8C9-2997-86AF-726A-5A72DD5895F3}"/>
              </a:ext>
            </a:extLst>
          </p:cNvPr>
          <p:cNvSpPr/>
          <p:nvPr/>
        </p:nvSpPr>
        <p:spPr>
          <a:xfrm>
            <a:off x="10044887" y="6561646"/>
            <a:ext cx="45720" cy="45720"/>
          </a:xfrm>
          <a:prstGeom prst="ellipse">
            <a:avLst/>
          </a:prstGeom>
          <a:solidFill>
            <a:srgbClr val="C9962F"/>
          </a:solidFill>
          <a:ln/>
        </p:spPr>
      </p:sp>
      <p:sp>
        <p:nvSpPr>
          <p:cNvPr id="31" name="Shape 5">
            <a:extLst>
              <a:ext uri="{FF2B5EF4-FFF2-40B4-BE49-F238E27FC236}">
                <a16:creationId xmlns:a16="http://schemas.microsoft.com/office/drawing/2014/main" id="{46AE6AB8-2CA2-F9CE-4AB7-86571137933A}"/>
              </a:ext>
            </a:extLst>
          </p:cNvPr>
          <p:cNvSpPr/>
          <p:nvPr/>
        </p:nvSpPr>
        <p:spPr>
          <a:xfrm>
            <a:off x="9926015" y="6561646"/>
            <a:ext cx="45720" cy="45720"/>
          </a:xfrm>
          <a:prstGeom prst="ellipse">
            <a:avLst/>
          </a:prstGeom>
          <a:solidFill>
            <a:srgbClr val="C9962F"/>
          </a:solidFill>
          <a:ln/>
        </p:spPr>
      </p:sp>
      <p:sp>
        <p:nvSpPr>
          <p:cNvPr id="32" name="Shape 6">
            <a:extLst>
              <a:ext uri="{FF2B5EF4-FFF2-40B4-BE49-F238E27FC236}">
                <a16:creationId xmlns:a16="http://schemas.microsoft.com/office/drawing/2014/main" id="{425FF6BF-D4E7-A3A3-10D7-B3A952C2EF80}"/>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E667BC55-9CD1-038A-1426-CB4BBB777EB2}"/>
              </a:ext>
            </a:extLst>
          </p:cNvPr>
          <p:cNvSpPr/>
          <p:nvPr/>
        </p:nvSpPr>
        <p:spPr>
          <a:xfrm>
            <a:off x="566928" y="384048"/>
            <a:ext cx="10800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1 | </a:t>
            </a:r>
            <a:r>
              <a:rPr lang="fr-FR" sz="3200" b="1" kern="0" spc="220" dirty="0">
                <a:latin typeface="Calibri" pitchFamily="34" charset="0"/>
                <a:ea typeface="Calibri" pitchFamily="34" charset="-122"/>
                <a:cs typeface="Calibri" pitchFamily="34" charset="-120"/>
              </a:rPr>
              <a:t>CONTEXTE ET JUSTIFICATION (1/3)</a:t>
            </a:r>
            <a:endParaRPr lang="en-US" sz="3200" dirty="0"/>
          </a:p>
        </p:txBody>
      </p:sp>
      <p:sp>
        <p:nvSpPr>
          <p:cNvPr id="8" name="TextBox 7">
            <a:extLst>
              <a:ext uri="{FF2B5EF4-FFF2-40B4-BE49-F238E27FC236}">
                <a16:creationId xmlns:a16="http://schemas.microsoft.com/office/drawing/2014/main" id="{1C03C9D1-2311-2B69-0C28-212BE93459FE}"/>
              </a:ext>
            </a:extLst>
          </p:cNvPr>
          <p:cNvSpPr txBox="1"/>
          <p:nvPr/>
        </p:nvSpPr>
        <p:spPr>
          <a:xfrm>
            <a:off x="609447" y="1223693"/>
            <a:ext cx="10972800" cy="4190891"/>
          </a:xfrm>
          <a:prstGeom prst="rect">
            <a:avLst/>
          </a:prstGeom>
          <a:noFill/>
        </p:spPr>
        <p:txBody>
          <a:bodyPr wrap="square">
            <a:spAutoFit/>
          </a:bodyPr>
          <a:lstStyle/>
          <a:p>
            <a:pPr algn="just">
              <a:spcAft>
                <a:spcPts val="600"/>
              </a:spcAft>
              <a:defRPr sz="1800" b="1">
                <a:solidFill>
                  <a:srgbClr val="1A2E5C"/>
                </a:solidFill>
                <a:latin typeface="Calibri"/>
              </a:defRPr>
            </a:pPr>
            <a:r>
              <a:rPr lang="fr-FR" sz="2800" dirty="0">
                <a:solidFill>
                  <a:srgbClr val="082AF5"/>
                </a:solidFill>
              </a:rPr>
              <a:t>Définition et mission</a:t>
            </a:r>
          </a:p>
          <a:p>
            <a:pPr algn="just">
              <a:spcAft>
                <a:spcPts val="1400"/>
              </a:spcAft>
              <a:defRPr sz="1400">
                <a:solidFill>
                  <a:srgbClr val="333333"/>
                </a:solidFill>
                <a:latin typeface="Calibri"/>
              </a:defRPr>
            </a:pPr>
            <a:r>
              <a:rPr lang="fr-FR" sz="1600" dirty="0"/>
              <a:t>Le Registre des Bénéficiaires Effectifs (RBE) recense les personnes physiques qui possèdent ou contrôlent, directement ou indirectement, les entreprises intervenant dans la chaîne de valeur du secteur extractif au Sénégal. Il constitue un outil central de transparence dans la gestion des ressources naturelles.</a:t>
            </a:r>
          </a:p>
          <a:p>
            <a:pPr algn="just">
              <a:spcAft>
                <a:spcPts val="600"/>
              </a:spcAft>
              <a:defRPr sz="1800" b="1">
                <a:solidFill>
                  <a:srgbClr val="1A2E5C"/>
                </a:solidFill>
                <a:latin typeface="Calibri"/>
              </a:defRPr>
            </a:pPr>
            <a:r>
              <a:rPr lang="fr-FR" sz="2800" dirty="0">
                <a:solidFill>
                  <a:srgbClr val="082AF5"/>
                </a:solidFill>
              </a:rPr>
              <a:t>Contexte international</a:t>
            </a:r>
          </a:p>
          <a:p>
            <a:pPr algn="just">
              <a:spcAft>
                <a:spcPts val="1400"/>
              </a:spcAft>
              <a:defRPr sz="1400">
                <a:solidFill>
                  <a:srgbClr val="333333"/>
                </a:solidFill>
                <a:latin typeface="Calibri"/>
              </a:defRPr>
            </a:pPr>
            <a:r>
              <a:rPr lang="fr-FR" sz="1600" dirty="0"/>
              <a:t>Le Sénégal, membre de l'Initiative pour la Transparence dans les Industries Extractives (ITIE) depuis 2013, s'est engagé à respecter l'Exigence 2.5 de la Norme ITIE 2023. Cette exigence impose la divulgation publique des bénéficiaires effectifs des entreprises extractives, incluant leur identité, leur degré de participation et les modalités d'exercice de ce contrôle.</a:t>
            </a:r>
          </a:p>
          <a:p>
            <a:pPr algn="just">
              <a:spcAft>
                <a:spcPts val="600"/>
              </a:spcAft>
              <a:defRPr sz="1800" b="1">
                <a:solidFill>
                  <a:srgbClr val="1A2E5C"/>
                </a:solidFill>
                <a:latin typeface="Calibri"/>
              </a:defRPr>
            </a:pPr>
            <a:r>
              <a:rPr lang="fr-FR" sz="2800" dirty="0">
                <a:solidFill>
                  <a:srgbClr val="082AF5"/>
                </a:solidFill>
              </a:rPr>
              <a:t>Portée du registre</a:t>
            </a:r>
          </a:p>
          <a:p>
            <a:pPr algn="just">
              <a:spcAft>
                <a:spcPts val="1400"/>
              </a:spcAft>
              <a:defRPr sz="1400">
                <a:solidFill>
                  <a:srgbClr val="333333"/>
                </a:solidFill>
                <a:latin typeface="Calibri"/>
              </a:defRPr>
            </a:pPr>
            <a:r>
              <a:rPr lang="fr-FR" sz="1600" dirty="0"/>
              <a:t>Le RBE couvre les sociétés, entreprises individuelles, GIE, entreprenants et autres entités immatriculées ou déclarées au Sénégal intervenant dans les secteurs minier, pétrolier et gazier. Sont également concernées les entreprises opérant au Sénégal sans y être immatriculées.</a:t>
            </a:r>
          </a:p>
        </p:txBody>
      </p:sp>
      <p:sp>
        <p:nvSpPr>
          <p:cNvPr id="9" name="Rounded Rectangle 8">
            <a:extLst>
              <a:ext uri="{FF2B5EF4-FFF2-40B4-BE49-F238E27FC236}">
                <a16:creationId xmlns:a16="http://schemas.microsoft.com/office/drawing/2014/main" id="{571F40F4-9A7A-E1C7-3E94-00E449460672}"/>
              </a:ext>
            </a:extLst>
          </p:cNvPr>
          <p:cNvSpPr/>
          <p:nvPr/>
        </p:nvSpPr>
        <p:spPr>
          <a:xfrm>
            <a:off x="594360" y="5479252"/>
            <a:ext cx="10972800" cy="914400"/>
          </a:xfrm>
          <a:prstGeom prst="roundRect">
            <a:avLst/>
          </a:prstGeom>
          <a:solidFill>
            <a:schemeClr val="bg1"/>
          </a:solidFill>
          <a:ln w="12700">
            <a:solidFill>
              <a:srgbClr val="1A2E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just">
              <a:defRPr sz="1300" b="1">
                <a:solidFill>
                  <a:srgbClr val="1A2E5C"/>
                </a:solidFill>
                <a:latin typeface="Calibri"/>
              </a:defRPr>
            </a:pPr>
            <a:r>
              <a:rPr lang="fr-FR" sz="2000" dirty="0">
                <a:solidFill>
                  <a:srgbClr val="082AF5"/>
                </a:solidFill>
              </a:rPr>
              <a:t>Seuil de déclaration : toute personne physique détenant directement ou indirectement au moins 2% du capital ou des droits de vote de la société déclarante doit être identifiée comme bénéficiaire effectif.</a:t>
            </a:r>
          </a:p>
        </p:txBody>
      </p:sp>
      <p:pic>
        <p:nvPicPr>
          <p:cNvPr id="3" name="Graphique 2" descr="Ampoule et engrenage avec un remplissage uni">
            <a:extLst>
              <a:ext uri="{FF2B5EF4-FFF2-40B4-BE49-F238E27FC236}">
                <a16:creationId xmlns:a16="http://schemas.microsoft.com/office/drawing/2014/main" id="{FA900726-3A13-232E-2388-19DC073A48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heel(1)">
                                      <p:cBhvr>
                                        <p:cTn id="7" dur="500"/>
                                        <p:tgtEl>
                                          <p:spTgt spid="32"/>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heel(1)">
                                      <p:cBhvr>
                                        <p:cTn id="11" dur="500"/>
                                        <p:tgtEl>
                                          <p:spTgt spid="31"/>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heel(1)">
                                      <p:cBhvr>
                                        <p:cTn id="1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03 / 21</a:t>
            </a:r>
            <a:endParaRPr lang="en-US" sz="900" dirty="0"/>
          </a:p>
        </p:txBody>
      </p:sp>
      <p:sp>
        <p:nvSpPr>
          <p:cNvPr id="30" name="Shape 4">
            <a:extLst>
              <a:ext uri="{FF2B5EF4-FFF2-40B4-BE49-F238E27FC236}">
                <a16:creationId xmlns:a16="http://schemas.microsoft.com/office/drawing/2014/main" id="{67EAE8C9-2997-86AF-726A-5A72DD5895F3}"/>
              </a:ext>
            </a:extLst>
          </p:cNvPr>
          <p:cNvSpPr/>
          <p:nvPr/>
        </p:nvSpPr>
        <p:spPr>
          <a:xfrm>
            <a:off x="10044887" y="6561646"/>
            <a:ext cx="45720" cy="45720"/>
          </a:xfrm>
          <a:prstGeom prst="ellipse">
            <a:avLst/>
          </a:prstGeom>
          <a:solidFill>
            <a:srgbClr val="C9962F"/>
          </a:solidFill>
          <a:ln/>
        </p:spPr>
      </p:sp>
      <p:sp>
        <p:nvSpPr>
          <p:cNvPr id="31" name="Shape 5">
            <a:extLst>
              <a:ext uri="{FF2B5EF4-FFF2-40B4-BE49-F238E27FC236}">
                <a16:creationId xmlns:a16="http://schemas.microsoft.com/office/drawing/2014/main" id="{46AE6AB8-2CA2-F9CE-4AB7-86571137933A}"/>
              </a:ext>
            </a:extLst>
          </p:cNvPr>
          <p:cNvSpPr/>
          <p:nvPr/>
        </p:nvSpPr>
        <p:spPr>
          <a:xfrm>
            <a:off x="9926015" y="6561646"/>
            <a:ext cx="45720" cy="45720"/>
          </a:xfrm>
          <a:prstGeom prst="ellipse">
            <a:avLst/>
          </a:prstGeom>
          <a:solidFill>
            <a:srgbClr val="C9962F"/>
          </a:solidFill>
          <a:ln/>
        </p:spPr>
      </p:sp>
      <p:sp>
        <p:nvSpPr>
          <p:cNvPr id="32" name="Shape 6">
            <a:extLst>
              <a:ext uri="{FF2B5EF4-FFF2-40B4-BE49-F238E27FC236}">
                <a16:creationId xmlns:a16="http://schemas.microsoft.com/office/drawing/2014/main" id="{425FF6BF-D4E7-A3A3-10D7-B3A952C2EF80}"/>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76464850-549C-E8CD-FF7A-444BCA16A3DB}"/>
              </a:ext>
            </a:extLst>
          </p:cNvPr>
          <p:cNvSpPr/>
          <p:nvPr/>
        </p:nvSpPr>
        <p:spPr>
          <a:xfrm>
            <a:off x="566928" y="384048"/>
            <a:ext cx="9684000" cy="274320"/>
          </a:xfrm>
          <a:prstGeom prst="rect">
            <a:avLst/>
          </a:prstGeom>
          <a:noFill/>
          <a:ln/>
        </p:spPr>
        <p:txBody>
          <a:bodyPr wrap="square" lIns="0" tIns="0" rIns="0" bIns="0" rtlCol="0" anchor="ctr"/>
          <a:lstStyle/>
          <a:p>
            <a:endParaRPr lang="en-US" sz="3200" dirty="0"/>
          </a:p>
          <a:p>
            <a:pPr marL="0" indent="0" algn="l">
              <a:buNone/>
            </a:pPr>
            <a:endParaRPr lang="en-US" sz="3200" dirty="0"/>
          </a:p>
        </p:txBody>
      </p:sp>
      <p:sp>
        <p:nvSpPr>
          <p:cNvPr id="8" name="Text 0">
            <a:extLst>
              <a:ext uri="{FF2B5EF4-FFF2-40B4-BE49-F238E27FC236}">
                <a16:creationId xmlns:a16="http://schemas.microsoft.com/office/drawing/2014/main" id="{F8FF5727-EC5D-255A-4C1C-F987144DA8AE}"/>
              </a:ext>
            </a:extLst>
          </p:cNvPr>
          <p:cNvSpPr/>
          <p:nvPr/>
        </p:nvSpPr>
        <p:spPr>
          <a:xfrm>
            <a:off x="566928" y="384048"/>
            <a:ext cx="10800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1 | </a:t>
            </a:r>
            <a:r>
              <a:rPr lang="fr-FR" sz="3200" b="1" kern="0" spc="220" dirty="0">
                <a:latin typeface="Calibri" pitchFamily="34" charset="0"/>
                <a:ea typeface="Calibri" pitchFamily="34" charset="-122"/>
                <a:cs typeface="Calibri" pitchFamily="34" charset="-120"/>
              </a:rPr>
              <a:t>CONTEXTE ET JUSTIFICATION (2/3)</a:t>
            </a:r>
            <a:endParaRPr lang="en-US" sz="3200" dirty="0"/>
          </a:p>
        </p:txBody>
      </p:sp>
      <p:graphicFrame>
        <p:nvGraphicFramePr>
          <p:cNvPr id="34" name="Table 7">
            <a:extLst>
              <a:ext uri="{FF2B5EF4-FFF2-40B4-BE49-F238E27FC236}">
                <a16:creationId xmlns:a16="http://schemas.microsoft.com/office/drawing/2014/main" id="{E7950B06-D4A9-A6B5-B454-FAD7AC79075D}"/>
              </a:ext>
            </a:extLst>
          </p:cNvPr>
          <p:cNvGraphicFramePr>
            <a:graphicFrameLocks noGrp="1"/>
          </p:cNvGraphicFramePr>
          <p:nvPr>
            <p:extLst>
              <p:ext uri="{D42A27DB-BD31-4B8C-83A1-F6EECF244321}">
                <p14:modId xmlns:p14="http://schemas.microsoft.com/office/powerpoint/2010/main" val="250295454"/>
              </p:ext>
            </p:extLst>
          </p:nvPr>
        </p:nvGraphicFramePr>
        <p:xfrm>
          <a:off x="548640" y="1341120"/>
          <a:ext cx="10972800" cy="4413685"/>
        </p:xfrm>
        <a:graphic>
          <a:graphicData uri="http://schemas.openxmlformats.org/drawingml/2006/table">
            <a:tbl>
              <a:tblPr firstRow="1" bandRow="1">
                <a:tableStyleId>{46F890A9-2807-4EBB-B81D-B2AA78EC7F39}</a:tableStyleId>
              </a:tblPr>
              <a:tblGrid>
                <a:gridCol w="25603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882737">
                <a:tc>
                  <a:txBody>
                    <a:bodyPr/>
                    <a:lstStyle/>
                    <a:p>
                      <a:pPr algn="just">
                        <a:defRPr sz="1300" b="1">
                          <a:solidFill>
                            <a:srgbClr val="FFFFFF"/>
                          </a:solidFill>
                          <a:latin typeface="Calibri"/>
                        </a:defRPr>
                      </a:pPr>
                      <a:r>
                        <a:rPr lang="fr-FR" sz="2000" dirty="0">
                          <a:solidFill>
                            <a:srgbClr val="082AF5"/>
                          </a:solidFill>
                        </a:rPr>
                        <a:t>Texte juridique</a:t>
                      </a:r>
                    </a:p>
                  </a:txBody>
                  <a:tcPr anchor="ctr">
                    <a:solidFill>
                      <a:schemeClr val="bg1"/>
                    </a:solidFill>
                  </a:tcPr>
                </a:tc>
                <a:tc>
                  <a:txBody>
                    <a:bodyPr/>
                    <a:lstStyle/>
                    <a:p>
                      <a:pPr algn="just">
                        <a:defRPr sz="1300" b="1">
                          <a:solidFill>
                            <a:srgbClr val="FFFFFF"/>
                          </a:solidFill>
                          <a:latin typeface="Calibri"/>
                        </a:defRPr>
                      </a:pPr>
                      <a:r>
                        <a:rPr lang="fr-FR" sz="2000" dirty="0">
                          <a:solidFill>
                            <a:srgbClr val="082AF5"/>
                          </a:solidFill>
                        </a:rPr>
                        <a:t>Date</a:t>
                      </a:r>
                    </a:p>
                  </a:txBody>
                  <a:tcPr anchor="ctr">
                    <a:solidFill>
                      <a:schemeClr val="bg1"/>
                    </a:solidFill>
                  </a:tcPr>
                </a:tc>
                <a:tc>
                  <a:txBody>
                    <a:bodyPr/>
                    <a:lstStyle/>
                    <a:p>
                      <a:pPr algn="just">
                        <a:defRPr sz="1300" b="1">
                          <a:solidFill>
                            <a:srgbClr val="FFFFFF"/>
                          </a:solidFill>
                          <a:latin typeface="Calibri"/>
                        </a:defRPr>
                      </a:pPr>
                      <a:r>
                        <a:rPr lang="fr-FR" sz="2000" dirty="0">
                          <a:solidFill>
                            <a:srgbClr val="082AF5"/>
                          </a:solidFill>
                        </a:rPr>
                        <a:t>Objectif principal</a:t>
                      </a:r>
                    </a:p>
                  </a:txBody>
                  <a:tcPr anchor="ctr">
                    <a:solidFill>
                      <a:schemeClr val="bg1"/>
                    </a:solidFill>
                  </a:tcPr>
                </a:tc>
                <a:tc>
                  <a:txBody>
                    <a:bodyPr/>
                    <a:lstStyle/>
                    <a:p>
                      <a:pPr algn="just">
                        <a:defRPr sz="1300" b="1">
                          <a:solidFill>
                            <a:srgbClr val="FFFFFF"/>
                          </a:solidFill>
                          <a:latin typeface="Calibri"/>
                        </a:defRPr>
                      </a:pPr>
                      <a:r>
                        <a:rPr lang="fr-FR" sz="2000" dirty="0">
                          <a:solidFill>
                            <a:srgbClr val="082AF5"/>
                          </a:solidFill>
                        </a:rPr>
                        <a:t>Statut</a:t>
                      </a:r>
                    </a:p>
                  </a:txBody>
                  <a:tcPr anchor="ctr">
                    <a:solidFill>
                      <a:schemeClr val="bg1"/>
                    </a:solidFill>
                  </a:tcPr>
                </a:tc>
                <a:extLst>
                  <a:ext uri="{0D108BD9-81ED-4DB2-BD59-A6C34878D82A}">
                    <a16:rowId xmlns:a16="http://schemas.microsoft.com/office/drawing/2014/main" val="10000"/>
                  </a:ext>
                </a:extLst>
              </a:tr>
              <a:tr h="882737">
                <a:tc>
                  <a:txBody>
                    <a:bodyPr/>
                    <a:lstStyle/>
                    <a:p>
                      <a:pPr algn="just">
                        <a:defRPr sz="1100">
                          <a:solidFill>
                            <a:srgbClr val="333333"/>
                          </a:solidFill>
                          <a:latin typeface="Calibri"/>
                        </a:defRPr>
                      </a:pPr>
                      <a:r>
                        <a:rPr lang="fr-FR" sz="1600" dirty="0">
                          <a:solidFill>
                            <a:schemeClr val="tx1"/>
                          </a:solidFill>
                        </a:rPr>
                        <a:t>Décret n° 2020-791</a:t>
                      </a:r>
                    </a:p>
                  </a:txBody>
                  <a:tcPr anchor="ctr"/>
                </a:tc>
                <a:tc>
                  <a:txBody>
                    <a:bodyPr/>
                    <a:lstStyle/>
                    <a:p>
                      <a:pPr algn="just">
                        <a:defRPr sz="1100">
                          <a:solidFill>
                            <a:srgbClr val="333333"/>
                          </a:solidFill>
                          <a:latin typeface="Calibri"/>
                        </a:defRPr>
                      </a:pPr>
                      <a:r>
                        <a:rPr lang="fr-FR" sz="1600" dirty="0">
                          <a:solidFill>
                            <a:schemeClr val="tx1"/>
                          </a:solidFill>
                        </a:rPr>
                        <a:t>19 mars 2020</a:t>
                      </a:r>
                    </a:p>
                  </a:txBody>
                  <a:tcPr anchor="ctr"/>
                </a:tc>
                <a:tc>
                  <a:txBody>
                    <a:bodyPr/>
                    <a:lstStyle/>
                    <a:p>
                      <a:pPr algn="just">
                        <a:defRPr sz="1100">
                          <a:solidFill>
                            <a:srgbClr val="333333"/>
                          </a:solidFill>
                          <a:latin typeface="Calibri"/>
                        </a:defRPr>
                      </a:pPr>
                      <a:r>
                        <a:rPr lang="fr-FR" sz="1600" dirty="0">
                          <a:solidFill>
                            <a:schemeClr val="tx1"/>
                          </a:solidFill>
                        </a:rPr>
                        <a:t>Création du RBE auprès des greffes du RCCM, définition des bénéficiaires effectifs et des modalités de déclaration</a:t>
                      </a:r>
                    </a:p>
                  </a:txBody>
                  <a:tcPr anchor="ctr"/>
                </a:tc>
                <a:tc>
                  <a:txBody>
                    <a:bodyPr/>
                    <a:lstStyle/>
                    <a:p>
                      <a:pPr algn="just">
                        <a:defRPr sz="1100">
                          <a:solidFill>
                            <a:srgbClr val="333333"/>
                          </a:solidFill>
                          <a:latin typeface="Calibri"/>
                        </a:defRPr>
                      </a:pPr>
                      <a:r>
                        <a:rPr lang="fr-FR" sz="1600" dirty="0">
                          <a:solidFill>
                            <a:schemeClr val="tx1"/>
                          </a:solidFill>
                        </a:rPr>
                        <a:t>Texte fondateur</a:t>
                      </a:r>
                    </a:p>
                  </a:txBody>
                  <a:tcPr anchor="ctr"/>
                </a:tc>
                <a:extLst>
                  <a:ext uri="{0D108BD9-81ED-4DB2-BD59-A6C34878D82A}">
                    <a16:rowId xmlns:a16="http://schemas.microsoft.com/office/drawing/2014/main" val="10001"/>
                  </a:ext>
                </a:extLst>
              </a:tr>
              <a:tr h="882737">
                <a:tc>
                  <a:txBody>
                    <a:bodyPr/>
                    <a:lstStyle/>
                    <a:p>
                      <a:pPr algn="just">
                        <a:defRPr sz="1100">
                          <a:solidFill>
                            <a:srgbClr val="333333"/>
                          </a:solidFill>
                          <a:latin typeface="Calibri"/>
                        </a:defRPr>
                      </a:pPr>
                      <a:r>
                        <a:rPr lang="fr-FR" sz="1600" dirty="0">
                          <a:solidFill>
                            <a:schemeClr val="tx1"/>
                          </a:solidFill>
                        </a:rPr>
                        <a:t>Arrêté </a:t>
                      </a:r>
                      <a:r>
                        <a:rPr lang="fr-FR" sz="1600" noProof="0" dirty="0">
                          <a:solidFill>
                            <a:schemeClr val="tx1"/>
                          </a:solidFill>
                        </a:rPr>
                        <a:t>ministériel</a:t>
                      </a:r>
                      <a:r>
                        <a:rPr lang="fr-FR" sz="1600" dirty="0">
                          <a:solidFill>
                            <a:schemeClr val="tx1"/>
                          </a:solidFill>
                        </a:rPr>
                        <a:t> n° 1598</a:t>
                      </a:r>
                    </a:p>
                  </a:txBody>
                  <a:tcPr anchor="ctr"/>
                </a:tc>
                <a:tc>
                  <a:txBody>
                    <a:bodyPr/>
                    <a:lstStyle/>
                    <a:p>
                      <a:pPr algn="just">
                        <a:defRPr sz="1100">
                          <a:solidFill>
                            <a:srgbClr val="333333"/>
                          </a:solidFill>
                          <a:latin typeface="Calibri"/>
                        </a:defRPr>
                      </a:pPr>
                      <a:r>
                        <a:rPr lang="fr-FR" sz="1600" dirty="0">
                          <a:solidFill>
                            <a:schemeClr val="tx1"/>
                          </a:solidFill>
                        </a:rPr>
                        <a:t>05 février 2021</a:t>
                      </a:r>
                    </a:p>
                  </a:txBody>
                  <a:tcPr anchor="ctr"/>
                </a:tc>
                <a:tc>
                  <a:txBody>
                    <a:bodyPr/>
                    <a:lstStyle/>
                    <a:p>
                      <a:pPr algn="just">
                        <a:defRPr sz="1100">
                          <a:solidFill>
                            <a:srgbClr val="333333"/>
                          </a:solidFill>
                          <a:latin typeface="Calibri"/>
                        </a:defRPr>
                      </a:pPr>
                      <a:r>
                        <a:rPr lang="fr-FR" sz="1600" dirty="0">
                          <a:solidFill>
                            <a:schemeClr val="tx1"/>
                          </a:solidFill>
                        </a:rPr>
                        <a:t>Établissement du formulaire de déclaration des bénéficiaires effectifs du secteur extractif</a:t>
                      </a:r>
                    </a:p>
                  </a:txBody>
                  <a:tcPr anchor="ctr"/>
                </a:tc>
                <a:tc>
                  <a:txBody>
                    <a:bodyPr/>
                    <a:lstStyle/>
                    <a:p>
                      <a:pPr algn="just">
                        <a:defRPr sz="1100">
                          <a:solidFill>
                            <a:srgbClr val="333333"/>
                          </a:solidFill>
                          <a:latin typeface="Calibri"/>
                        </a:defRPr>
                      </a:pPr>
                      <a:r>
                        <a:rPr lang="fr-FR" sz="1600" dirty="0">
                          <a:solidFill>
                            <a:schemeClr val="tx1"/>
                          </a:solidFill>
                        </a:rPr>
                        <a:t>En vigueur</a:t>
                      </a:r>
                    </a:p>
                  </a:txBody>
                  <a:tcPr anchor="ctr"/>
                </a:tc>
                <a:extLst>
                  <a:ext uri="{0D108BD9-81ED-4DB2-BD59-A6C34878D82A}">
                    <a16:rowId xmlns:a16="http://schemas.microsoft.com/office/drawing/2014/main" val="10002"/>
                  </a:ext>
                </a:extLst>
              </a:tr>
              <a:tr h="882737">
                <a:tc>
                  <a:txBody>
                    <a:bodyPr/>
                    <a:lstStyle/>
                    <a:p>
                      <a:pPr algn="just">
                        <a:defRPr sz="1100">
                          <a:solidFill>
                            <a:srgbClr val="333333"/>
                          </a:solidFill>
                          <a:latin typeface="Calibri"/>
                        </a:defRPr>
                      </a:pPr>
                      <a:r>
                        <a:rPr lang="fr-FR" sz="1600" dirty="0">
                          <a:solidFill>
                            <a:schemeClr val="tx1"/>
                          </a:solidFill>
                        </a:rPr>
                        <a:t>Loi n° 2021-29 (LFR 2021)</a:t>
                      </a:r>
                    </a:p>
                  </a:txBody>
                  <a:tcPr anchor="ctr"/>
                </a:tc>
                <a:tc>
                  <a:txBody>
                    <a:bodyPr/>
                    <a:lstStyle/>
                    <a:p>
                      <a:pPr algn="just">
                        <a:defRPr sz="1100">
                          <a:solidFill>
                            <a:srgbClr val="333333"/>
                          </a:solidFill>
                          <a:latin typeface="Calibri"/>
                        </a:defRPr>
                      </a:pPr>
                      <a:r>
                        <a:rPr lang="fr-FR" sz="1600" dirty="0">
                          <a:solidFill>
                            <a:schemeClr val="tx1"/>
                          </a:solidFill>
                        </a:rPr>
                        <a:t>05 juillet 2021</a:t>
                      </a:r>
                    </a:p>
                  </a:txBody>
                  <a:tcPr anchor="ctr"/>
                </a:tc>
                <a:tc>
                  <a:txBody>
                    <a:bodyPr/>
                    <a:lstStyle/>
                    <a:p>
                      <a:pPr algn="just">
                        <a:defRPr sz="1100">
                          <a:solidFill>
                            <a:srgbClr val="333333"/>
                          </a:solidFill>
                          <a:latin typeface="Calibri"/>
                        </a:defRPr>
                      </a:pPr>
                      <a:r>
                        <a:rPr lang="fr-FR" sz="1600" dirty="0">
                          <a:solidFill>
                            <a:schemeClr val="tx1"/>
                          </a:solidFill>
                        </a:rPr>
                        <a:t>Intégration de l'obligation déclarative dans le Code général des impôts (articles 633 et 667)</a:t>
                      </a:r>
                    </a:p>
                  </a:txBody>
                  <a:tcPr anchor="ctr"/>
                </a:tc>
                <a:tc>
                  <a:txBody>
                    <a:bodyPr/>
                    <a:lstStyle/>
                    <a:p>
                      <a:pPr algn="just">
                        <a:defRPr sz="1100">
                          <a:solidFill>
                            <a:srgbClr val="333333"/>
                          </a:solidFill>
                          <a:latin typeface="Calibri"/>
                        </a:defRPr>
                      </a:pPr>
                      <a:r>
                        <a:rPr lang="fr-FR" sz="1600" dirty="0">
                          <a:solidFill>
                            <a:schemeClr val="tx1"/>
                          </a:solidFill>
                        </a:rPr>
                        <a:t>En vigueur</a:t>
                      </a:r>
                    </a:p>
                  </a:txBody>
                  <a:tcPr anchor="ctr"/>
                </a:tc>
                <a:extLst>
                  <a:ext uri="{0D108BD9-81ED-4DB2-BD59-A6C34878D82A}">
                    <a16:rowId xmlns:a16="http://schemas.microsoft.com/office/drawing/2014/main" val="10003"/>
                  </a:ext>
                </a:extLst>
              </a:tr>
              <a:tr h="882737">
                <a:tc>
                  <a:txBody>
                    <a:bodyPr/>
                    <a:lstStyle/>
                    <a:p>
                      <a:pPr algn="just">
                        <a:defRPr sz="1100">
                          <a:solidFill>
                            <a:srgbClr val="333333"/>
                          </a:solidFill>
                          <a:latin typeface="Calibri"/>
                        </a:defRPr>
                      </a:pPr>
                      <a:r>
                        <a:rPr lang="fr-FR" sz="1600" dirty="0">
                          <a:solidFill>
                            <a:schemeClr val="tx1"/>
                          </a:solidFill>
                        </a:rPr>
                        <a:t>Décret n° 2025-1354</a:t>
                      </a:r>
                    </a:p>
                  </a:txBody>
                  <a:tcPr anchor="ctr"/>
                </a:tc>
                <a:tc>
                  <a:txBody>
                    <a:bodyPr/>
                    <a:lstStyle/>
                    <a:p>
                      <a:pPr algn="just">
                        <a:defRPr sz="1100">
                          <a:solidFill>
                            <a:srgbClr val="333333"/>
                          </a:solidFill>
                          <a:latin typeface="Calibri"/>
                        </a:defRPr>
                      </a:pPr>
                      <a:r>
                        <a:rPr lang="fr-FR" sz="1600" dirty="0">
                          <a:solidFill>
                            <a:schemeClr val="tx1"/>
                          </a:solidFill>
                        </a:rPr>
                        <a:t>27 août 2025</a:t>
                      </a:r>
                    </a:p>
                  </a:txBody>
                  <a:tcPr anchor="ctr"/>
                </a:tc>
                <a:tc>
                  <a:txBody>
                    <a:bodyPr/>
                    <a:lstStyle/>
                    <a:p>
                      <a:pPr algn="just">
                        <a:defRPr sz="1100">
                          <a:solidFill>
                            <a:srgbClr val="333333"/>
                          </a:solidFill>
                          <a:latin typeface="Calibri"/>
                        </a:defRPr>
                      </a:pPr>
                      <a:r>
                        <a:rPr lang="fr-FR" sz="1600" dirty="0">
                          <a:solidFill>
                            <a:schemeClr val="tx1"/>
                          </a:solidFill>
                        </a:rPr>
                        <a:t>Modification du décret 2020-791 : élargissement de l'accès public, renforcement de la transparence, alignement sur la Norme ITIE 2023</a:t>
                      </a:r>
                    </a:p>
                  </a:txBody>
                  <a:tcPr anchor="ctr"/>
                </a:tc>
                <a:tc>
                  <a:txBody>
                    <a:bodyPr/>
                    <a:lstStyle/>
                    <a:p>
                      <a:pPr algn="just">
                        <a:defRPr sz="1100">
                          <a:solidFill>
                            <a:srgbClr val="333333"/>
                          </a:solidFill>
                          <a:latin typeface="Calibri"/>
                        </a:defRPr>
                      </a:pPr>
                      <a:r>
                        <a:rPr lang="fr-FR" sz="1600" dirty="0">
                          <a:solidFill>
                            <a:schemeClr val="tx1"/>
                          </a:solidFill>
                        </a:rPr>
                        <a:t>Publié au JO du 27 septembre 2025</a:t>
                      </a:r>
                    </a:p>
                  </a:txBody>
                  <a:tcPr anchor="ctr"/>
                </a:tc>
                <a:extLst>
                  <a:ext uri="{0D108BD9-81ED-4DB2-BD59-A6C34878D82A}">
                    <a16:rowId xmlns:a16="http://schemas.microsoft.com/office/drawing/2014/main" val="10004"/>
                  </a:ext>
                </a:extLst>
              </a:tr>
            </a:tbl>
          </a:graphicData>
        </a:graphic>
      </p:graphicFrame>
      <p:pic>
        <p:nvPicPr>
          <p:cNvPr id="3" name="Graphique 2" descr="Ampoule et engrenage avec un remplissage uni">
            <a:extLst>
              <a:ext uri="{FF2B5EF4-FFF2-40B4-BE49-F238E27FC236}">
                <a16:creationId xmlns:a16="http://schemas.microsoft.com/office/drawing/2014/main" id="{2938DF30-F7E6-C1DF-3572-19CFFABFC67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80368" y="6624270"/>
            <a:ext cx="216000" cy="216000"/>
          </a:xfrm>
          <a:prstGeom prst="rect">
            <a:avLst/>
          </a:prstGeom>
        </p:spPr>
      </p:pic>
    </p:spTree>
    <p:extLst>
      <p:ext uri="{BB962C8B-B14F-4D97-AF65-F5344CB8AC3E}">
        <p14:creationId xmlns:p14="http://schemas.microsoft.com/office/powerpoint/2010/main" val="4250427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heel(1)">
                                      <p:cBhvr>
                                        <p:cTn id="7" dur="500"/>
                                        <p:tgtEl>
                                          <p:spTgt spid="32"/>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heel(1)">
                                      <p:cBhvr>
                                        <p:cTn id="11" dur="500"/>
                                        <p:tgtEl>
                                          <p:spTgt spid="31"/>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heel(1)">
                                      <p:cBhvr>
                                        <p:cTn id="1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04 / 21</a:t>
            </a:r>
            <a:endParaRPr lang="en-US" sz="900" dirty="0"/>
          </a:p>
        </p:txBody>
      </p:sp>
      <p:sp>
        <p:nvSpPr>
          <p:cNvPr id="30" name="Shape 4">
            <a:extLst>
              <a:ext uri="{FF2B5EF4-FFF2-40B4-BE49-F238E27FC236}">
                <a16:creationId xmlns:a16="http://schemas.microsoft.com/office/drawing/2014/main" id="{67EAE8C9-2997-86AF-726A-5A72DD5895F3}"/>
              </a:ext>
            </a:extLst>
          </p:cNvPr>
          <p:cNvSpPr/>
          <p:nvPr/>
        </p:nvSpPr>
        <p:spPr>
          <a:xfrm>
            <a:off x="10044887" y="6561646"/>
            <a:ext cx="45720" cy="45720"/>
          </a:xfrm>
          <a:prstGeom prst="ellipse">
            <a:avLst/>
          </a:prstGeom>
          <a:solidFill>
            <a:srgbClr val="C9962F"/>
          </a:solidFill>
          <a:ln/>
        </p:spPr>
      </p:sp>
      <p:sp>
        <p:nvSpPr>
          <p:cNvPr id="31" name="Shape 5">
            <a:extLst>
              <a:ext uri="{FF2B5EF4-FFF2-40B4-BE49-F238E27FC236}">
                <a16:creationId xmlns:a16="http://schemas.microsoft.com/office/drawing/2014/main" id="{46AE6AB8-2CA2-F9CE-4AB7-86571137933A}"/>
              </a:ext>
            </a:extLst>
          </p:cNvPr>
          <p:cNvSpPr/>
          <p:nvPr/>
        </p:nvSpPr>
        <p:spPr>
          <a:xfrm>
            <a:off x="9926015" y="6561646"/>
            <a:ext cx="45720" cy="45720"/>
          </a:xfrm>
          <a:prstGeom prst="ellipse">
            <a:avLst/>
          </a:prstGeom>
          <a:solidFill>
            <a:srgbClr val="C9962F"/>
          </a:solidFill>
          <a:ln/>
        </p:spPr>
      </p:sp>
      <p:sp>
        <p:nvSpPr>
          <p:cNvPr id="32" name="Shape 6">
            <a:extLst>
              <a:ext uri="{FF2B5EF4-FFF2-40B4-BE49-F238E27FC236}">
                <a16:creationId xmlns:a16="http://schemas.microsoft.com/office/drawing/2014/main" id="{425FF6BF-D4E7-A3A3-10D7-B3A952C2EF80}"/>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76464850-549C-E8CD-FF7A-444BCA16A3DB}"/>
              </a:ext>
            </a:extLst>
          </p:cNvPr>
          <p:cNvSpPr/>
          <p:nvPr/>
        </p:nvSpPr>
        <p:spPr>
          <a:xfrm>
            <a:off x="566928" y="384048"/>
            <a:ext cx="9684000" cy="274320"/>
          </a:xfrm>
          <a:prstGeom prst="rect">
            <a:avLst/>
          </a:prstGeom>
          <a:noFill/>
          <a:ln/>
        </p:spPr>
        <p:txBody>
          <a:bodyPr wrap="square" lIns="0" tIns="0" rIns="0" bIns="0" rtlCol="0" anchor="ctr"/>
          <a:lstStyle/>
          <a:p>
            <a:endParaRPr lang="en-US" sz="3200" dirty="0"/>
          </a:p>
          <a:p>
            <a:pPr marL="0" indent="0" algn="l">
              <a:buNone/>
            </a:pPr>
            <a:endParaRPr lang="en-US" sz="3200" dirty="0"/>
          </a:p>
        </p:txBody>
      </p:sp>
      <p:sp>
        <p:nvSpPr>
          <p:cNvPr id="8" name="Text 0">
            <a:extLst>
              <a:ext uri="{FF2B5EF4-FFF2-40B4-BE49-F238E27FC236}">
                <a16:creationId xmlns:a16="http://schemas.microsoft.com/office/drawing/2014/main" id="{F8FF5727-EC5D-255A-4C1C-F987144DA8AE}"/>
              </a:ext>
            </a:extLst>
          </p:cNvPr>
          <p:cNvSpPr/>
          <p:nvPr/>
        </p:nvSpPr>
        <p:spPr>
          <a:xfrm>
            <a:off x="566928" y="384048"/>
            <a:ext cx="10800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1 | </a:t>
            </a:r>
            <a:r>
              <a:rPr lang="fr-FR" sz="3200" b="1" kern="0" spc="220" dirty="0">
                <a:latin typeface="Calibri" pitchFamily="34" charset="0"/>
                <a:ea typeface="Calibri" pitchFamily="34" charset="-122"/>
                <a:cs typeface="Calibri" pitchFamily="34" charset="-120"/>
              </a:rPr>
              <a:t>CONTEXTE ET JUSTIFICATION (3/3)</a:t>
            </a:r>
            <a:endParaRPr lang="en-US" sz="3200" dirty="0"/>
          </a:p>
        </p:txBody>
      </p:sp>
      <p:sp>
        <p:nvSpPr>
          <p:cNvPr id="3" name="Rounded Rectangle 7">
            <a:extLst>
              <a:ext uri="{FF2B5EF4-FFF2-40B4-BE49-F238E27FC236}">
                <a16:creationId xmlns:a16="http://schemas.microsoft.com/office/drawing/2014/main" id="{A7FE46EB-5CA0-0578-9BFD-964FDC2DC7DE}"/>
              </a:ext>
            </a:extLst>
          </p:cNvPr>
          <p:cNvSpPr/>
          <p:nvPr/>
        </p:nvSpPr>
        <p:spPr>
          <a:xfrm>
            <a:off x="640080" y="1638106"/>
            <a:ext cx="5303520" cy="2194560"/>
          </a:xfrm>
          <a:prstGeom prst="roundRect">
            <a:avLst/>
          </a:prstGeom>
          <a:solidFill>
            <a:srgbClr val="E8F0FE"/>
          </a:solidFill>
          <a:ln w="19050">
            <a:solidFill>
              <a:srgbClr val="1A2E5C"/>
            </a:solidFill>
          </a:ln>
          <a:effectLst>
            <a:glow rad="63500">
              <a:schemeClr val="accent1">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500" b="1">
                <a:solidFill>
                  <a:srgbClr val="1A2E5C"/>
                </a:solidFill>
                <a:latin typeface="Calibri"/>
              </a:defRPr>
            </a:pPr>
            <a:r>
              <a:rPr lang="fr-FR" sz="2000" dirty="0">
                <a:solidFill>
                  <a:srgbClr val="082AF5"/>
                </a:solidFill>
              </a:rPr>
              <a:t>MINISTÈRE DE LA JUSTICE</a:t>
            </a:r>
          </a:p>
          <a:p>
            <a:pPr>
              <a:spcAft>
                <a:spcPts val="300"/>
              </a:spcAft>
              <a:defRPr sz="1200">
                <a:solidFill>
                  <a:srgbClr val="333333"/>
                </a:solidFill>
                <a:latin typeface="Calibri"/>
              </a:defRPr>
            </a:pPr>
            <a:r>
              <a:rPr lang="fr-FR" sz="2000" dirty="0"/>
              <a:t>• Autorité de tutelle du RBE</a:t>
            </a:r>
          </a:p>
          <a:p>
            <a:pPr>
              <a:spcAft>
                <a:spcPts val="300"/>
              </a:spcAft>
              <a:defRPr sz="1200">
                <a:solidFill>
                  <a:srgbClr val="333333"/>
                </a:solidFill>
                <a:latin typeface="Calibri"/>
              </a:defRPr>
            </a:pPr>
            <a:r>
              <a:rPr lang="fr-FR" sz="2000" dirty="0"/>
              <a:t>• Le Garde des Sceaux fixe les modalités d'application par arrêté</a:t>
            </a:r>
          </a:p>
          <a:p>
            <a:pPr>
              <a:spcAft>
                <a:spcPts val="300"/>
              </a:spcAft>
              <a:defRPr sz="1200">
                <a:solidFill>
                  <a:srgbClr val="333333"/>
                </a:solidFill>
                <a:latin typeface="Calibri"/>
              </a:defRPr>
            </a:pPr>
            <a:r>
              <a:rPr lang="fr-FR" sz="2000" dirty="0"/>
              <a:t>• Supervision du juge commis au registre</a:t>
            </a:r>
          </a:p>
          <a:p>
            <a:pPr>
              <a:spcAft>
                <a:spcPts val="300"/>
              </a:spcAft>
              <a:defRPr sz="1200">
                <a:solidFill>
                  <a:srgbClr val="333333"/>
                </a:solidFill>
                <a:latin typeface="Calibri"/>
              </a:defRPr>
            </a:pPr>
            <a:r>
              <a:rPr lang="fr-FR" sz="2000" dirty="0"/>
              <a:t>• Définition du formulaire de déclaration</a:t>
            </a:r>
          </a:p>
        </p:txBody>
      </p:sp>
      <p:sp>
        <p:nvSpPr>
          <p:cNvPr id="4" name="Rounded Rectangle 8">
            <a:extLst>
              <a:ext uri="{FF2B5EF4-FFF2-40B4-BE49-F238E27FC236}">
                <a16:creationId xmlns:a16="http://schemas.microsoft.com/office/drawing/2014/main" id="{8FC1AE37-9BAA-A07B-272B-E33F33CC4C1D}"/>
              </a:ext>
            </a:extLst>
          </p:cNvPr>
          <p:cNvSpPr/>
          <p:nvPr/>
        </p:nvSpPr>
        <p:spPr>
          <a:xfrm>
            <a:off x="6309360" y="1645920"/>
            <a:ext cx="5303520" cy="2194560"/>
          </a:xfrm>
          <a:prstGeom prst="roundRect">
            <a:avLst/>
          </a:prstGeom>
          <a:solidFill>
            <a:srgbClr val="E8F0FE"/>
          </a:solidFill>
          <a:ln w="19050">
            <a:solidFill>
              <a:srgbClr val="1A2E5C"/>
            </a:solidFill>
          </a:ln>
          <a:effectLst>
            <a:glow rad="63500">
              <a:schemeClr val="accent1">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pPr>
            <a:r>
              <a:rPr lang="fr-FR" sz="2000" b="1" dirty="0">
                <a:solidFill>
                  <a:srgbClr val="082AF5"/>
                </a:solidFill>
                <a:latin typeface="Calibri"/>
              </a:rPr>
              <a:t>GREFFES DU RCCM</a:t>
            </a:r>
          </a:p>
          <a:p>
            <a:pPr>
              <a:spcAft>
                <a:spcPts val="400"/>
              </a:spcAft>
            </a:pPr>
            <a:r>
              <a:rPr lang="fr-FR" dirty="0">
                <a:solidFill>
                  <a:schemeClr val="tx1"/>
                </a:solidFill>
                <a:latin typeface="Calibri"/>
              </a:rPr>
              <a:t>• Collecte des déclarations auprès des entreprises</a:t>
            </a:r>
          </a:p>
          <a:p>
            <a:pPr>
              <a:spcAft>
                <a:spcPts val="400"/>
              </a:spcAft>
            </a:pPr>
            <a:r>
              <a:rPr lang="fr-FR" dirty="0">
                <a:solidFill>
                  <a:schemeClr val="tx1"/>
                </a:solidFill>
                <a:latin typeface="Calibri"/>
              </a:rPr>
              <a:t>• Vérification de la conformité des formulaires</a:t>
            </a:r>
          </a:p>
          <a:p>
            <a:pPr>
              <a:spcAft>
                <a:spcPts val="400"/>
              </a:spcAft>
            </a:pPr>
            <a:r>
              <a:rPr lang="fr-FR" dirty="0">
                <a:solidFill>
                  <a:schemeClr val="tx1"/>
                </a:solidFill>
                <a:latin typeface="Calibri"/>
              </a:rPr>
              <a:t>• Tenue du registre physique et informatique</a:t>
            </a:r>
          </a:p>
          <a:p>
            <a:pPr>
              <a:spcAft>
                <a:spcPts val="400"/>
              </a:spcAft>
            </a:pPr>
            <a:r>
              <a:rPr lang="fr-FR" dirty="0">
                <a:solidFill>
                  <a:schemeClr val="tx1"/>
                </a:solidFill>
                <a:latin typeface="Calibri"/>
              </a:rPr>
              <a:t>• Transmission des données à la CN-ITIE pour publication</a:t>
            </a:r>
          </a:p>
        </p:txBody>
      </p:sp>
      <p:sp>
        <p:nvSpPr>
          <p:cNvPr id="9" name="Rounded Rectangle 9">
            <a:extLst>
              <a:ext uri="{FF2B5EF4-FFF2-40B4-BE49-F238E27FC236}">
                <a16:creationId xmlns:a16="http://schemas.microsoft.com/office/drawing/2014/main" id="{2EBC9FB6-E45B-3D01-5B88-A2D63B682C02}"/>
              </a:ext>
            </a:extLst>
          </p:cNvPr>
          <p:cNvSpPr/>
          <p:nvPr/>
        </p:nvSpPr>
        <p:spPr>
          <a:xfrm>
            <a:off x="457200" y="4023360"/>
            <a:ext cx="11155680" cy="2194560"/>
          </a:xfrm>
          <a:prstGeom prst="roundRect">
            <a:avLst/>
          </a:prstGeom>
          <a:solidFill>
            <a:srgbClr val="E8F0FE"/>
          </a:solidFill>
          <a:ln w="19050">
            <a:solidFill>
              <a:srgbClr val="1A2E5C"/>
            </a:solidFill>
          </a:ln>
          <a:effectLst>
            <a:glow rad="63500">
              <a:schemeClr val="accent1">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pPr>
            <a:r>
              <a:rPr sz="2000" b="1" dirty="0">
                <a:solidFill>
                  <a:srgbClr val="082AF5"/>
                </a:solidFill>
                <a:latin typeface="Calibri"/>
              </a:rPr>
              <a:t>AUTRES ACTEURS CONCERNÉS</a:t>
            </a:r>
          </a:p>
        </p:txBody>
      </p:sp>
      <p:sp>
        <p:nvSpPr>
          <p:cNvPr id="10" name="TextBox 10">
            <a:extLst>
              <a:ext uri="{FF2B5EF4-FFF2-40B4-BE49-F238E27FC236}">
                <a16:creationId xmlns:a16="http://schemas.microsoft.com/office/drawing/2014/main" id="{4D939411-7FF4-8764-592B-B650D5CD377B}"/>
              </a:ext>
            </a:extLst>
          </p:cNvPr>
          <p:cNvSpPr txBox="1"/>
          <p:nvPr/>
        </p:nvSpPr>
        <p:spPr>
          <a:xfrm>
            <a:off x="594360" y="4083679"/>
            <a:ext cx="5029200" cy="1800493"/>
          </a:xfrm>
          <a:prstGeom prst="rect">
            <a:avLst/>
          </a:prstGeom>
          <a:noFill/>
        </p:spPr>
        <p:txBody>
          <a:bodyPr wrap="square">
            <a:spAutoFit/>
          </a:bodyPr>
          <a:lstStyle/>
          <a:p>
            <a:endParaRPr dirty="0"/>
          </a:p>
          <a:p>
            <a:pPr>
              <a:spcAft>
                <a:spcPts val="200"/>
              </a:spcAft>
              <a:defRPr sz="1200" b="1">
                <a:solidFill>
                  <a:srgbClr val="1A2E5C"/>
                </a:solidFill>
                <a:latin typeface="Calibri"/>
              </a:defRPr>
            </a:pPr>
            <a:r>
              <a:rPr sz="1400" dirty="0"/>
              <a:t>• </a:t>
            </a:r>
            <a:r>
              <a:rPr lang="fr-FR" sz="1400" dirty="0"/>
              <a:t>CN-ITIE</a:t>
            </a:r>
          </a:p>
          <a:p>
            <a:pPr>
              <a:spcAft>
                <a:spcPts val="600"/>
              </a:spcAft>
              <a:defRPr sz="1100">
                <a:solidFill>
                  <a:srgbClr val="333333"/>
                </a:solidFill>
                <a:latin typeface="Calibri"/>
              </a:defRPr>
            </a:pPr>
            <a:r>
              <a:rPr lang="fr-FR" sz="1200" dirty="0"/>
              <a:t>  Publication annuelle des données dans les rapports ITIE</a:t>
            </a:r>
          </a:p>
          <a:p>
            <a:pPr>
              <a:spcAft>
                <a:spcPts val="200"/>
              </a:spcAft>
              <a:defRPr sz="1200" b="1">
                <a:solidFill>
                  <a:srgbClr val="1A2E5C"/>
                </a:solidFill>
                <a:latin typeface="Calibri"/>
              </a:defRPr>
            </a:pPr>
            <a:r>
              <a:rPr lang="fr-FR" dirty="0"/>
              <a:t>• </a:t>
            </a:r>
            <a:r>
              <a:rPr lang="fr-FR" sz="1400" dirty="0"/>
              <a:t>Ministères des Mines et du Pétrole</a:t>
            </a:r>
          </a:p>
          <a:p>
            <a:pPr>
              <a:spcAft>
                <a:spcPts val="600"/>
              </a:spcAft>
              <a:defRPr sz="1100">
                <a:solidFill>
                  <a:srgbClr val="333333"/>
                </a:solidFill>
                <a:latin typeface="Calibri"/>
              </a:defRPr>
            </a:pPr>
            <a:r>
              <a:rPr lang="fr-FR" sz="1200" dirty="0"/>
              <a:t>  Circulaires d'invitation à la déclaration, suivi sectoriel</a:t>
            </a:r>
          </a:p>
          <a:p>
            <a:pPr>
              <a:spcAft>
                <a:spcPts val="200"/>
              </a:spcAft>
              <a:defRPr sz="1200" b="1">
                <a:solidFill>
                  <a:srgbClr val="1A2E5C"/>
                </a:solidFill>
                <a:latin typeface="Calibri"/>
              </a:defRPr>
            </a:pPr>
            <a:r>
              <a:rPr lang="fr-FR" sz="1400" dirty="0"/>
              <a:t>• Direction Générale des Impôts</a:t>
            </a:r>
          </a:p>
          <a:p>
            <a:pPr>
              <a:spcAft>
                <a:spcPts val="600"/>
              </a:spcAft>
              <a:defRPr sz="1100">
                <a:solidFill>
                  <a:srgbClr val="333333"/>
                </a:solidFill>
                <a:latin typeface="Calibri"/>
              </a:defRPr>
            </a:pPr>
            <a:r>
              <a:rPr lang="fr-FR" sz="1200" dirty="0"/>
              <a:t>  Registre fiscal des bénéficiaires effectifs (CGI art. 633 et 667)</a:t>
            </a:r>
          </a:p>
        </p:txBody>
      </p:sp>
      <p:sp>
        <p:nvSpPr>
          <p:cNvPr id="11" name="TextBox 11">
            <a:extLst>
              <a:ext uri="{FF2B5EF4-FFF2-40B4-BE49-F238E27FC236}">
                <a16:creationId xmlns:a16="http://schemas.microsoft.com/office/drawing/2014/main" id="{1005DC23-722C-D7C1-501B-E9AB800C7354}"/>
              </a:ext>
            </a:extLst>
          </p:cNvPr>
          <p:cNvSpPr txBox="1"/>
          <p:nvPr/>
        </p:nvSpPr>
        <p:spPr>
          <a:xfrm>
            <a:off x="7827823" y="4078224"/>
            <a:ext cx="5029200" cy="1785104"/>
          </a:xfrm>
          <a:prstGeom prst="rect">
            <a:avLst/>
          </a:prstGeom>
          <a:noFill/>
        </p:spPr>
        <p:txBody>
          <a:bodyPr wrap="square">
            <a:spAutoFit/>
          </a:bodyPr>
          <a:lstStyle/>
          <a:p>
            <a:endParaRPr dirty="0"/>
          </a:p>
          <a:p>
            <a:pPr>
              <a:spcAft>
                <a:spcPts val="200"/>
              </a:spcAft>
              <a:defRPr sz="1200" b="1">
                <a:solidFill>
                  <a:srgbClr val="1A2E5C"/>
                </a:solidFill>
                <a:latin typeface="Calibri"/>
              </a:defRPr>
            </a:pPr>
            <a:r>
              <a:rPr sz="1400" dirty="0"/>
              <a:t>• </a:t>
            </a:r>
            <a:r>
              <a:rPr lang="fr-FR" sz="1400" dirty="0"/>
              <a:t>Entreprises extractives</a:t>
            </a:r>
          </a:p>
          <a:p>
            <a:pPr>
              <a:spcAft>
                <a:spcPts val="600"/>
              </a:spcAft>
              <a:defRPr sz="1100">
                <a:solidFill>
                  <a:srgbClr val="333333"/>
                </a:solidFill>
                <a:latin typeface="Calibri"/>
              </a:defRPr>
            </a:pPr>
            <a:r>
              <a:rPr lang="fr-FR" sz="1200" dirty="0"/>
              <a:t>  Obligation de déclarer leurs bénéficiaires effectifs</a:t>
            </a:r>
          </a:p>
          <a:p>
            <a:pPr>
              <a:spcAft>
                <a:spcPts val="200"/>
              </a:spcAft>
              <a:defRPr sz="1200" b="1">
                <a:solidFill>
                  <a:srgbClr val="1A2E5C"/>
                </a:solidFill>
                <a:latin typeface="Calibri"/>
              </a:defRPr>
            </a:pPr>
            <a:r>
              <a:rPr lang="fr-FR" sz="1400" dirty="0"/>
              <a:t>• Société civile / Journalistes</a:t>
            </a:r>
          </a:p>
          <a:p>
            <a:pPr>
              <a:spcAft>
                <a:spcPts val="600"/>
              </a:spcAft>
              <a:defRPr sz="1100">
                <a:solidFill>
                  <a:srgbClr val="333333"/>
                </a:solidFill>
                <a:latin typeface="Calibri"/>
              </a:defRPr>
            </a:pPr>
            <a:r>
              <a:rPr lang="fr-FR" sz="1200" dirty="0"/>
              <a:t>  Accès aux données pour veille et investigation</a:t>
            </a:r>
          </a:p>
          <a:p>
            <a:pPr>
              <a:spcAft>
                <a:spcPts val="200"/>
              </a:spcAft>
              <a:defRPr sz="1200" b="1">
                <a:solidFill>
                  <a:srgbClr val="1A2E5C"/>
                </a:solidFill>
                <a:latin typeface="Calibri"/>
              </a:defRPr>
            </a:pPr>
            <a:r>
              <a:rPr lang="fr-FR" sz="1400" dirty="0"/>
              <a:t>• GAFI</a:t>
            </a:r>
          </a:p>
          <a:p>
            <a:pPr>
              <a:spcAft>
                <a:spcPts val="600"/>
              </a:spcAft>
              <a:defRPr sz="1100">
                <a:solidFill>
                  <a:srgbClr val="333333"/>
                </a:solidFill>
                <a:latin typeface="Calibri"/>
              </a:defRPr>
            </a:pPr>
            <a:r>
              <a:rPr lang="fr-FR" sz="1200" dirty="0"/>
              <a:t>  Surveillance renforcée, recommandations de mise à jour</a:t>
            </a:r>
          </a:p>
        </p:txBody>
      </p:sp>
      <p:pic>
        <p:nvPicPr>
          <p:cNvPr id="12" name="Graphique 11" descr="Ampoule et engrenage avec un remplissage uni">
            <a:extLst>
              <a:ext uri="{FF2B5EF4-FFF2-40B4-BE49-F238E27FC236}">
                <a16:creationId xmlns:a16="http://schemas.microsoft.com/office/drawing/2014/main" id="{AA831394-1B27-2F7A-B710-BDBDED3D07C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80368" y="6624270"/>
            <a:ext cx="216000" cy="216000"/>
          </a:xfrm>
          <a:prstGeom prst="rect">
            <a:avLst/>
          </a:prstGeom>
        </p:spPr>
      </p:pic>
    </p:spTree>
    <p:extLst>
      <p:ext uri="{BB962C8B-B14F-4D97-AF65-F5344CB8AC3E}">
        <p14:creationId xmlns:p14="http://schemas.microsoft.com/office/powerpoint/2010/main" val="2078700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heel(1)">
                                      <p:cBhvr>
                                        <p:cTn id="7" dur="500"/>
                                        <p:tgtEl>
                                          <p:spTgt spid="32"/>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heel(1)">
                                      <p:cBhvr>
                                        <p:cTn id="11" dur="500"/>
                                        <p:tgtEl>
                                          <p:spTgt spid="31"/>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heel(1)">
                                      <p:cBhvr>
                                        <p:cTn id="1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3" name="Text 0"/>
          <p:cNvSpPr/>
          <p:nvPr/>
        </p:nvSpPr>
        <p:spPr>
          <a:xfrm>
            <a:off x="566928" y="384048"/>
            <a:ext cx="10800000" cy="274320"/>
          </a:xfrm>
          <a:prstGeom prst="rect">
            <a:avLst/>
          </a:prstGeom>
          <a:noFill/>
          <a:ln/>
        </p:spPr>
        <p:txBody>
          <a:bodyPr wrap="square" lIns="0" tIns="0" rIns="0" bIns="0" rtlCol="0" anchor="ctr"/>
          <a:lstStyle/>
          <a:p>
            <a:pPr marL="0" indent="0" algn="l">
              <a:buNone/>
            </a:pPr>
            <a:endParaRPr lang="fr-SN" sz="3200" dirty="0"/>
          </a:p>
        </p:txBody>
      </p:sp>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fr-SN" sz="900" kern="0" spc="100" dirty="0">
                <a:solidFill>
                  <a:srgbClr val="5B6472"/>
                </a:solidFill>
                <a:latin typeface="Calibri" pitchFamily="34" charset="0"/>
                <a:ea typeface="Calibri" pitchFamily="34" charset="-122"/>
                <a:cs typeface="Calibri" pitchFamily="34" charset="-120"/>
              </a:rPr>
              <a:t>ANALYSE DE QUALITÉ DES DONNÉES DU RBE</a:t>
            </a:r>
            <a:endParaRPr lang="fr-SN"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fr-SN" sz="900" dirty="0">
                <a:solidFill>
                  <a:srgbClr val="5B6472"/>
                </a:solidFill>
                <a:latin typeface="Calibri" pitchFamily="34" charset="0"/>
                <a:ea typeface="Calibri" pitchFamily="34" charset="-122"/>
                <a:cs typeface="Calibri" pitchFamily="34" charset="-120"/>
              </a:rPr>
              <a:t>05 / 21</a:t>
            </a:r>
            <a:endParaRPr lang="fr-SN" sz="900" dirty="0"/>
          </a:p>
        </p:txBody>
      </p:sp>
      <p:sp>
        <p:nvSpPr>
          <p:cNvPr id="10" name="Shape 7"/>
          <p:cNvSpPr/>
          <p:nvPr/>
        </p:nvSpPr>
        <p:spPr>
          <a:xfrm>
            <a:off x="701803" y="1163320"/>
            <a:ext cx="3456432" cy="1993392"/>
          </a:xfrm>
          <a:prstGeom prst="roundRect">
            <a:avLst>
              <a:gd name="adj" fmla="val 3670"/>
            </a:avLst>
          </a:prstGeom>
          <a:solidFill>
            <a:srgbClr val="FFFFFF"/>
          </a:solidFill>
          <a:ln/>
          <a:effectLst>
            <a:outerShdw blurRad="114300" dist="38100" dir="5400000" algn="bl" rotWithShape="0">
              <a:srgbClr val="1B2A4A">
                <a:alpha val="10000"/>
              </a:srgbClr>
            </a:outerShdw>
          </a:effectLst>
        </p:spPr>
      </p:sp>
      <p:sp>
        <p:nvSpPr>
          <p:cNvPr id="11" name="Shape 8"/>
          <p:cNvSpPr/>
          <p:nvPr/>
        </p:nvSpPr>
        <p:spPr>
          <a:xfrm>
            <a:off x="841248" y="1437640"/>
            <a:ext cx="548640" cy="548640"/>
          </a:xfrm>
          <a:prstGeom prst="ellipse">
            <a:avLst/>
          </a:prstGeom>
          <a:solidFill>
            <a:srgbClr val="082AF5"/>
          </a:solidFill>
          <a:ln/>
        </p:spPr>
      </p:sp>
      <p:pic>
        <p:nvPicPr>
          <p:cNvPr id="12" name="Image 1" descr="/home/claude/work/assets/icons/building_navyMid.png"/>
          <p:cNvPicPr>
            <a:picLocks noChangeAspect="1"/>
          </p:cNvPicPr>
          <p:nvPr/>
        </p:nvPicPr>
        <p:blipFill>
          <a:blip r:embed="rId4">
            <a:lum bright="70000" contrast="-70000"/>
          </a:blip>
          <a:stretch>
            <a:fillRect/>
          </a:stretch>
        </p:blipFill>
        <p:spPr>
          <a:xfrm>
            <a:off x="972922" y="1569314"/>
            <a:ext cx="285293" cy="285293"/>
          </a:xfrm>
          <a:prstGeom prst="rect">
            <a:avLst/>
          </a:prstGeom>
          <a:ln>
            <a:noFill/>
          </a:ln>
          <a:effectLst>
            <a:outerShdw blurRad="292100" dist="139700" dir="2700000" algn="tl" rotWithShape="0">
              <a:srgbClr val="333333">
                <a:alpha val="65000"/>
              </a:srgbClr>
            </a:outerShdw>
          </a:effectLst>
        </p:spPr>
      </p:pic>
      <p:sp>
        <p:nvSpPr>
          <p:cNvPr id="13" name="Text 9"/>
          <p:cNvSpPr/>
          <p:nvPr/>
        </p:nvSpPr>
        <p:spPr>
          <a:xfrm>
            <a:off x="841248" y="2123440"/>
            <a:ext cx="2907792" cy="640080"/>
          </a:xfrm>
          <a:prstGeom prst="rect">
            <a:avLst/>
          </a:prstGeom>
          <a:noFill/>
          <a:ln/>
        </p:spPr>
        <p:txBody>
          <a:bodyPr wrap="square" lIns="0" tIns="0" rIns="0" bIns="0" rtlCol="0" anchor="b"/>
          <a:lstStyle/>
          <a:p>
            <a:pPr marL="0" indent="0">
              <a:buNone/>
            </a:pPr>
            <a:r>
              <a:rPr lang="fr-SN" sz="3400" b="1" dirty="0">
                <a:solidFill>
                  <a:srgbClr val="082AF5"/>
                </a:solidFill>
                <a:latin typeface="Montserrat" pitchFamily="34" charset="0"/>
                <a:ea typeface="Montserrat" pitchFamily="34" charset="-122"/>
                <a:cs typeface="Montserrat" pitchFamily="34" charset="-120"/>
              </a:rPr>
              <a:t>317</a:t>
            </a:r>
            <a:endParaRPr lang="fr-SN" sz="3400" dirty="0">
              <a:solidFill>
                <a:srgbClr val="082AF5"/>
              </a:solidFill>
            </a:endParaRPr>
          </a:p>
        </p:txBody>
      </p:sp>
      <p:sp>
        <p:nvSpPr>
          <p:cNvPr id="14" name="Text 10"/>
          <p:cNvSpPr/>
          <p:nvPr/>
        </p:nvSpPr>
        <p:spPr>
          <a:xfrm>
            <a:off x="841248" y="2736088"/>
            <a:ext cx="2907792" cy="365760"/>
          </a:xfrm>
          <a:prstGeom prst="rect">
            <a:avLst/>
          </a:prstGeom>
          <a:noFill/>
          <a:ln/>
        </p:spPr>
        <p:txBody>
          <a:bodyPr wrap="square" lIns="0" tIns="0" rIns="0" bIns="0" rtlCol="0" anchor="t"/>
          <a:lstStyle/>
          <a:p>
            <a:pPr marL="0" indent="0">
              <a:buNone/>
            </a:pPr>
            <a:r>
              <a:rPr lang="fr-SN" sz="1150" dirty="0">
                <a:solidFill>
                  <a:srgbClr val="5B6472"/>
                </a:solidFill>
                <a:latin typeface="Calibri" pitchFamily="34" charset="0"/>
                <a:ea typeface="Calibri" pitchFamily="34" charset="-122"/>
                <a:cs typeface="Calibri" pitchFamily="34" charset="-120"/>
              </a:rPr>
              <a:t>Entreprises déclarantes</a:t>
            </a:r>
            <a:endParaRPr lang="fr-SN" sz="1150" dirty="0"/>
          </a:p>
        </p:txBody>
      </p:sp>
      <p:sp>
        <p:nvSpPr>
          <p:cNvPr id="15" name="Shape 11"/>
          <p:cNvSpPr/>
          <p:nvPr/>
        </p:nvSpPr>
        <p:spPr>
          <a:xfrm>
            <a:off x="4334256" y="1163320"/>
            <a:ext cx="3456432" cy="1993392"/>
          </a:xfrm>
          <a:prstGeom prst="roundRect">
            <a:avLst>
              <a:gd name="adj" fmla="val 3670"/>
            </a:avLst>
          </a:prstGeom>
          <a:solidFill>
            <a:srgbClr val="FFFFFF"/>
          </a:solidFill>
          <a:ln/>
          <a:effectLst>
            <a:outerShdw blurRad="114300" dist="38100" dir="5400000" algn="bl" rotWithShape="0">
              <a:srgbClr val="1B2A4A">
                <a:alpha val="10000"/>
              </a:srgbClr>
            </a:outerShdw>
          </a:effectLst>
        </p:spPr>
      </p:sp>
      <p:sp>
        <p:nvSpPr>
          <p:cNvPr id="16" name="Shape 12"/>
          <p:cNvSpPr/>
          <p:nvPr/>
        </p:nvSpPr>
        <p:spPr>
          <a:xfrm>
            <a:off x="4608576" y="1437640"/>
            <a:ext cx="548640" cy="548640"/>
          </a:xfrm>
          <a:prstGeom prst="ellipse">
            <a:avLst/>
          </a:prstGeom>
          <a:solidFill>
            <a:srgbClr val="082AF5"/>
          </a:solidFill>
          <a:ln/>
        </p:spPr>
      </p:sp>
      <p:pic>
        <p:nvPicPr>
          <p:cNvPr id="17" name="Image 2" descr="/home/claude/work/assets/icons/users_navyMid.png"/>
          <p:cNvPicPr>
            <a:picLocks noChangeAspect="1"/>
          </p:cNvPicPr>
          <p:nvPr/>
        </p:nvPicPr>
        <p:blipFill>
          <a:blip r:embed="rId5">
            <a:lum bright="70000" contrast="-70000"/>
          </a:blip>
          <a:stretch>
            <a:fillRect/>
          </a:stretch>
        </p:blipFill>
        <p:spPr>
          <a:xfrm>
            <a:off x="4740250" y="1569314"/>
            <a:ext cx="285293" cy="285293"/>
          </a:xfrm>
          <a:prstGeom prst="rect">
            <a:avLst/>
          </a:prstGeom>
        </p:spPr>
      </p:pic>
      <p:sp>
        <p:nvSpPr>
          <p:cNvPr id="18" name="Text 13"/>
          <p:cNvSpPr/>
          <p:nvPr/>
        </p:nvSpPr>
        <p:spPr>
          <a:xfrm>
            <a:off x="4608576" y="2123440"/>
            <a:ext cx="2907792" cy="640080"/>
          </a:xfrm>
          <a:prstGeom prst="rect">
            <a:avLst/>
          </a:prstGeom>
          <a:noFill/>
          <a:ln/>
        </p:spPr>
        <p:txBody>
          <a:bodyPr wrap="square" lIns="0" tIns="0" rIns="0" bIns="0" rtlCol="0" anchor="b"/>
          <a:lstStyle/>
          <a:p>
            <a:pPr marL="0" indent="0">
              <a:buNone/>
            </a:pPr>
            <a:r>
              <a:rPr lang="fr-SN" sz="3400" b="1" dirty="0">
                <a:solidFill>
                  <a:srgbClr val="082AF5"/>
                </a:solidFill>
                <a:latin typeface="Montserrat" pitchFamily="34" charset="0"/>
                <a:ea typeface="Montserrat" pitchFamily="34" charset="-122"/>
                <a:cs typeface="Montserrat" pitchFamily="34" charset="-120"/>
              </a:rPr>
              <a:t>628</a:t>
            </a:r>
            <a:endParaRPr lang="fr-SN" sz="3400" dirty="0">
              <a:solidFill>
                <a:srgbClr val="082AF5"/>
              </a:solidFill>
            </a:endParaRPr>
          </a:p>
        </p:txBody>
      </p:sp>
      <p:sp>
        <p:nvSpPr>
          <p:cNvPr id="19" name="Text 14"/>
          <p:cNvSpPr/>
          <p:nvPr/>
        </p:nvSpPr>
        <p:spPr>
          <a:xfrm>
            <a:off x="4608576" y="2736088"/>
            <a:ext cx="2907792" cy="365760"/>
          </a:xfrm>
          <a:prstGeom prst="rect">
            <a:avLst/>
          </a:prstGeom>
          <a:noFill/>
          <a:ln/>
        </p:spPr>
        <p:txBody>
          <a:bodyPr wrap="square" lIns="0" tIns="0" rIns="0" bIns="0" rtlCol="0" anchor="t"/>
          <a:lstStyle/>
          <a:p>
            <a:pPr marL="0" indent="0">
              <a:buNone/>
            </a:pPr>
            <a:r>
              <a:rPr lang="fr-SN" sz="1150" dirty="0">
                <a:solidFill>
                  <a:srgbClr val="5B6472"/>
                </a:solidFill>
                <a:latin typeface="Calibri" pitchFamily="34" charset="0"/>
                <a:ea typeface="Calibri" pitchFamily="34" charset="-122"/>
                <a:cs typeface="Calibri" pitchFamily="34" charset="-120"/>
              </a:rPr>
              <a:t>Bénéficiaires effectifs</a:t>
            </a:r>
            <a:endParaRPr lang="fr-SN" sz="1150" dirty="0"/>
          </a:p>
        </p:txBody>
      </p:sp>
      <p:sp>
        <p:nvSpPr>
          <p:cNvPr id="20" name="Shape 15"/>
          <p:cNvSpPr/>
          <p:nvPr/>
        </p:nvSpPr>
        <p:spPr>
          <a:xfrm>
            <a:off x="8101584" y="1163320"/>
            <a:ext cx="3456432" cy="1993392"/>
          </a:xfrm>
          <a:prstGeom prst="roundRect">
            <a:avLst>
              <a:gd name="adj" fmla="val 3670"/>
            </a:avLst>
          </a:prstGeom>
          <a:solidFill>
            <a:srgbClr val="FFFFFF"/>
          </a:solidFill>
          <a:ln/>
          <a:effectLst>
            <a:outerShdw blurRad="114300" dist="38100" dir="5400000" algn="bl" rotWithShape="0">
              <a:srgbClr val="1B2A4A">
                <a:alpha val="10000"/>
              </a:srgbClr>
            </a:outerShdw>
          </a:effectLst>
        </p:spPr>
      </p:sp>
      <p:sp>
        <p:nvSpPr>
          <p:cNvPr id="21" name="Shape 16"/>
          <p:cNvSpPr/>
          <p:nvPr/>
        </p:nvSpPr>
        <p:spPr>
          <a:xfrm>
            <a:off x="8375904" y="1437640"/>
            <a:ext cx="548640" cy="548640"/>
          </a:xfrm>
          <a:prstGeom prst="ellipse">
            <a:avLst/>
          </a:prstGeom>
          <a:solidFill>
            <a:srgbClr val="082AF5"/>
          </a:solidFill>
          <a:ln/>
        </p:spPr>
      </p:sp>
      <p:pic>
        <p:nvPicPr>
          <p:cNvPr id="22" name="Image 3" descr="/home/claude/work/assets/icons/mapMarker_navyMid.png"/>
          <p:cNvPicPr>
            <a:picLocks noChangeAspect="1"/>
          </p:cNvPicPr>
          <p:nvPr/>
        </p:nvPicPr>
        <p:blipFill>
          <a:blip r:embed="rId6">
            <a:lum bright="70000" contrast="-70000"/>
          </a:blip>
          <a:stretch>
            <a:fillRect/>
          </a:stretch>
        </p:blipFill>
        <p:spPr>
          <a:xfrm>
            <a:off x="8507578" y="1569314"/>
            <a:ext cx="285293" cy="285293"/>
          </a:xfrm>
          <a:prstGeom prst="rect">
            <a:avLst/>
          </a:prstGeom>
        </p:spPr>
      </p:pic>
      <p:sp>
        <p:nvSpPr>
          <p:cNvPr id="23" name="Text 17"/>
          <p:cNvSpPr/>
          <p:nvPr/>
        </p:nvSpPr>
        <p:spPr>
          <a:xfrm>
            <a:off x="8375904" y="2123440"/>
            <a:ext cx="2907792" cy="640080"/>
          </a:xfrm>
          <a:prstGeom prst="rect">
            <a:avLst/>
          </a:prstGeom>
          <a:noFill/>
          <a:ln/>
        </p:spPr>
        <p:txBody>
          <a:bodyPr wrap="square" lIns="0" tIns="0" rIns="0" bIns="0" rtlCol="0" anchor="b"/>
          <a:lstStyle/>
          <a:p>
            <a:pPr marL="0" indent="0">
              <a:buNone/>
            </a:pPr>
            <a:r>
              <a:rPr lang="fr-SN" sz="3400" b="1" dirty="0">
                <a:solidFill>
                  <a:srgbClr val="082AF5"/>
                </a:solidFill>
                <a:latin typeface="Montserrat" pitchFamily="34" charset="0"/>
                <a:ea typeface="Montserrat" pitchFamily="34" charset="-122"/>
                <a:cs typeface="Montserrat" pitchFamily="34" charset="-120"/>
              </a:rPr>
              <a:t>9</a:t>
            </a:r>
            <a:endParaRPr lang="fr-SN" sz="3400" dirty="0">
              <a:solidFill>
                <a:srgbClr val="082AF5"/>
              </a:solidFill>
            </a:endParaRPr>
          </a:p>
        </p:txBody>
      </p:sp>
      <p:sp>
        <p:nvSpPr>
          <p:cNvPr id="24" name="Text 18"/>
          <p:cNvSpPr/>
          <p:nvPr/>
        </p:nvSpPr>
        <p:spPr>
          <a:xfrm>
            <a:off x="8375904" y="2736088"/>
            <a:ext cx="2907792" cy="365760"/>
          </a:xfrm>
          <a:prstGeom prst="rect">
            <a:avLst/>
          </a:prstGeom>
          <a:noFill/>
          <a:ln/>
        </p:spPr>
        <p:txBody>
          <a:bodyPr wrap="square" lIns="0" tIns="0" rIns="0" bIns="0" rtlCol="0" anchor="t"/>
          <a:lstStyle/>
          <a:p>
            <a:pPr marL="0" indent="0">
              <a:buNone/>
            </a:pPr>
            <a:r>
              <a:rPr lang="fr-SN" sz="1150" dirty="0">
                <a:solidFill>
                  <a:srgbClr val="5B6472"/>
                </a:solidFill>
                <a:latin typeface="Calibri" pitchFamily="34" charset="0"/>
                <a:ea typeface="Calibri" pitchFamily="34" charset="-122"/>
                <a:cs typeface="Calibri" pitchFamily="34" charset="-120"/>
              </a:rPr>
              <a:t>Régions couvertes</a:t>
            </a:r>
            <a:endParaRPr lang="fr-SN" sz="1150" dirty="0"/>
          </a:p>
        </p:txBody>
      </p:sp>
      <p:sp>
        <p:nvSpPr>
          <p:cNvPr id="25" name="Shape 19"/>
          <p:cNvSpPr/>
          <p:nvPr/>
        </p:nvSpPr>
        <p:spPr>
          <a:xfrm>
            <a:off x="566928" y="3449320"/>
            <a:ext cx="3456432" cy="1993392"/>
          </a:xfrm>
          <a:prstGeom prst="roundRect">
            <a:avLst>
              <a:gd name="adj" fmla="val 3670"/>
            </a:avLst>
          </a:prstGeom>
          <a:solidFill>
            <a:srgbClr val="FFFFFF"/>
          </a:solidFill>
          <a:ln/>
          <a:effectLst>
            <a:outerShdw blurRad="114300" dist="38100" dir="5400000" algn="bl" rotWithShape="0">
              <a:srgbClr val="1B2A4A">
                <a:alpha val="10000"/>
              </a:srgbClr>
            </a:outerShdw>
          </a:effectLst>
        </p:spPr>
      </p:sp>
      <p:sp>
        <p:nvSpPr>
          <p:cNvPr id="26" name="Shape 20"/>
          <p:cNvSpPr/>
          <p:nvPr/>
        </p:nvSpPr>
        <p:spPr>
          <a:xfrm>
            <a:off x="841248" y="3723640"/>
            <a:ext cx="548640" cy="548640"/>
          </a:xfrm>
          <a:prstGeom prst="ellipse">
            <a:avLst/>
          </a:prstGeom>
          <a:solidFill>
            <a:srgbClr val="082AF5"/>
          </a:solidFill>
          <a:ln/>
        </p:spPr>
      </p:sp>
      <p:pic>
        <p:nvPicPr>
          <p:cNvPr id="27" name="Image 4" descr="/home/claude/work/assets/icons/calendarRange_navyMid.png"/>
          <p:cNvPicPr>
            <a:picLocks noChangeAspect="1"/>
          </p:cNvPicPr>
          <p:nvPr/>
        </p:nvPicPr>
        <p:blipFill>
          <a:blip r:embed="rId7">
            <a:lum bright="70000" contrast="-70000"/>
          </a:blip>
          <a:stretch>
            <a:fillRect/>
          </a:stretch>
        </p:blipFill>
        <p:spPr>
          <a:xfrm>
            <a:off x="972922" y="3855314"/>
            <a:ext cx="285293" cy="285293"/>
          </a:xfrm>
          <a:prstGeom prst="rect">
            <a:avLst/>
          </a:prstGeom>
        </p:spPr>
      </p:pic>
      <p:sp>
        <p:nvSpPr>
          <p:cNvPr id="28" name="Text 21"/>
          <p:cNvSpPr/>
          <p:nvPr/>
        </p:nvSpPr>
        <p:spPr>
          <a:xfrm>
            <a:off x="841248" y="4409440"/>
            <a:ext cx="2907792" cy="640080"/>
          </a:xfrm>
          <a:prstGeom prst="rect">
            <a:avLst/>
          </a:prstGeom>
          <a:noFill/>
          <a:ln/>
        </p:spPr>
        <p:txBody>
          <a:bodyPr wrap="square" lIns="0" tIns="0" rIns="0" bIns="0" rtlCol="0" anchor="b"/>
          <a:lstStyle/>
          <a:p>
            <a:pPr marL="0" indent="0">
              <a:buNone/>
            </a:pPr>
            <a:r>
              <a:rPr lang="fr-SN" sz="3400" b="1" dirty="0">
                <a:solidFill>
                  <a:srgbClr val="082AF5"/>
                </a:solidFill>
                <a:latin typeface="Montserrat" pitchFamily="34" charset="0"/>
                <a:ea typeface="Montserrat" pitchFamily="34" charset="-122"/>
                <a:cs typeface="Montserrat" pitchFamily="34" charset="-120"/>
              </a:rPr>
              <a:t>5</a:t>
            </a:r>
            <a:endParaRPr lang="fr-SN" sz="3400" dirty="0">
              <a:solidFill>
                <a:srgbClr val="082AF5"/>
              </a:solidFill>
            </a:endParaRPr>
          </a:p>
        </p:txBody>
      </p:sp>
      <p:sp>
        <p:nvSpPr>
          <p:cNvPr id="29" name="Text 22"/>
          <p:cNvSpPr/>
          <p:nvPr/>
        </p:nvSpPr>
        <p:spPr>
          <a:xfrm>
            <a:off x="841248" y="5022088"/>
            <a:ext cx="2907792" cy="365760"/>
          </a:xfrm>
          <a:prstGeom prst="rect">
            <a:avLst/>
          </a:prstGeom>
          <a:noFill/>
          <a:ln/>
        </p:spPr>
        <p:txBody>
          <a:bodyPr wrap="square" lIns="0" tIns="0" rIns="0" bIns="0" rtlCol="0" anchor="t"/>
          <a:lstStyle/>
          <a:p>
            <a:pPr marL="0" indent="0">
              <a:buNone/>
            </a:pPr>
            <a:r>
              <a:rPr lang="fr-SN" sz="1150" dirty="0">
                <a:solidFill>
                  <a:srgbClr val="5B6472"/>
                </a:solidFill>
                <a:latin typeface="Calibri" pitchFamily="34" charset="0"/>
                <a:ea typeface="Calibri" pitchFamily="34" charset="-122"/>
                <a:cs typeface="Calibri" pitchFamily="34" charset="-120"/>
              </a:rPr>
              <a:t>Exercices analysés (2021–2025)</a:t>
            </a:r>
            <a:endParaRPr lang="fr-SN" sz="1150" dirty="0"/>
          </a:p>
        </p:txBody>
      </p:sp>
      <p:sp>
        <p:nvSpPr>
          <p:cNvPr id="30" name="Shape 23"/>
          <p:cNvSpPr/>
          <p:nvPr/>
        </p:nvSpPr>
        <p:spPr>
          <a:xfrm>
            <a:off x="4334256" y="3449320"/>
            <a:ext cx="3456432" cy="1993392"/>
          </a:xfrm>
          <a:prstGeom prst="roundRect">
            <a:avLst>
              <a:gd name="adj" fmla="val 3670"/>
            </a:avLst>
          </a:prstGeom>
          <a:solidFill>
            <a:srgbClr val="FFFFFF"/>
          </a:solidFill>
          <a:ln/>
          <a:effectLst>
            <a:outerShdw blurRad="114300" dist="38100" dir="5400000" algn="bl" rotWithShape="0">
              <a:srgbClr val="1B2A4A">
                <a:alpha val="10000"/>
              </a:srgbClr>
            </a:outerShdw>
          </a:effectLst>
        </p:spPr>
      </p:sp>
      <p:sp>
        <p:nvSpPr>
          <p:cNvPr id="31" name="Shape 24"/>
          <p:cNvSpPr/>
          <p:nvPr/>
        </p:nvSpPr>
        <p:spPr>
          <a:xfrm>
            <a:off x="4608576" y="3723640"/>
            <a:ext cx="548640" cy="548640"/>
          </a:xfrm>
          <a:prstGeom prst="ellipse">
            <a:avLst/>
          </a:prstGeom>
          <a:solidFill>
            <a:srgbClr val="082AF5"/>
          </a:solidFill>
          <a:ln/>
        </p:spPr>
      </p:sp>
      <p:pic>
        <p:nvPicPr>
          <p:cNvPr id="32" name="Image 5" descr="/home/claude/work/assets/icons/layerGroup_navyMid.png"/>
          <p:cNvPicPr>
            <a:picLocks noChangeAspect="1"/>
          </p:cNvPicPr>
          <p:nvPr/>
        </p:nvPicPr>
        <p:blipFill>
          <a:blip r:embed="rId8">
            <a:lum bright="70000" contrast="-70000"/>
          </a:blip>
          <a:stretch>
            <a:fillRect/>
          </a:stretch>
        </p:blipFill>
        <p:spPr>
          <a:xfrm>
            <a:off x="4740250" y="3855314"/>
            <a:ext cx="285293" cy="285293"/>
          </a:xfrm>
          <a:prstGeom prst="rect">
            <a:avLst/>
          </a:prstGeom>
        </p:spPr>
      </p:pic>
      <p:sp>
        <p:nvSpPr>
          <p:cNvPr id="33" name="Text 25"/>
          <p:cNvSpPr/>
          <p:nvPr/>
        </p:nvSpPr>
        <p:spPr>
          <a:xfrm>
            <a:off x="4608576" y="4409440"/>
            <a:ext cx="2907792" cy="640080"/>
          </a:xfrm>
          <a:prstGeom prst="rect">
            <a:avLst/>
          </a:prstGeom>
          <a:noFill/>
          <a:ln/>
        </p:spPr>
        <p:txBody>
          <a:bodyPr wrap="square" lIns="0" tIns="0" rIns="0" bIns="0" rtlCol="0" anchor="b"/>
          <a:lstStyle/>
          <a:p>
            <a:pPr marL="0" indent="0">
              <a:buNone/>
            </a:pPr>
            <a:r>
              <a:rPr lang="fr-SN" sz="3400" b="1" dirty="0">
                <a:solidFill>
                  <a:srgbClr val="082AF5"/>
                </a:solidFill>
                <a:latin typeface="Montserrat" pitchFamily="34" charset="0"/>
                <a:ea typeface="Montserrat" pitchFamily="34" charset="-122"/>
                <a:cs typeface="Montserrat" pitchFamily="34" charset="-120"/>
              </a:rPr>
              <a:t>12</a:t>
            </a:r>
            <a:endParaRPr lang="fr-SN" sz="3400" dirty="0">
              <a:solidFill>
                <a:srgbClr val="082AF5"/>
              </a:solidFill>
            </a:endParaRPr>
          </a:p>
        </p:txBody>
      </p:sp>
      <p:sp>
        <p:nvSpPr>
          <p:cNvPr id="34" name="Text 26"/>
          <p:cNvSpPr/>
          <p:nvPr/>
        </p:nvSpPr>
        <p:spPr>
          <a:xfrm>
            <a:off x="4608576" y="5022088"/>
            <a:ext cx="2907792" cy="365760"/>
          </a:xfrm>
          <a:prstGeom prst="rect">
            <a:avLst/>
          </a:prstGeom>
          <a:noFill/>
          <a:ln/>
        </p:spPr>
        <p:txBody>
          <a:bodyPr wrap="square" lIns="0" tIns="0" rIns="0" bIns="0" rtlCol="0" anchor="t"/>
          <a:lstStyle/>
          <a:p>
            <a:pPr marL="0" indent="0">
              <a:buNone/>
            </a:pPr>
            <a:r>
              <a:rPr lang="fr-SN" sz="1150" dirty="0">
                <a:solidFill>
                  <a:srgbClr val="5B6472"/>
                </a:solidFill>
                <a:latin typeface="Calibri" pitchFamily="34" charset="0"/>
                <a:ea typeface="Calibri" pitchFamily="34" charset="-122"/>
                <a:cs typeface="Calibri" pitchFamily="34" charset="-120"/>
              </a:rPr>
              <a:t>Variables</a:t>
            </a:r>
            <a:endParaRPr lang="fr-SN" sz="1150" dirty="0"/>
          </a:p>
        </p:txBody>
      </p:sp>
      <p:sp>
        <p:nvSpPr>
          <p:cNvPr id="35" name="Shape 27"/>
          <p:cNvSpPr/>
          <p:nvPr/>
        </p:nvSpPr>
        <p:spPr>
          <a:xfrm>
            <a:off x="8101584" y="3471354"/>
            <a:ext cx="3456432" cy="1993392"/>
          </a:xfrm>
          <a:prstGeom prst="roundRect">
            <a:avLst>
              <a:gd name="adj" fmla="val 3670"/>
            </a:avLst>
          </a:prstGeom>
          <a:solidFill>
            <a:srgbClr val="0070C0"/>
          </a:solidFill>
          <a:ln/>
          <a:effectLst>
            <a:outerShdw blurRad="114300" dist="38100" dir="5400000" algn="bl" rotWithShape="0">
              <a:srgbClr val="1B2A4A">
                <a:alpha val="10000"/>
              </a:srgbClr>
            </a:outerShdw>
          </a:effectLst>
        </p:spPr>
        <p:txBody>
          <a:bodyPr/>
          <a:lstStyle/>
          <a:p>
            <a:endParaRPr lang="fr-SN" dirty="0"/>
          </a:p>
        </p:txBody>
      </p:sp>
      <p:sp>
        <p:nvSpPr>
          <p:cNvPr id="36" name="Shape 28"/>
          <p:cNvSpPr/>
          <p:nvPr/>
        </p:nvSpPr>
        <p:spPr>
          <a:xfrm>
            <a:off x="8375904" y="3723640"/>
            <a:ext cx="548640" cy="548640"/>
          </a:xfrm>
          <a:prstGeom prst="ellipse">
            <a:avLst/>
          </a:prstGeom>
          <a:solidFill>
            <a:srgbClr val="082AF5"/>
          </a:solidFill>
          <a:ln/>
        </p:spPr>
      </p:sp>
      <p:pic>
        <p:nvPicPr>
          <p:cNvPr id="37" name="Image 6" descr="/home/claude/work/assets/icons/exclamationCircle_navy.png"/>
          <p:cNvPicPr>
            <a:picLocks noChangeAspect="1"/>
          </p:cNvPicPr>
          <p:nvPr/>
        </p:nvPicPr>
        <p:blipFill>
          <a:blip r:embed="rId9">
            <a:lum bright="70000" contrast="-70000"/>
          </a:blip>
          <a:stretch>
            <a:fillRect/>
          </a:stretch>
        </p:blipFill>
        <p:spPr>
          <a:xfrm>
            <a:off x="8507578" y="3855314"/>
            <a:ext cx="285293" cy="285293"/>
          </a:xfrm>
          <a:prstGeom prst="rect">
            <a:avLst/>
          </a:prstGeom>
        </p:spPr>
      </p:pic>
      <p:sp>
        <p:nvSpPr>
          <p:cNvPr id="38" name="Text 29"/>
          <p:cNvSpPr/>
          <p:nvPr/>
        </p:nvSpPr>
        <p:spPr>
          <a:xfrm>
            <a:off x="8375904" y="4409440"/>
            <a:ext cx="2907792" cy="640080"/>
          </a:xfrm>
          <a:prstGeom prst="rect">
            <a:avLst/>
          </a:prstGeom>
          <a:noFill/>
          <a:ln/>
        </p:spPr>
        <p:txBody>
          <a:bodyPr wrap="square" lIns="0" tIns="0" rIns="0" bIns="0" rtlCol="0" anchor="b"/>
          <a:lstStyle/>
          <a:p>
            <a:pPr marL="0" indent="0">
              <a:buNone/>
            </a:pPr>
            <a:r>
              <a:rPr lang="fr-SN" sz="3400" b="1" dirty="0">
                <a:solidFill>
                  <a:schemeClr val="bg1"/>
                </a:solidFill>
                <a:latin typeface="Montserrat" pitchFamily="34" charset="0"/>
                <a:ea typeface="Montserrat" pitchFamily="34" charset="-122"/>
                <a:cs typeface="Montserrat" pitchFamily="34" charset="-120"/>
              </a:rPr>
              <a:t>23 %</a:t>
            </a:r>
            <a:endParaRPr lang="fr-SN" sz="3400" dirty="0">
              <a:solidFill>
                <a:schemeClr val="bg1"/>
              </a:solidFill>
            </a:endParaRPr>
          </a:p>
        </p:txBody>
      </p:sp>
      <p:sp>
        <p:nvSpPr>
          <p:cNvPr id="39" name="Text 30"/>
          <p:cNvSpPr/>
          <p:nvPr/>
        </p:nvSpPr>
        <p:spPr>
          <a:xfrm>
            <a:off x="8375904" y="5022088"/>
            <a:ext cx="2907792" cy="365760"/>
          </a:xfrm>
          <a:prstGeom prst="rect">
            <a:avLst/>
          </a:prstGeom>
          <a:noFill/>
          <a:ln/>
        </p:spPr>
        <p:txBody>
          <a:bodyPr wrap="square" lIns="0" tIns="0" rIns="0" bIns="0" rtlCol="0" anchor="t"/>
          <a:lstStyle/>
          <a:p>
            <a:pPr marL="0" indent="0">
              <a:buNone/>
            </a:pPr>
            <a:r>
              <a:rPr lang="fr-SN" sz="1150" dirty="0">
                <a:solidFill>
                  <a:schemeClr val="bg1"/>
                </a:solidFill>
                <a:latin typeface="Calibri" pitchFamily="34" charset="0"/>
                <a:ea typeface="Calibri" pitchFamily="34" charset="-122"/>
                <a:cs typeface="Calibri" pitchFamily="34" charset="-120"/>
              </a:rPr>
              <a:t>Données manquantes (toutes variables)</a:t>
            </a:r>
            <a:endParaRPr lang="fr-SN" sz="1150" dirty="0">
              <a:solidFill>
                <a:schemeClr val="bg1"/>
              </a:solidFill>
            </a:endParaRPr>
          </a:p>
        </p:txBody>
      </p:sp>
      <p:sp>
        <p:nvSpPr>
          <p:cNvPr id="40" name="Shape 4">
            <a:extLst>
              <a:ext uri="{FF2B5EF4-FFF2-40B4-BE49-F238E27FC236}">
                <a16:creationId xmlns:a16="http://schemas.microsoft.com/office/drawing/2014/main" id="{CA9A0A8C-1243-18D5-2B5E-8AF441D0CC7D}"/>
              </a:ext>
            </a:extLst>
          </p:cNvPr>
          <p:cNvSpPr/>
          <p:nvPr/>
        </p:nvSpPr>
        <p:spPr>
          <a:xfrm>
            <a:off x="10044887" y="6561646"/>
            <a:ext cx="45720" cy="45720"/>
          </a:xfrm>
          <a:prstGeom prst="ellipse">
            <a:avLst/>
          </a:prstGeom>
          <a:solidFill>
            <a:srgbClr val="C9962F"/>
          </a:solidFill>
          <a:ln/>
        </p:spPr>
      </p:sp>
      <p:sp>
        <p:nvSpPr>
          <p:cNvPr id="41" name="Shape 5">
            <a:extLst>
              <a:ext uri="{FF2B5EF4-FFF2-40B4-BE49-F238E27FC236}">
                <a16:creationId xmlns:a16="http://schemas.microsoft.com/office/drawing/2014/main" id="{B1AA7F24-092E-321A-E167-BB481C9AA7DF}"/>
              </a:ext>
            </a:extLst>
          </p:cNvPr>
          <p:cNvSpPr/>
          <p:nvPr/>
        </p:nvSpPr>
        <p:spPr>
          <a:xfrm>
            <a:off x="9926015" y="6561646"/>
            <a:ext cx="45720" cy="45720"/>
          </a:xfrm>
          <a:prstGeom prst="ellipse">
            <a:avLst/>
          </a:prstGeom>
          <a:solidFill>
            <a:srgbClr val="C9962F"/>
          </a:solidFill>
          <a:ln/>
        </p:spPr>
      </p:sp>
      <p:sp>
        <p:nvSpPr>
          <p:cNvPr id="42" name="Shape 6">
            <a:extLst>
              <a:ext uri="{FF2B5EF4-FFF2-40B4-BE49-F238E27FC236}">
                <a16:creationId xmlns:a16="http://schemas.microsoft.com/office/drawing/2014/main" id="{A75D29FB-D1BE-707A-3F97-1B642061B33E}"/>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4508B626-651C-2D13-95BF-A9E3D36F83CC}"/>
              </a:ext>
            </a:extLst>
          </p:cNvPr>
          <p:cNvSpPr/>
          <p:nvPr/>
        </p:nvSpPr>
        <p:spPr>
          <a:xfrm>
            <a:off x="566928" y="384048"/>
            <a:ext cx="10800000" cy="288000"/>
          </a:xfrm>
          <a:prstGeom prst="rect">
            <a:avLst/>
          </a:prstGeom>
          <a:noFill/>
          <a:ln/>
        </p:spPr>
        <p:txBody>
          <a:bodyPr wrap="square" lIns="0" tIns="0" rIns="0" bIns="0" rtlCol="0" anchor="ctr"/>
          <a:lstStyle/>
          <a:p>
            <a:pPr marL="0" indent="0" algn="l">
              <a:buNone/>
            </a:pPr>
            <a:r>
              <a:rPr lang="fr-SN" sz="3200" b="1" kern="0" spc="220" dirty="0">
                <a:latin typeface="Calibri" pitchFamily="34" charset="0"/>
                <a:ea typeface="Calibri" pitchFamily="34" charset="-122"/>
                <a:cs typeface="Calibri" pitchFamily="34" charset="-120"/>
              </a:rPr>
              <a:t>SECTION 2 | PRÉSENTATION DE LA BASE RBE</a:t>
            </a:r>
            <a:endParaRPr lang="fr-SN" sz="3200" dirty="0"/>
          </a:p>
        </p:txBody>
      </p:sp>
      <p:sp>
        <p:nvSpPr>
          <p:cNvPr id="8" name="ZoneTexte 7">
            <a:extLst>
              <a:ext uri="{FF2B5EF4-FFF2-40B4-BE49-F238E27FC236}">
                <a16:creationId xmlns:a16="http://schemas.microsoft.com/office/drawing/2014/main" id="{B4D180FE-8DD0-2E0A-A25F-35E92778C6FD}"/>
              </a:ext>
            </a:extLst>
          </p:cNvPr>
          <p:cNvSpPr txBox="1"/>
          <p:nvPr/>
        </p:nvSpPr>
        <p:spPr>
          <a:xfrm>
            <a:off x="5118808" y="3758531"/>
            <a:ext cx="1535992" cy="1615827"/>
          </a:xfrm>
          <a:prstGeom prst="rect">
            <a:avLst/>
          </a:prstGeom>
          <a:noFill/>
        </p:spPr>
        <p:txBody>
          <a:bodyPr wrap="square">
            <a:spAutoFit/>
          </a:bodyPr>
          <a:lstStyle/>
          <a:p>
            <a:pPr algn="just"/>
            <a:r>
              <a:rPr lang="fr-SN" sz="1100" i="0" u="none" strike="noStrike" dirty="0">
                <a:solidFill>
                  <a:srgbClr val="000000"/>
                </a:solidFill>
                <a:effectLst/>
                <a:latin typeface="Aptos Narrow" panose="020B0004020202020204" pitchFamily="34" charset="0"/>
              </a:rPr>
              <a:t>Région</a:t>
            </a:r>
            <a:r>
              <a:rPr lang="fr-SN" sz="1100" dirty="0"/>
              <a:t> </a:t>
            </a:r>
          </a:p>
          <a:p>
            <a:pPr algn="just"/>
            <a:r>
              <a:rPr lang="fr-SN" sz="1100" i="0" u="none" strike="noStrike" dirty="0">
                <a:solidFill>
                  <a:srgbClr val="000000"/>
                </a:solidFill>
                <a:effectLst/>
                <a:latin typeface="Aptos Narrow" panose="020B0004020202020204" pitchFamily="34" charset="0"/>
              </a:rPr>
              <a:t>Dénomination</a:t>
            </a:r>
            <a:r>
              <a:rPr lang="fr-SN" sz="1100" dirty="0">
                <a:solidFill>
                  <a:srgbClr val="000000"/>
                </a:solidFill>
                <a:latin typeface="Aptos Narrow" panose="020B0004020202020204" pitchFamily="34" charset="0"/>
              </a:rPr>
              <a:t> </a:t>
            </a:r>
            <a:r>
              <a:rPr lang="fr-SN" sz="1100" i="0" u="none" strike="noStrike" dirty="0">
                <a:solidFill>
                  <a:srgbClr val="000000"/>
                </a:solidFill>
                <a:effectLst/>
                <a:latin typeface="Aptos Narrow" panose="020B0004020202020204" pitchFamily="34" charset="0"/>
              </a:rPr>
              <a:t>Sociale</a:t>
            </a:r>
          </a:p>
          <a:p>
            <a:pPr algn="just"/>
            <a:r>
              <a:rPr lang="fr-SN" sz="1100" i="0" u="none" strike="noStrike" dirty="0">
                <a:solidFill>
                  <a:srgbClr val="000000"/>
                </a:solidFill>
                <a:effectLst/>
                <a:latin typeface="Aptos Narrow" panose="020B0004020202020204" pitchFamily="34" charset="0"/>
              </a:rPr>
              <a:t>Prénom et Nom </a:t>
            </a:r>
          </a:p>
          <a:p>
            <a:pPr algn="just"/>
            <a:r>
              <a:rPr lang="fr-SN" sz="1100" i="0" u="none" strike="noStrike" dirty="0">
                <a:solidFill>
                  <a:srgbClr val="000000"/>
                </a:solidFill>
                <a:effectLst/>
                <a:latin typeface="Aptos Narrow" panose="020B0004020202020204" pitchFamily="34" charset="0"/>
              </a:rPr>
              <a:t>Date d'acquisition</a:t>
            </a:r>
            <a:r>
              <a:rPr lang="fr-SN" sz="1100" dirty="0"/>
              <a:t> </a:t>
            </a:r>
          </a:p>
          <a:p>
            <a:r>
              <a:rPr lang="fr-SN" sz="1100" i="0" u="none" strike="noStrike" dirty="0">
                <a:solidFill>
                  <a:srgbClr val="000000"/>
                </a:solidFill>
                <a:effectLst/>
                <a:latin typeface="Aptos Narrow" panose="020B0004020202020204" pitchFamily="34" charset="0"/>
              </a:rPr>
              <a:t>Nationalité</a:t>
            </a:r>
            <a:r>
              <a:rPr lang="fr-SN" sz="1100" dirty="0"/>
              <a:t> </a:t>
            </a:r>
          </a:p>
          <a:p>
            <a:r>
              <a:rPr lang="fr-SN" sz="1100" i="0" u="none" strike="noStrike" dirty="0">
                <a:solidFill>
                  <a:srgbClr val="000000"/>
                </a:solidFill>
                <a:effectLst/>
                <a:latin typeface="Aptos Narrow" panose="020B0004020202020204" pitchFamily="34" charset="0"/>
              </a:rPr>
              <a:t>Pays de résidence</a:t>
            </a:r>
            <a:r>
              <a:rPr lang="fr-SN" sz="1100" dirty="0"/>
              <a:t> </a:t>
            </a:r>
          </a:p>
          <a:p>
            <a:pPr algn="just"/>
            <a:r>
              <a:rPr lang="fr-SN" sz="1100" i="0" u="none" strike="noStrike" dirty="0">
                <a:solidFill>
                  <a:srgbClr val="000000"/>
                </a:solidFill>
                <a:effectLst/>
                <a:latin typeface="Aptos Narrow" panose="020B0004020202020204" pitchFamily="34" charset="0"/>
              </a:rPr>
              <a:t>% Action Direct</a:t>
            </a:r>
          </a:p>
          <a:p>
            <a:pPr algn="just"/>
            <a:r>
              <a:rPr lang="fr-SN" sz="1100" dirty="0"/>
              <a:t> </a:t>
            </a:r>
          </a:p>
          <a:p>
            <a:pPr algn="just"/>
            <a:endParaRPr lang="fr-SN" sz="1100" dirty="0"/>
          </a:p>
        </p:txBody>
      </p:sp>
      <p:sp>
        <p:nvSpPr>
          <p:cNvPr id="9" name="ZoneTexte 8">
            <a:extLst>
              <a:ext uri="{FF2B5EF4-FFF2-40B4-BE49-F238E27FC236}">
                <a16:creationId xmlns:a16="http://schemas.microsoft.com/office/drawing/2014/main" id="{5E6B1AD9-D9D4-F499-6BFA-A7F94363F0D5}"/>
              </a:ext>
            </a:extLst>
          </p:cNvPr>
          <p:cNvSpPr txBox="1"/>
          <p:nvPr/>
        </p:nvSpPr>
        <p:spPr>
          <a:xfrm>
            <a:off x="6477049" y="3744815"/>
            <a:ext cx="1313233" cy="938719"/>
          </a:xfrm>
          <a:prstGeom prst="rect">
            <a:avLst/>
          </a:prstGeom>
          <a:noFill/>
        </p:spPr>
        <p:txBody>
          <a:bodyPr wrap="square">
            <a:spAutoFit/>
          </a:bodyPr>
          <a:lstStyle/>
          <a:p>
            <a:pPr algn="r"/>
            <a:r>
              <a:rPr lang="fr-SN" sz="1100" i="0" u="none" strike="noStrike" dirty="0">
                <a:solidFill>
                  <a:srgbClr val="000000"/>
                </a:solidFill>
                <a:effectLst/>
                <a:latin typeface="Aptos Narrow" panose="020B0004020202020204" pitchFamily="34" charset="0"/>
              </a:rPr>
              <a:t>% Voix Direct</a:t>
            </a:r>
            <a:r>
              <a:rPr lang="fr-SN" sz="1100" dirty="0"/>
              <a:t> </a:t>
            </a:r>
            <a:endParaRPr lang="fr-SN" sz="1100" i="0" u="none" strike="noStrike" dirty="0">
              <a:solidFill>
                <a:srgbClr val="000000"/>
              </a:solidFill>
              <a:effectLst/>
              <a:latin typeface="Aptos Narrow" panose="020B0004020202020204" pitchFamily="34" charset="0"/>
            </a:endParaRPr>
          </a:p>
          <a:p>
            <a:pPr algn="r"/>
            <a:r>
              <a:rPr lang="fr-SN" sz="1100" i="0" u="none" strike="noStrike" dirty="0">
                <a:solidFill>
                  <a:srgbClr val="000000"/>
                </a:solidFill>
                <a:effectLst/>
                <a:latin typeface="Aptos Narrow" panose="020B0004020202020204" pitchFamily="34" charset="0"/>
              </a:rPr>
              <a:t>Est Une PPE</a:t>
            </a:r>
            <a:r>
              <a:rPr lang="fr-SN" sz="1100" dirty="0"/>
              <a:t> </a:t>
            </a:r>
          </a:p>
          <a:p>
            <a:pPr algn="r"/>
            <a:r>
              <a:rPr lang="fr-SN" sz="1100" i="0" u="none" strike="noStrike" dirty="0">
                <a:solidFill>
                  <a:srgbClr val="000000"/>
                </a:solidFill>
                <a:effectLst/>
                <a:latin typeface="Aptos Narrow" panose="020B0004020202020204" pitchFamily="34" charset="0"/>
              </a:rPr>
              <a:t>Fonction PPE</a:t>
            </a:r>
            <a:r>
              <a:rPr lang="fr-SN" sz="1100" dirty="0"/>
              <a:t> </a:t>
            </a:r>
          </a:p>
          <a:p>
            <a:pPr algn="r"/>
            <a:r>
              <a:rPr lang="fr-SN" sz="1100" i="0" u="none" strike="noStrike" dirty="0">
                <a:solidFill>
                  <a:srgbClr val="000000"/>
                </a:solidFill>
                <a:effectLst/>
                <a:latin typeface="Aptos Narrow" panose="020B0004020202020204" pitchFamily="34" charset="0"/>
              </a:rPr>
              <a:t>NomPPE</a:t>
            </a:r>
            <a:r>
              <a:rPr lang="fr-SN" sz="1100" dirty="0"/>
              <a:t> </a:t>
            </a:r>
          </a:p>
          <a:p>
            <a:pPr algn="r"/>
            <a:r>
              <a:rPr lang="fr-SN" sz="1100" i="0" u="none" strike="noStrike" dirty="0">
                <a:solidFill>
                  <a:srgbClr val="000000"/>
                </a:solidFill>
                <a:effectLst/>
                <a:latin typeface="Aptos Narrow" panose="020B0004020202020204" pitchFamily="34" charset="0"/>
              </a:rPr>
              <a:t>Greffe</a:t>
            </a:r>
            <a:r>
              <a:rPr lang="fr-SN" sz="1100" dirty="0"/>
              <a:t>  </a:t>
            </a:r>
          </a:p>
        </p:txBody>
      </p:sp>
      <p:sp>
        <p:nvSpPr>
          <p:cNvPr id="4" name="Text 1">
            <a:extLst>
              <a:ext uri="{FF2B5EF4-FFF2-40B4-BE49-F238E27FC236}">
                <a16:creationId xmlns:a16="http://schemas.microsoft.com/office/drawing/2014/main" id="{B26A6FBE-6013-96A4-EE0E-A20E9A26F0D6}"/>
              </a:ext>
            </a:extLst>
          </p:cNvPr>
          <p:cNvSpPr/>
          <p:nvPr/>
        </p:nvSpPr>
        <p:spPr>
          <a:xfrm>
            <a:off x="800608" y="5644134"/>
            <a:ext cx="10424160" cy="713232"/>
          </a:xfrm>
          <a:prstGeom prst="rect">
            <a:avLst/>
          </a:prstGeom>
          <a:noFill/>
          <a:ln/>
        </p:spPr>
        <p:txBody>
          <a:bodyPr wrap="square" lIns="0" tIns="0" rIns="0" bIns="0" rtlCol="0" anchor="t"/>
          <a:lstStyle/>
          <a:p>
            <a:pPr marL="0" indent="0" algn="l">
              <a:buNone/>
            </a:pPr>
            <a:r>
              <a:rPr lang="fr-SN" sz="1200" b="1" dirty="0">
                <a:solidFill>
                  <a:srgbClr val="082AF5"/>
                </a:solidFill>
                <a:latin typeface="Montserrat" pitchFamily="34" charset="0"/>
                <a:ea typeface="Montserrat" pitchFamily="34" charset="-122"/>
                <a:cs typeface="Montserrat" pitchFamily="34" charset="-120"/>
              </a:rPr>
              <a:t>Source </a:t>
            </a:r>
          </a:p>
          <a:p>
            <a:pPr marL="0" indent="0" algn="l">
              <a:buNone/>
            </a:pPr>
            <a:r>
              <a:rPr lang="fr-SN" sz="1200" dirty="0">
                <a:solidFill>
                  <a:srgbClr val="082AF5"/>
                </a:solidFill>
              </a:rPr>
              <a:t>RBE du CN-ITIE </a:t>
            </a:r>
          </a:p>
          <a:p>
            <a:pPr marL="0" indent="0" algn="l">
              <a:buNone/>
            </a:pPr>
            <a:r>
              <a:rPr lang="fr-SN" sz="1200" dirty="0">
                <a:solidFill>
                  <a:srgbClr val="082AF5"/>
                </a:solidFill>
              </a:rPr>
              <a:t>Base des titres miniers issue de la plateforme « </a:t>
            </a:r>
            <a:r>
              <a:rPr lang="fr-SN" sz="1200" dirty="0" err="1">
                <a:solidFill>
                  <a:srgbClr val="082AF5"/>
                </a:solidFill>
              </a:rPr>
              <a:t>LandFolio</a:t>
            </a:r>
            <a:r>
              <a:rPr lang="fr-SN" sz="1200" dirty="0">
                <a:solidFill>
                  <a:srgbClr val="082AF5"/>
                </a:solidFill>
              </a:rPr>
              <a:t> » 31/12/2025</a:t>
            </a:r>
          </a:p>
          <a:p>
            <a:pPr marL="0" indent="0" algn="l">
              <a:buNone/>
            </a:pPr>
            <a:r>
              <a:rPr lang="fr-SN" sz="1200" dirty="0">
                <a:solidFill>
                  <a:srgbClr val="082AF5"/>
                </a:solidFill>
              </a:rPr>
              <a:t>Liste de sous-traitants</a:t>
            </a:r>
          </a:p>
        </p:txBody>
      </p:sp>
      <p:pic>
        <p:nvPicPr>
          <p:cNvPr id="44" name="Graphique 43" descr="Ampoule et engrenage avec un remplissage uni">
            <a:extLst>
              <a:ext uri="{FF2B5EF4-FFF2-40B4-BE49-F238E27FC236}">
                <a16:creationId xmlns:a16="http://schemas.microsoft.com/office/drawing/2014/main" id="{574D8BD9-CBB6-820F-C1B2-BB6D55D41D5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8928" y="5892750"/>
            <a:ext cx="216000" cy="216000"/>
          </a:xfrm>
          <a:prstGeom prst="rect">
            <a:avLst/>
          </a:prstGeom>
        </p:spPr>
      </p:pic>
      <p:pic>
        <p:nvPicPr>
          <p:cNvPr id="45" name="Graphique 44" descr="Ampoule et engrenage avec un remplissage uni">
            <a:extLst>
              <a:ext uri="{FF2B5EF4-FFF2-40B4-BE49-F238E27FC236}">
                <a16:creationId xmlns:a16="http://schemas.microsoft.com/office/drawing/2014/main" id="{B63059E0-BE40-8A6D-AFF1-6FA0FC1A9F7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heel(1)">
                                      <p:cBhvr>
                                        <p:cTn id="7" dur="500"/>
                                        <p:tgtEl>
                                          <p:spTgt spid="42"/>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heel(1)">
                                      <p:cBhvr>
                                        <p:cTn id="11" dur="500"/>
                                        <p:tgtEl>
                                          <p:spTgt spid="41"/>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wheel(1)">
                                      <p:cBhvr>
                                        <p:cTn id="1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a:noFill/>
          <a:ln/>
        </p:spPr>
      </p:pic>
      <p:sp>
        <p:nvSpPr>
          <p:cNvPr id="3" name="Text 0"/>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RÉSULTATS DES ANALYSES</a:t>
            </a:r>
            <a:endParaRPr lang="en-US" sz="3200" dirty="0"/>
          </a:p>
        </p:txBody>
      </p:sp>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06 / 21</a:t>
            </a:r>
            <a:endParaRPr lang="en-US" sz="900" dirty="0"/>
          </a:p>
        </p:txBody>
      </p:sp>
      <p:sp>
        <p:nvSpPr>
          <p:cNvPr id="11" name="Shape 7"/>
          <p:cNvSpPr/>
          <p:nvPr/>
        </p:nvSpPr>
        <p:spPr>
          <a:xfrm>
            <a:off x="7790688" y="1691640"/>
            <a:ext cx="3834079" cy="4251960"/>
          </a:xfrm>
          <a:prstGeom prst="roundRect">
            <a:avLst>
              <a:gd name="adj" fmla="val 1908"/>
            </a:avLst>
          </a:prstGeom>
          <a:solidFill>
            <a:srgbClr val="F4DEDE"/>
          </a:solidFill>
          <a:ln>
            <a:solidFill>
              <a:srgbClr val="F4DEDE"/>
            </a:solidFill>
          </a:ln>
          <a:effectLst>
            <a:outerShdw blurRad="114300" dist="38100" dir="5400000" algn="bl" rotWithShape="0">
              <a:srgbClr val="1B2A4A">
                <a:alpha val="10000"/>
              </a:srgbClr>
            </a:outerShdw>
            <a:softEdge rad="31750"/>
          </a:effectLst>
        </p:spPr>
      </p:sp>
      <p:sp>
        <p:nvSpPr>
          <p:cNvPr id="13" name="Text 9"/>
          <p:cNvSpPr/>
          <p:nvPr/>
        </p:nvSpPr>
        <p:spPr>
          <a:xfrm>
            <a:off x="8025689" y="2766060"/>
            <a:ext cx="3248863" cy="2103120"/>
          </a:xfrm>
          <a:prstGeom prst="rect">
            <a:avLst/>
          </a:prstGeom>
          <a:noFill/>
          <a:ln/>
        </p:spPr>
        <p:txBody>
          <a:bodyPr wrap="square" lIns="0" tIns="0" rIns="0" bIns="0" rtlCol="0" anchor="ctr"/>
          <a:lstStyle/>
          <a:p>
            <a:pPr marL="0" indent="0" algn="just">
              <a:lnSpc>
                <a:spcPct val="125000"/>
              </a:lnSpc>
              <a:buNone/>
            </a:pPr>
            <a:r>
              <a:rPr lang="en-US" sz="1300" dirty="0">
                <a:latin typeface="Calibri" pitchFamily="34" charset="0"/>
                <a:ea typeface="Calibri" pitchFamily="34" charset="-122"/>
                <a:cs typeface="Calibri" pitchFamily="34" charset="-120"/>
              </a:rPr>
              <a:t>Le nom et le statut de la Personne Politiquement Exposée (PPE) sont absents dans plus de 8 cas sur 10.</a:t>
            </a:r>
          </a:p>
          <a:p>
            <a:pPr marL="0" indent="0" algn="just">
              <a:lnSpc>
                <a:spcPct val="125000"/>
              </a:lnSpc>
              <a:buNone/>
            </a:pPr>
            <a:r>
              <a:rPr lang="en-US" sz="1300" dirty="0">
                <a:latin typeface="Calibri" pitchFamily="34" charset="0"/>
                <a:ea typeface="Calibri" pitchFamily="34" charset="-122"/>
                <a:cs typeface="Calibri" pitchFamily="34" charset="-120"/>
              </a:rPr>
              <a:t>Un point soulignable au regard de l'Exigence 2.5 de la </a:t>
            </a:r>
            <a:r>
              <a:rPr lang="en-US" sz="1300" dirty="0" err="1">
                <a:latin typeface="Calibri" pitchFamily="34" charset="0"/>
                <a:ea typeface="Calibri" pitchFamily="34" charset="-122"/>
                <a:cs typeface="Calibri" pitchFamily="34" charset="-120"/>
              </a:rPr>
              <a:t>norme</a:t>
            </a:r>
            <a:r>
              <a:rPr lang="en-US" sz="1300" dirty="0">
                <a:latin typeface="Calibri" pitchFamily="34" charset="0"/>
                <a:ea typeface="Calibri" pitchFamily="34" charset="-122"/>
                <a:cs typeface="Calibri" pitchFamily="34" charset="-120"/>
              </a:rPr>
              <a:t> de </a:t>
            </a:r>
            <a:r>
              <a:rPr lang="en-US" sz="1300" dirty="0" err="1">
                <a:latin typeface="Calibri" pitchFamily="34" charset="0"/>
                <a:ea typeface="Calibri" pitchFamily="34" charset="-122"/>
                <a:cs typeface="Calibri" pitchFamily="34" charset="-120"/>
              </a:rPr>
              <a:t>l’ITIE</a:t>
            </a:r>
            <a:r>
              <a:rPr lang="en-US" sz="1300" dirty="0">
                <a:latin typeface="Calibri" pitchFamily="34" charset="0"/>
                <a:ea typeface="Calibri" pitchFamily="34" charset="-122"/>
                <a:cs typeface="Calibri" pitchFamily="34" charset="-120"/>
              </a:rPr>
              <a:t>, qui impose une divulgation complète pour les PPE.</a:t>
            </a:r>
            <a:endParaRPr lang="en-US" sz="1300" dirty="0"/>
          </a:p>
        </p:txBody>
      </p:sp>
      <p:sp>
        <p:nvSpPr>
          <p:cNvPr id="14" name="Text 10"/>
          <p:cNvSpPr/>
          <p:nvPr/>
        </p:nvSpPr>
        <p:spPr>
          <a:xfrm>
            <a:off x="8025689" y="1691640"/>
            <a:ext cx="3248863" cy="1188720"/>
          </a:xfrm>
          <a:prstGeom prst="rect">
            <a:avLst/>
          </a:prstGeom>
          <a:noFill/>
          <a:ln/>
        </p:spPr>
        <p:txBody>
          <a:bodyPr wrap="square" lIns="0" tIns="0" rIns="0" bIns="0" rtlCol="0" anchor="ctr"/>
          <a:lstStyle/>
          <a:p>
            <a:pPr algn="just">
              <a:lnSpc>
                <a:spcPct val="125000"/>
              </a:lnSpc>
            </a:pPr>
            <a:r>
              <a:rPr lang="en-US" sz="1300" dirty="0">
                <a:latin typeface="Calibri" pitchFamily="34" charset="0"/>
                <a:ea typeface="Calibri" pitchFamily="34" charset="-122"/>
                <a:cs typeface="Calibri" pitchFamily="34" charset="-120"/>
              </a:rPr>
              <a:t>6 variables sont en revanche intégralement renseignées : Région, Dénomination sociale, Greffe, Prénom et nom, Nationalité, Année.</a:t>
            </a:r>
          </a:p>
        </p:txBody>
      </p:sp>
      <p:graphicFrame>
        <p:nvGraphicFramePr>
          <p:cNvPr id="15" name="Chart 0">
            <a:extLst>
              <a:ext uri="{FF2B5EF4-FFF2-40B4-BE49-F238E27FC236}">
                <a16:creationId xmlns:a16="http://schemas.microsoft.com/office/drawing/2014/main" id="{E28D33C2-BADA-F2A7-718B-E8645E98FCD6}"/>
              </a:ext>
            </a:extLst>
          </p:cNvPr>
          <p:cNvGraphicFramePr/>
          <p:nvPr>
            <p:extLst>
              <p:ext uri="{D42A27DB-BD31-4B8C-83A1-F6EECF244321}">
                <p14:modId xmlns:p14="http://schemas.microsoft.com/office/powerpoint/2010/main" val="1335293231"/>
              </p:ext>
            </p:extLst>
          </p:nvPr>
        </p:nvGraphicFramePr>
        <p:xfrm>
          <a:off x="566928" y="1691640"/>
          <a:ext cx="7040880" cy="4251960"/>
        </p:xfrm>
        <a:graphic>
          <a:graphicData uri="http://schemas.openxmlformats.org/drawingml/2006/chart">
            <c:chart xmlns:c="http://schemas.openxmlformats.org/drawingml/2006/chart" xmlns:r="http://schemas.openxmlformats.org/officeDocument/2006/relationships" r:id="rId4"/>
          </a:graphicData>
        </a:graphic>
      </p:graphicFrame>
      <p:sp>
        <p:nvSpPr>
          <p:cNvPr id="18" name="Shape 4">
            <a:extLst>
              <a:ext uri="{FF2B5EF4-FFF2-40B4-BE49-F238E27FC236}">
                <a16:creationId xmlns:a16="http://schemas.microsoft.com/office/drawing/2014/main" id="{6A7E76D9-06B7-5BDC-D8D4-CC8E278196B2}"/>
              </a:ext>
            </a:extLst>
          </p:cNvPr>
          <p:cNvSpPr/>
          <p:nvPr/>
        </p:nvSpPr>
        <p:spPr>
          <a:xfrm>
            <a:off x="10044887" y="6561646"/>
            <a:ext cx="45720" cy="45720"/>
          </a:xfrm>
          <a:prstGeom prst="ellipse">
            <a:avLst/>
          </a:prstGeom>
          <a:solidFill>
            <a:srgbClr val="C9962F"/>
          </a:solidFill>
          <a:ln/>
        </p:spPr>
      </p:sp>
      <p:sp>
        <p:nvSpPr>
          <p:cNvPr id="19" name="Shape 5">
            <a:extLst>
              <a:ext uri="{FF2B5EF4-FFF2-40B4-BE49-F238E27FC236}">
                <a16:creationId xmlns:a16="http://schemas.microsoft.com/office/drawing/2014/main" id="{C23D7094-5D47-E10F-5E3E-B50BD970E8EB}"/>
              </a:ext>
            </a:extLst>
          </p:cNvPr>
          <p:cNvSpPr/>
          <p:nvPr/>
        </p:nvSpPr>
        <p:spPr>
          <a:xfrm>
            <a:off x="9926015" y="6561646"/>
            <a:ext cx="45720" cy="45720"/>
          </a:xfrm>
          <a:prstGeom prst="ellipse">
            <a:avLst/>
          </a:prstGeom>
          <a:solidFill>
            <a:srgbClr val="C9962F"/>
          </a:solidFill>
          <a:ln/>
        </p:spPr>
      </p:sp>
      <p:sp>
        <p:nvSpPr>
          <p:cNvPr id="20" name="Shape 6">
            <a:extLst>
              <a:ext uri="{FF2B5EF4-FFF2-40B4-BE49-F238E27FC236}">
                <a16:creationId xmlns:a16="http://schemas.microsoft.com/office/drawing/2014/main" id="{9E314314-7EDE-639F-AAEE-EDF713EEF489}"/>
              </a:ext>
            </a:extLst>
          </p:cNvPr>
          <p:cNvSpPr/>
          <p:nvPr/>
        </p:nvSpPr>
        <p:spPr>
          <a:xfrm>
            <a:off x="9807143" y="6561646"/>
            <a:ext cx="45720" cy="45720"/>
          </a:xfrm>
          <a:prstGeom prst="ellipse">
            <a:avLst/>
          </a:prstGeom>
          <a:solidFill>
            <a:srgbClr val="C9962F"/>
          </a:solidFill>
          <a:ln/>
        </p:spPr>
      </p:sp>
      <p:pic>
        <p:nvPicPr>
          <p:cNvPr id="7" name="Graphique 6" descr="Ampoule et engrenage avec un remplissage uni">
            <a:extLst>
              <a:ext uri="{FF2B5EF4-FFF2-40B4-BE49-F238E27FC236}">
                <a16:creationId xmlns:a16="http://schemas.microsoft.com/office/drawing/2014/main" id="{C3A1C190-9641-B38E-909E-AC4B788E1A3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
        <p:nvSpPr>
          <p:cNvPr id="8" name="Text 1">
            <a:extLst>
              <a:ext uri="{FF2B5EF4-FFF2-40B4-BE49-F238E27FC236}">
                <a16:creationId xmlns:a16="http://schemas.microsoft.com/office/drawing/2014/main" id="{3BB0FA00-15B4-C515-FC40-2500D1FCE80D}"/>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800" b="1" dirty="0">
                <a:solidFill>
                  <a:srgbClr val="082AF5"/>
                </a:solidFill>
                <a:latin typeface="Montserrat" pitchFamily="34" charset="0"/>
                <a:ea typeface="Montserrat" pitchFamily="34" charset="-122"/>
                <a:cs typeface="Montserrat" pitchFamily="34" charset="-120"/>
              </a:rPr>
              <a:t>Analyse de valeurs manquantes par variable</a:t>
            </a:r>
            <a:endParaRPr lang="en-US" sz="2800" dirty="0">
              <a:solidFill>
                <a:srgbClr val="082AF5"/>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heel(1)">
                                      <p:cBhvr>
                                        <p:cTn id="7" dur="500"/>
                                        <p:tgtEl>
                                          <p:spTgt spid="20"/>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heel(1)">
                                      <p:cBhvr>
                                        <p:cTn id="11" dur="500"/>
                                        <p:tgtEl>
                                          <p:spTgt spid="19"/>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heel(1)">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4" name="Text 1"/>
          <p:cNvSpPr/>
          <p:nvPr/>
        </p:nvSpPr>
        <p:spPr>
          <a:xfrm>
            <a:off x="566928" y="640080"/>
            <a:ext cx="10424160" cy="713232"/>
          </a:xfrm>
          <a:prstGeom prst="rect">
            <a:avLst/>
          </a:prstGeom>
          <a:noFill/>
          <a:ln/>
        </p:spPr>
        <p:txBody>
          <a:bodyPr wrap="square" lIns="0" tIns="0" rIns="0" bIns="0" rtlCol="0" anchor="t"/>
          <a:lstStyle/>
          <a:p>
            <a:pPr marL="0" indent="0" algn="l">
              <a:buNone/>
            </a:pPr>
            <a:endParaRPr lang="en-US" sz="2600" dirty="0">
              <a:solidFill>
                <a:srgbClr val="082AF5"/>
              </a:solidFill>
            </a:endParaRPr>
          </a:p>
        </p:txBody>
      </p:sp>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07 / 21</a:t>
            </a:r>
            <a:endParaRPr lang="en-US" sz="900" dirty="0"/>
          </a:p>
        </p:txBody>
      </p:sp>
      <p:sp>
        <p:nvSpPr>
          <p:cNvPr id="11" name="Shape 7"/>
          <p:cNvSpPr/>
          <p:nvPr/>
        </p:nvSpPr>
        <p:spPr>
          <a:xfrm>
            <a:off x="8231021" y="3941064"/>
            <a:ext cx="3651199" cy="2011680"/>
          </a:xfrm>
          <a:prstGeom prst="roundRect">
            <a:avLst>
              <a:gd name="adj" fmla="val 3636"/>
            </a:avLst>
          </a:prstGeom>
          <a:solidFill>
            <a:srgbClr val="F4DEDE"/>
          </a:solidFill>
          <a:ln/>
          <a:effectLst>
            <a:outerShdw blurRad="114300" dist="38100" dir="5400000" algn="bl" rotWithShape="0">
              <a:srgbClr val="1B2A4A">
                <a:alpha val="10000"/>
              </a:srgbClr>
            </a:outerShdw>
          </a:effectLst>
        </p:spPr>
      </p:sp>
      <p:sp>
        <p:nvSpPr>
          <p:cNvPr id="12" name="Text 8"/>
          <p:cNvSpPr/>
          <p:nvPr/>
        </p:nvSpPr>
        <p:spPr>
          <a:xfrm>
            <a:off x="8487053" y="4123944"/>
            <a:ext cx="3139135" cy="274320"/>
          </a:xfrm>
          <a:prstGeom prst="rect">
            <a:avLst/>
          </a:prstGeom>
          <a:noFill/>
          <a:ln/>
        </p:spPr>
        <p:txBody>
          <a:bodyPr wrap="square" lIns="0" tIns="0" rIns="0" bIns="0" rtlCol="0" anchor="ctr"/>
          <a:lstStyle/>
          <a:p>
            <a:pPr marL="0" indent="0">
              <a:buNone/>
            </a:pPr>
            <a:r>
              <a:rPr lang="en-US" sz="1050" b="1" kern="0" spc="120" dirty="0" err="1">
                <a:solidFill>
                  <a:srgbClr val="B33A3A"/>
                </a:solidFill>
                <a:latin typeface="Calibri" pitchFamily="34" charset="0"/>
                <a:ea typeface="Calibri" pitchFamily="34" charset="-122"/>
                <a:cs typeface="Calibri" pitchFamily="34" charset="-120"/>
              </a:rPr>
              <a:t>Régions</a:t>
            </a:r>
            <a:r>
              <a:rPr lang="en-US" sz="1050" b="1" kern="0" spc="120" dirty="0">
                <a:solidFill>
                  <a:srgbClr val="B33A3A"/>
                </a:solidFill>
                <a:latin typeface="Calibri" pitchFamily="34" charset="0"/>
                <a:ea typeface="Calibri" pitchFamily="34" charset="-122"/>
                <a:cs typeface="Calibri" pitchFamily="34" charset="-120"/>
              </a:rPr>
              <a:t> avec des données manquantes </a:t>
            </a:r>
            <a:r>
              <a:rPr lang="en-US" sz="1050" b="1" kern="0" spc="120" dirty="0" err="1">
                <a:solidFill>
                  <a:srgbClr val="B33A3A"/>
                </a:solidFill>
                <a:latin typeface="Calibri" pitchFamily="34" charset="0"/>
                <a:ea typeface="Calibri" pitchFamily="34" charset="-122"/>
                <a:cs typeface="Calibri" pitchFamily="34" charset="-120"/>
              </a:rPr>
              <a:t>élevées</a:t>
            </a:r>
            <a:endParaRPr lang="en-US" sz="1050" dirty="0"/>
          </a:p>
        </p:txBody>
      </p:sp>
      <p:sp>
        <p:nvSpPr>
          <p:cNvPr id="13" name="Text 9"/>
          <p:cNvSpPr/>
          <p:nvPr/>
        </p:nvSpPr>
        <p:spPr>
          <a:xfrm>
            <a:off x="8487053" y="4443984"/>
            <a:ext cx="3139135" cy="1417320"/>
          </a:xfrm>
          <a:prstGeom prst="rect">
            <a:avLst/>
          </a:prstGeom>
          <a:noFill/>
          <a:ln/>
        </p:spPr>
        <p:txBody>
          <a:bodyPr wrap="square" lIns="0" tIns="0" rIns="0" bIns="0" rtlCol="0" anchor="ctr"/>
          <a:lstStyle/>
          <a:p>
            <a:pPr marL="0" indent="0" algn="just">
              <a:lnSpc>
                <a:spcPct val="120000"/>
              </a:lnSpc>
              <a:buNone/>
            </a:pPr>
            <a:r>
              <a:rPr lang="en-US" sz="1200" dirty="0">
                <a:solidFill>
                  <a:srgbClr val="1E2532"/>
                </a:solidFill>
                <a:latin typeface="Calibri" pitchFamily="34" charset="0"/>
                <a:ea typeface="Calibri" pitchFamily="34" charset="-122"/>
                <a:cs typeface="Calibri" pitchFamily="34" charset="-120"/>
              </a:rPr>
              <a:t>Kédougou (68,1 %), Diourbel et Kaolack (66,7 % chacune) concentrent les taux de valeurs manquantes les plus élevés du pays.</a:t>
            </a:r>
            <a:endParaRPr lang="en-US" sz="1200" dirty="0"/>
          </a:p>
        </p:txBody>
      </p:sp>
      <p:sp>
        <p:nvSpPr>
          <p:cNvPr id="14" name="Shape 10"/>
          <p:cNvSpPr/>
          <p:nvPr/>
        </p:nvSpPr>
        <p:spPr>
          <a:xfrm>
            <a:off x="8265007" y="1618488"/>
            <a:ext cx="3651199" cy="2057400"/>
          </a:xfrm>
          <a:prstGeom prst="roundRect">
            <a:avLst>
              <a:gd name="adj" fmla="val 3556"/>
            </a:avLst>
          </a:prstGeom>
          <a:solidFill>
            <a:srgbClr val="DCEEE9"/>
          </a:solidFill>
          <a:ln/>
          <a:effectLst>
            <a:outerShdw blurRad="114300" dist="38100" dir="5400000" algn="bl" rotWithShape="0">
              <a:srgbClr val="1B2A4A">
                <a:alpha val="10000"/>
              </a:srgbClr>
            </a:outerShdw>
          </a:effectLst>
        </p:spPr>
      </p:sp>
      <p:sp>
        <p:nvSpPr>
          <p:cNvPr id="15" name="Text 11"/>
          <p:cNvSpPr/>
          <p:nvPr/>
        </p:nvSpPr>
        <p:spPr>
          <a:xfrm>
            <a:off x="8521039" y="1801368"/>
            <a:ext cx="3139135" cy="274320"/>
          </a:xfrm>
          <a:prstGeom prst="rect">
            <a:avLst/>
          </a:prstGeom>
          <a:noFill/>
          <a:ln/>
        </p:spPr>
        <p:txBody>
          <a:bodyPr wrap="square" lIns="0" tIns="0" rIns="0" bIns="0" rtlCol="0" anchor="ctr"/>
          <a:lstStyle/>
          <a:p>
            <a:pPr marL="0" indent="0">
              <a:buNone/>
            </a:pPr>
            <a:r>
              <a:rPr lang="en-US" sz="1050" b="1" kern="0" spc="120" dirty="0">
                <a:solidFill>
                  <a:srgbClr val="2F7D6E"/>
                </a:solidFill>
                <a:latin typeface="Calibri" pitchFamily="34" charset="0"/>
                <a:ea typeface="Calibri" pitchFamily="34" charset="-122"/>
                <a:cs typeface="Calibri" pitchFamily="34" charset="-120"/>
              </a:rPr>
              <a:t>Meilleur </a:t>
            </a:r>
            <a:r>
              <a:rPr lang="en-US" sz="1050" b="1" kern="0" spc="120" dirty="0" err="1">
                <a:solidFill>
                  <a:srgbClr val="2F7D6E"/>
                </a:solidFill>
                <a:latin typeface="Calibri" pitchFamily="34" charset="0"/>
                <a:ea typeface="Calibri" pitchFamily="34" charset="-122"/>
                <a:cs typeface="Calibri" pitchFamily="34" charset="-120"/>
              </a:rPr>
              <a:t>profil</a:t>
            </a:r>
            <a:endParaRPr lang="en-US" sz="1050" dirty="0"/>
          </a:p>
        </p:txBody>
      </p:sp>
      <p:sp>
        <p:nvSpPr>
          <p:cNvPr id="16" name="Text 12"/>
          <p:cNvSpPr/>
          <p:nvPr/>
        </p:nvSpPr>
        <p:spPr>
          <a:xfrm>
            <a:off x="8487053" y="2121408"/>
            <a:ext cx="3173121" cy="1463040"/>
          </a:xfrm>
          <a:prstGeom prst="rect">
            <a:avLst/>
          </a:prstGeom>
          <a:noFill/>
          <a:ln/>
        </p:spPr>
        <p:txBody>
          <a:bodyPr wrap="square" lIns="0" tIns="0" rIns="0" bIns="0" rtlCol="0" anchor="ctr"/>
          <a:lstStyle/>
          <a:p>
            <a:pPr marL="0" indent="0" algn="just">
              <a:lnSpc>
                <a:spcPct val="120000"/>
              </a:lnSpc>
              <a:buNone/>
            </a:pPr>
            <a:r>
              <a:rPr lang="fr-SN" sz="1200" dirty="0">
                <a:solidFill>
                  <a:srgbClr val="1E2532"/>
                </a:solidFill>
                <a:latin typeface="Calibri" pitchFamily="34" charset="0"/>
                <a:ea typeface="Calibri" pitchFamily="34" charset="-122"/>
                <a:cs typeface="Calibri" pitchFamily="34" charset="-120"/>
              </a:rPr>
              <a:t>Thiès (36,4 %) présente le meilleur profil parmi les régions à volume significatif ; Dakar, qui concentre 456 bénéficiaires, avec 42,9% de données manquantes </a:t>
            </a:r>
            <a:endParaRPr lang="fr-SN" sz="1200" dirty="0"/>
          </a:p>
        </p:txBody>
      </p:sp>
      <p:graphicFrame>
        <p:nvGraphicFramePr>
          <p:cNvPr id="17" name="Chart 0">
            <a:extLst>
              <a:ext uri="{FF2B5EF4-FFF2-40B4-BE49-F238E27FC236}">
                <a16:creationId xmlns:a16="http://schemas.microsoft.com/office/drawing/2014/main" id="{2BC1FD76-7009-3489-4F72-3E877BBB836F}"/>
              </a:ext>
            </a:extLst>
          </p:cNvPr>
          <p:cNvGraphicFramePr/>
          <p:nvPr>
            <p:extLst>
              <p:ext uri="{D42A27DB-BD31-4B8C-83A1-F6EECF244321}">
                <p14:modId xmlns:p14="http://schemas.microsoft.com/office/powerpoint/2010/main" val="2147002647"/>
              </p:ext>
            </p:extLst>
          </p:nvPr>
        </p:nvGraphicFramePr>
        <p:xfrm>
          <a:off x="566928" y="1691640"/>
          <a:ext cx="7223760" cy="425196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4">
            <a:extLst>
              <a:ext uri="{FF2B5EF4-FFF2-40B4-BE49-F238E27FC236}">
                <a16:creationId xmlns:a16="http://schemas.microsoft.com/office/drawing/2014/main" id="{E543FF97-CCA5-CA28-AF26-C79723CF4A10}"/>
              </a:ext>
            </a:extLst>
          </p:cNvPr>
          <p:cNvSpPr/>
          <p:nvPr/>
        </p:nvSpPr>
        <p:spPr>
          <a:xfrm>
            <a:off x="10044887" y="6561646"/>
            <a:ext cx="45720" cy="45720"/>
          </a:xfrm>
          <a:prstGeom prst="ellipse">
            <a:avLst/>
          </a:prstGeom>
          <a:solidFill>
            <a:srgbClr val="C9962F"/>
          </a:solidFill>
          <a:ln/>
        </p:spPr>
      </p:sp>
      <p:sp>
        <p:nvSpPr>
          <p:cNvPr id="18" name="Shape 5">
            <a:extLst>
              <a:ext uri="{FF2B5EF4-FFF2-40B4-BE49-F238E27FC236}">
                <a16:creationId xmlns:a16="http://schemas.microsoft.com/office/drawing/2014/main" id="{2585455B-3BBF-8E5F-1E6F-3C0574F946A3}"/>
              </a:ext>
            </a:extLst>
          </p:cNvPr>
          <p:cNvSpPr/>
          <p:nvPr/>
        </p:nvSpPr>
        <p:spPr>
          <a:xfrm>
            <a:off x="9926015" y="6561646"/>
            <a:ext cx="45720" cy="45720"/>
          </a:xfrm>
          <a:prstGeom prst="ellipse">
            <a:avLst/>
          </a:prstGeom>
          <a:solidFill>
            <a:srgbClr val="C9962F"/>
          </a:solidFill>
          <a:ln/>
        </p:spPr>
      </p:sp>
      <p:sp>
        <p:nvSpPr>
          <p:cNvPr id="19" name="Shape 6">
            <a:extLst>
              <a:ext uri="{FF2B5EF4-FFF2-40B4-BE49-F238E27FC236}">
                <a16:creationId xmlns:a16="http://schemas.microsoft.com/office/drawing/2014/main" id="{04C877AF-E11D-06AB-D477-0B7C82971164}"/>
              </a:ext>
            </a:extLst>
          </p:cNvPr>
          <p:cNvSpPr/>
          <p:nvPr/>
        </p:nvSpPr>
        <p:spPr>
          <a:xfrm>
            <a:off x="9807143" y="6561646"/>
            <a:ext cx="45720" cy="45720"/>
          </a:xfrm>
          <a:prstGeom prst="ellipse">
            <a:avLst/>
          </a:prstGeom>
          <a:solidFill>
            <a:srgbClr val="C9962F"/>
          </a:solidFill>
          <a:ln/>
        </p:spPr>
      </p:sp>
      <p:sp>
        <p:nvSpPr>
          <p:cNvPr id="9" name="Text 0">
            <a:extLst>
              <a:ext uri="{FF2B5EF4-FFF2-40B4-BE49-F238E27FC236}">
                <a16:creationId xmlns:a16="http://schemas.microsoft.com/office/drawing/2014/main" id="{148B1168-F682-7E7C-292B-6506B2E0FABC}"/>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RÉSULTATS DES ANALYSES</a:t>
            </a:r>
            <a:endParaRPr lang="en-US" sz="3200" dirty="0"/>
          </a:p>
        </p:txBody>
      </p:sp>
      <p:pic>
        <p:nvPicPr>
          <p:cNvPr id="7" name="Graphique 6" descr="Ampoule et engrenage avec un remplissage uni">
            <a:extLst>
              <a:ext uri="{FF2B5EF4-FFF2-40B4-BE49-F238E27FC236}">
                <a16:creationId xmlns:a16="http://schemas.microsoft.com/office/drawing/2014/main" id="{0100EC3F-46A3-F178-C0C5-5A1FCA03631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
        <p:nvSpPr>
          <p:cNvPr id="3" name="Text 1">
            <a:extLst>
              <a:ext uri="{FF2B5EF4-FFF2-40B4-BE49-F238E27FC236}">
                <a16:creationId xmlns:a16="http://schemas.microsoft.com/office/drawing/2014/main" id="{3387F72D-86EF-0F70-09F3-7B44DF00385C}"/>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800" b="1" dirty="0">
                <a:solidFill>
                  <a:srgbClr val="082AF5"/>
                </a:solidFill>
                <a:latin typeface="Montserrat" pitchFamily="34" charset="0"/>
                <a:ea typeface="Montserrat" pitchFamily="34" charset="-122"/>
                <a:cs typeface="Montserrat" pitchFamily="34" charset="-120"/>
              </a:rPr>
              <a:t>Analyse de valeurs manquantes par région</a:t>
            </a:r>
            <a:endParaRPr lang="en-US" sz="2800" dirty="0">
              <a:solidFill>
                <a:srgbClr val="082AF5"/>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heel(1)">
                                      <p:cBhvr>
                                        <p:cTn id="7" dur="500"/>
                                        <p:tgtEl>
                                          <p:spTgt spid="19"/>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heel(1)">
                                      <p:cBhvr>
                                        <p:cTn id="11" dur="500"/>
                                        <p:tgtEl>
                                          <p:spTgt spid="18"/>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08 / 21</a:t>
            </a:r>
            <a:endParaRPr lang="en-US" sz="900" dirty="0"/>
          </a:p>
        </p:txBody>
      </p:sp>
      <p:sp>
        <p:nvSpPr>
          <p:cNvPr id="10" name="Text 7"/>
          <p:cNvSpPr/>
          <p:nvPr/>
        </p:nvSpPr>
        <p:spPr>
          <a:xfrm>
            <a:off x="2898648" y="1691640"/>
            <a:ext cx="1545336" cy="347472"/>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2021</a:t>
            </a:r>
            <a:endParaRPr lang="en-US" sz="1200" dirty="0"/>
          </a:p>
        </p:txBody>
      </p:sp>
      <p:sp>
        <p:nvSpPr>
          <p:cNvPr id="11" name="Text 8"/>
          <p:cNvSpPr/>
          <p:nvPr/>
        </p:nvSpPr>
        <p:spPr>
          <a:xfrm>
            <a:off x="4443984" y="1691640"/>
            <a:ext cx="1545336" cy="347472"/>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2022</a:t>
            </a:r>
            <a:endParaRPr lang="en-US" sz="1200" dirty="0"/>
          </a:p>
        </p:txBody>
      </p:sp>
      <p:sp>
        <p:nvSpPr>
          <p:cNvPr id="12" name="Text 9"/>
          <p:cNvSpPr/>
          <p:nvPr/>
        </p:nvSpPr>
        <p:spPr>
          <a:xfrm>
            <a:off x="5989320" y="1691640"/>
            <a:ext cx="1545336" cy="347472"/>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2023</a:t>
            </a:r>
            <a:endParaRPr lang="en-US" sz="1200" dirty="0"/>
          </a:p>
        </p:txBody>
      </p:sp>
      <p:sp>
        <p:nvSpPr>
          <p:cNvPr id="13" name="Text 10"/>
          <p:cNvSpPr/>
          <p:nvPr/>
        </p:nvSpPr>
        <p:spPr>
          <a:xfrm>
            <a:off x="7534656" y="1691640"/>
            <a:ext cx="1545336" cy="347472"/>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2024</a:t>
            </a:r>
            <a:endParaRPr lang="en-US" sz="1200" dirty="0"/>
          </a:p>
        </p:txBody>
      </p:sp>
      <p:sp>
        <p:nvSpPr>
          <p:cNvPr id="14" name="Text 11"/>
          <p:cNvSpPr/>
          <p:nvPr/>
        </p:nvSpPr>
        <p:spPr>
          <a:xfrm>
            <a:off x="9079992" y="1691640"/>
            <a:ext cx="1545336" cy="347472"/>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2025</a:t>
            </a:r>
            <a:endParaRPr lang="en-US" sz="1200" dirty="0"/>
          </a:p>
        </p:txBody>
      </p:sp>
      <p:sp>
        <p:nvSpPr>
          <p:cNvPr id="15" name="Text 12"/>
          <p:cNvSpPr/>
          <p:nvPr/>
        </p:nvSpPr>
        <p:spPr>
          <a:xfrm>
            <a:off x="566928" y="2039112"/>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Nom PPE</a:t>
            </a:r>
            <a:endParaRPr lang="en-US" sz="1150" dirty="0"/>
          </a:p>
        </p:txBody>
      </p:sp>
      <p:sp>
        <p:nvSpPr>
          <p:cNvPr id="16" name="Shape 13"/>
          <p:cNvSpPr/>
          <p:nvPr/>
        </p:nvSpPr>
        <p:spPr>
          <a:xfrm>
            <a:off x="2935224" y="2084832"/>
            <a:ext cx="1472184" cy="402336"/>
          </a:xfrm>
          <a:prstGeom prst="roundRect">
            <a:avLst>
              <a:gd name="adj" fmla="val 9091"/>
            </a:avLst>
          </a:prstGeom>
          <a:solidFill>
            <a:srgbClr val="F4DFDA"/>
          </a:solidFill>
          <a:ln/>
        </p:spPr>
      </p:sp>
      <p:sp>
        <p:nvSpPr>
          <p:cNvPr id="17" name="Text 14"/>
          <p:cNvSpPr/>
          <p:nvPr/>
        </p:nvSpPr>
        <p:spPr>
          <a:xfrm>
            <a:off x="2898648" y="208483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93,3%</a:t>
            </a:r>
            <a:endParaRPr lang="en-US" sz="1100" dirty="0"/>
          </a:p>
        </p:txBody>
      </p:sp>
      <p:sp>
        <p:nvSpPr>
          <p:cNvPr id="18" name="Shape 15"/>
          <p:cNvSpPr/>
          <p:nvPr/>
        </p:nvSpPr>
        <p:spPr>
          <a:xfrm>
            <a:off x="4480560" y="2084832"/>
            <a:ext cx="1472184" cy="402336"/>
          </a:xfrm>
          <a:prstGeom prst="roundRect">
            <a:avLst>
              <a:gd name="adj" fmla="val 9091"/>
            </a:avLst>
          </a:prstGeom>
          <a:solidFill>
            <a:srgbClr val="F4DEDB"/>
          </a:solidFill>
          <a:ln/>
        </p:spPr>
      </p:sp>
      <p:sp>
        <p:nvSpPr>
          <p:cNvPr id="19" name="Text 16"/>
          <p:cNvSpPr/>
          <p:nvPr/>
        </p:nvSpPr>
        <p:spPr>
          <a:xfrm>
            <a:off x="4443984" y="208483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95,3%</a:t>
            </a:r>
            <a:endParaRPr lang="en-US" sz="1100" dirty="0"/>
          </a:p>
        </p:txBody>
      </p:sp>
      <p:sp>
        <p:nvSpPr>
          <p:cNvPr id="20" name="Shape 17"/>
          <p:cNvSpPr/>
          <p:nvPr/>
        </p:nvSpPr>
        <p:spPr>
          <a:xfrm>
            <a:off x="6025896" y="2084832"/>
            <a:ext cx="1472184" cy="402336"/>
          </a:xfrm>
          <a:prstGeom prst="roundRect">
            <a:avLst>
              <a:gd name="adj" fmla="val 9091"/>
            </a:avLst>
          </a:prstGeom>
          <a:solidFill>
            <a:srgbClr val="F4DEDD"/>
          </a:solidFill>
          <a:ln/>
        </p:spPr>
      </p:sp>
      <p:sp>
        <p:nvSpPr>
          <p:cNvPr id="21" name="Text 18"/>
          <p:cNvSpPr/>
          <p:nvPr/>
        </p:nvSpPr>
        <p:spPr>
          <a:xfrm>
            <a:off x="5989320" y="208483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98,2%</a:t>
            </a:r>
            <a:endParaRPr lang="en-US" sz="1100" dirty="0"/>
          </a:p>
        </p:txBody>
      </p:sp>
      <p:sp>
        <p:nvSpPr>
          <p:cNvPr id="22" name="Shape 19"/>
          <p:cNvSpPr/>
          <p:nvPr/>
        </p:nvSpPr>
        <p:spPr>
          <a:xfrm>
            <a:off x="7571232" y="2084832"/>
            <a:ext cx="1472184" cy="402336"/>
          </a:xfrm>
          <a:prstGeom prst="roundRect">
            <a:avLst>
              <a:gd name="adj" fmla="val 9091"/>
            </a:avLst>
          </a:prstGeom>
          <a:solidFill>
            <a:srgbClr val="F4DEDE"/>
          </a:solidFill>
          <a:ln/>
        </p:spPr>
      </p:sp>
      <p:sp>
        <p:nvSpPr>
          <p:cNvPr id="23" name="Text 20"/>
          <p:cNvSpPr/>
          <p:nvPr/>
        </p:nvSpPr>
        <p:spPr>
          <a:xfrm>
            <a:off x="7534656" y="208483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endParaRPr lang="en-US" sz="1100" dirty="0"/>
          </a:p>
        </p:txBody>
      </p:sp>
      <p:sp>
        <p:nvSpPr>
          <p:cNvPr id="24" name="Shape 21"/>
          <p:cNvSpPr/>
          <p:nvPr/>
        </p:nvSpPr>
        <p:spPr>
          <a:xfrm>
            <a:off x="9116568" y="2084832"/>
            <a:ext cx="1472184" cy="402336"/>
          </a:xfrm>
          <a:prstGeom prst="roundRect">
            <a:avLst>
              <a:gd name="adj" fmla="val 9091"/>
            </a:avLst>
          </a:prstGeom>
          <a:solidFill>
            <a:srgbClr val="F4DEDD"/>
          </a:solidFill>
          <a:ln/>
        </p:spPr>
      </p:sp>
      <p:sp>
        <p:nvSpPr>
          <p:cNvPr id="25" name="Text 22"/>
          <p:cNvSpPr/>
          <p:nvPr/>
        </p:nvSpPr>
        <p:spPr>
          <a:xfrm>
            <a:off x="9079992" y="208483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97,4%</a:t>
            </a:r>
            <a:endParaRPr lang="en-US" sz="1100" dirty="0"/>
          </a:p>
        </p:txBody>
      </p:sp>
      <p:sp>
        <p:nvSpPr>
          <p:cNvPr id="26" name="Text 23"/>
          <p:cNvSpPr/>
          <p:nvPr/>
        </p:nvSpPr>
        <p:spPr>
          <a:xfrm>
            <a:off x="566928" y="2532888"/>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Est une PPE</a:t>
            </a:r>
            <a:endParaRPr lang="en-US" sz="1150" dirty="0"/>
          </a:p>
        </p:txBody>
      </p:sp>
      <p:sp>
        <p:nvSpPr>
          <p:cNvPr id="27" name="Shape 24"/>
          <p:cNvSpPr/>
          <p:nvPr/>
        </p:nvSpPr>
        <p:spPr>
          <a:xfrm>
            <a:off x="2935224" y="2578608"/>
            <a:ext cx="1472184" cy="402336"/>
          </a:xfrm>
          <a:prstGeom prst="roundRect">
            <a:avLst>
              <a:gd name="adj" fmla="val 9091"/>
            </a:avLst>
          </a:prstGeom>
          <a:solidFill>
            <a:srgbClr val="F4DFDA"/>
          </a:solidFill>
          <a:ln/>
        </p:spPr>
      </p:sp>
      <p:sp>
        <p:nvSpPr>
          <p:cNvPr id="28" name="Text 25"/>
          <p:cNvSpPr/>
          <p:nvPr/>
        </p:nvSpPr>
        <p:spPr>
          <a:xfrm>
            <a:off x="2898648" y="2578608"/>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93,3%</a:t>
            </a:r>
            <a:endParaRPr lang="en-US" sz="1100" dirty="0"/>
          </a:p>
        </p:txBody>
      </p:sp>
      <p:sp>
        <p:nvSpPr>
          <p:cNvPr id="29" name="Shape 26"/>
          <p:cNvSpPr/>
          <p:nvPr/>
        </p:nvSpPr>
        <p:spPr>
          <a:xfrm>
            <a:off x="4480560" y="2578608"/>
            <a:ext cx="1472184" cy="402336"/>
          </a:xfrm>
          <a:prstGeom prst="roundRect">
            <a:avLst>
              <a:gd name="adj" fmla="val 9091"/>
            </a:avLst>
          </a:prstGeom>
          <a:solidFill>
            <a:srgbClr val="F4DFDB"/>
          </a:solidFill>
          <a:ln/>
        </p:spPr>
      </p:sp>
      <p:sp>
        <p:nvSpPr>
          <p:cNvPr id="30" name="Text 27"/>
          <p:cNvSpPr/>
          <p:nvPr/>
        </p:nvSpPr>
        <p:spPr>
          <a:xfrm>
            <a:off x="4443984" y="2578608"/>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94,1%</a:t>
            </a:r>
            <a:endParaRPr lang="en-US" sz="1100" dirty="0"/>
          </a:p>
        </p:txBody>
      </p:sp>
      <p:sp>
        <p:nvSpPr>
          <p:cNvPr id="31" name="Shape 28"/>
          <p:cNvSpPr/>
          <p:nvPr/>
        </p:nvSpPr>
        <p:spPr>
          <a:xfrm>
            <a:off x="6025896" y="2578608"/>
            <a:ext cx="1472184" cy="402336"/>
          </a:xfrm>
          <a:prstGeom prst="roundRect">
            <a:avLst>
              <a:gd name="adj" fmla="val 9091"/>
            </a:avLst>
          </a:prstGeom>
          <a:solidFill>
            <a:srgbClr val="F4DEDD"/>
          </a:solidFill>
          <a:ln/>
        </p:spPr>
      </p:sp>
      <p:sp>
        <p:nvSpPr>
          <p:cNvPr id="32" name="Text 29"/>
          <p:cNvSpPr/>
          <p:nvPr/>
        </p:nvSpPr>
        <p:spPr>
          <a:xfrm>
            <a:off x="5989320" y="2578608"/>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98,2%</a:t>
            </a:r>
            <a:endParaRPr lang="en-US" sz="1100" dirty="0"/>
          </a:p>
        </p:txBody>
      </p:sp>
      <p:sp>
        <p:nvSpPr>
          <p:cNvPr id="33" name="Shape 30"/>
          <p:cNvSpPr/>
          <p:nvPr/>
        </p:nvSpPr>
        <p:spPr>
          <a:xfrm>
            <a:off x="7571232" y="2578608"/>
            <a:ext cx="1472184" cy="402336"/>
          </a:xfrm>
          <a:prstGeom prst="roundRect">
            <a:avLst>
              <a:gd name="adj" fmla="val 9091"/>
            </a:avLst>
          </a:prstGeom>
          <a:solidFill>
            <a:srgbClr val="F4DEDE"/>
          </a:solidFill>
          <a:ln/>
        </p:spPr>
      </p:sp>
      <p:sp>
        <p:nvSpPr>
          <p:cNvPr id="34" name="Text 31"/>
          <p:cNvSpPr/>
          <p:nvPr/>
        </p:nvSpPr>
        <p:spPr>
          <a:xfrm>
            <a:off x="7534656" y="2578608"/>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endParaRPr lang="en-US" sz="1100" dirty="0"/>
          </a:p>
        </p:txBody>
      </p:sp>
      <p:sp>
        <p:nvSpPr>
          <p:cNvPr id="35" name="Shape 32"/>
          <p:cNvSpPr/>
          <p:nvPr/>
        </p:nvSpPr>
        <p:spPr>
          <a:xfrm>
            <a:off x="9116568" y="2578608"/>
            <a:ext cx="1472184" cy="402336"/>
          </a:xfrm>
          <a:prstGeom prst="roundRect">
            <a:avLst>
              <a:gd name="adj" fmla="val 9091"/>
            </a:avLst>
          </a:prstGeom>
          <a:solidFill>
            <a:srgbClr val="EAF4F1"/>
          </a:solidFill>
          <a:ln/>
        </p:spPr>
      </p:sp>
      <p:sp>
        <p:nvSpPr>
          <p:cNvPr id="36" name="Text 33"/>
          <p:cNvSpPr/>
          <p:nvPr/>
        </p:nvSpPr>
        <p:spPr>
          <a:xfrm>
            <a:off x="9079992" y="2578608"/>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2,6%</a:t>
            </a:r>
            <a:endParaRPr lang="en-US" sz="1100" dirty="0"/>
          </a:p>
        </p:txBody>
      </p:sp>
      <p:sp>
        <p:nvSpPr>
          <p:cNvPr id="37" name="Text 34"/>
          <p:cNvSpPr/>
          <p:nvPr/>
        </p:nvSpPr>
        <p:spPr>
          <a:xfrm>
            <a:off x="566928" y="3026664"/>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 Voix direct</a:t>
            </a:r>
            <a:endParaRPr lang="en-US" sz="1150" dirty="0"/>
          </a:p>
        </p:txBody>
      </p:sp>
      <p:sp>
        <p:nvSpPr>
          <p:cNvPr id="38" name="Shape 35"/>
          <p:cNvSpPr/>
          <p:nvPr/>
        </p:nvSpPr>
        <p:spPr>
          <a:xfrm>
            <a:off x="2935224" y="3072384"/>
            <a:ext cx="1472184" cy="402336"/>
          </a:xfrm>
          <a:prstGeom prst="roundRect">
            <a:avLst>
              <a:gd name="adj" fmla="val 9091"/>
            </a:avLst>
          </a:prstGeom>
          <a:solidFill>
            <a:srgbClr val="F1E3C3"/>
          </a:solidFill>
          <a:ln/>
        </p:spPr>
      </p:sp>
      <p:sp>
        <p:nvSpPr>
          <p:cNvPr id="39" name="Text 36"/>
          <p:cNvSpPr/>
          <p:nvPr/>
        </p:nvSpPr>
        <p:spPr>
          <a:xfrm>
            <a:off x="2898648" y="3072384"/>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51,7%</a:t>
            </a:r>
            <a:endParaRPr lang="en-US" sz="1100" dirty="0"/>
          </a:p>
        </p:txBody>
      </p:sp>
      <p:sp>
        <p:nvSpPr>
          <p:cNvPr id="40" name="Shape 37"/>
          <p:cNvSpPr/>
          <p:nvPr/>
        </p:nvSpPr>
        <p:spPr>
          <a:xfrm>
            <a:off x="4480560" y="3072384"/>
            <a:ext cx="1472184" cy="402336"/>
          </a:xfrm>
          <a:prstGeom prst="roundRect">
            <a:avLst>
              <a:gd name="adj" fmla="val 9091"/>
            </a:avLst>
          </a:prstGeom>
          <a:solidFill>
            <a:srgbClr val="E5E9D7"/>
          </a:solidFill>
          <a:ln/>
        </p:spPr>
      </p:sp>
      <p:sp>
        <p:nvSpPr>
          <p:cNvPr id="41" name="Text 38"/>
          <p:cNvSpPr/>
          <p:nvPr/>
        </p:nvSpPr>
        <p:spPr>
          <a:xfrm>
            <a:off x="4443984" y="3072384"/>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22,5%</a:t>
            </a:r>
            <a:endParaRPr lang="en-US" sz="1100" dirty="0"/>
          </a:p>
        </p:txBody>
      </p:sp>
      <p:sp>
        <p:nvSpPr>
          <p:cNvPr id="42" name="Shape 39"/>
          <p:cNvSpPr/>
          <p:nvPr/>
        </p:nvSpPr>
        <p:spPr>
          <a:xfrm>
            <a:off x="6025896" y="3072384"/>
            <a:ext cx="1472184" cy="402336"/>
          </a:xfrm>
          <a:prstGeom prst="roundRect">
            <a:avLst>
              <a:gd name="adj" fmla="val 9091"/>
            </a:avLst>
          </a:prstGeom>
          <a:solidFill>
            <a:srgbClr val="F2E2C8"/>
          </a:solidFill>
          <a:ln/>
        </p:spPr>
      </p:sp>
      <p:sp>
        <p:nvSpPr>
          <p:cNvPr id="43" name="Text 40"/>
          <p:cNvSpPr/>
          <p:nvPr/>
        </p:nvSpPr>
        <p:spPr>
          <a:xfrm>
            <a:off x="5989320" y="3072384"/>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60,3%</a:t>
            </a:r>
            <a:endParaRPr lang="en-US" sz="1100" dirty="0"/>
          </a:p>
        </p:txBody>
      </p:sp>
      <p:sp>
        <p:nvSpPr>
          <p:cNvPr id="44" name="Shape 41"/>
          <p:cNvSpPr/>
          <p:nvPr/>
        </p:nvSpPr>
        <p:spPr>
          <a:xfrm>
            <a:off x="7571232" y="3072384"/>
            <a:ext cx="1472184" cy="402336"/>
          </a:xfrm>
          <a:prstGeom prst="roundRect">
            <a:avLst>
              <a:gd name="adj" fmla="val 9091"/>
            </a:avLst>
          </a:prstGeom>
          <a:solidFill>
            <a:srgbClr val="E6E9D7"/>
          </a:solidFill>
          <a:ln/>
        </p:spPr>
      </p:sp>
      <p:sp>
        <p:nvSpPr>
          <p:cNvPr id="45" name="Text 42"/>
          <p:cNvSpPr/>
          <p:nvPr/>
        </p:nvSpPr>
        <p:spPr>
          <a:xfrm>
            <a:off x="7534656" y="3072384"/>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23,5%</a:t>
            </a:r>
            <a:endParaRPr lang="en-US" sz="1100" dirty="0"/>
          </a:p>
        </p:txBody>
      </p:sp>
      <p:sp>
        <p:nvSpPr>
          <p:cNvPr id="46" name="Shape 43"/>
          <p:cNvSpPr/>
          <p:nvPr/>
        </p:nvSpPr>
        <p:spPr>
          <a:xfrm>
            <a:off x="9116568" y="3072384"/>
            <a:ext cx="1472184" cy="402336"/>
          </a:xfrm>
          <a:prstGeom prst="roundRect">
            <a:avLst>
              <a:gd name="adj" fmla="val 9091"/>
            </a:avLst>
          </a:prstGeom>
          <a:solidFill>
            <a:srgbClr val="F0E4C4"/>
          </a:solidFill>
          <a:ln/>
        </p:spPr>
      </p:sp>
      <p:sp>
        <p:nvSpPr>
          <p:cNvPr id="47" name="Text 44"/>
          <p:cNvSpPr/>
          <p:nvPr/>
        </p:nvSpPr>
        <p:spPr>
          <a:xfrm>
            <a:off x="9079992" y="3072384"/>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46,8%</a:t>
            </a:r>
            <a:endParaRPr lang="en-US" sz="1100" dirty="0"/>
          </a:p>
        </p:txBody>
      </p:sp>
      <p:sp>
        <p:nvSpPr>
          <p:cNvPr id="48" name="Text 45"/>
          <p:cNvSpPr/>
          <p:nvPr/>
        </p:nvSpPr>
        <p:spPr>
          <a:xfrm>
            <a:off x="566928" y="3520440"/>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 Action direct</a:t>
            </a:r>
            <a:endParaRPr lang="en-US" sz="1150" dirty="0"/>
          </a:p>
        </p:txBody>
      </p:sp>
      <p:sp>
        <p:nvSpPr>
          <p:cNvPr id="49" name="Shape 46"/>
          <p:cNvSpPr/>
          <p:nvPr/>
        </p:nvSpPr>
        <p:spPr>
          <a:xfrm>
            <a:off x="2935224" y="3566160"/>
            <a:ext cx="1472184" cy="402336"/>
          </a:xfrm>
          <a:prstGeom prst="roundRect">
            <a:avLst>
              <a:gd name="adj" fmla="val 9091"/>
            </a:avLst>
          </a:prstGeom>
          <a:solidFill>
            <a:srgbClr val="E4EAD9"/>
          </a:solidFill>
          <a:ln/>
        </p:spPr>
      </p:sp>
      <p:sp>
        <p:nvSpPr>
          <p:cNvPr id="50" name="Text 47"/>
          <p:cNvSpPr/>
          <p:nvPr/>
        </p:nvSpPr>
        <p:spPr>
          <a:xfrm>
            <a:off x="2898648" y="3566160"/>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20%</a:t>
            </a:r>
            <a:endParaRPr lang="en-US" sz="1100" dirty="0"/>
          </a:p>
        </p:txBody>
      </p:sp>
      <p:sp>
        <p:nvSpPr>
          <p:cNvPr id="51" name="Shape 48"/>
          <p:cNvSpPr/>
          <p:nvPr/>
        </p:nvSpPr>
        <p:spPr>
          <a:xfrm>
            <a:off x="4480560" y="3566160"/>
            <a:ext cx="1472184" cy="402336"/>
          </a:xfrm>
          <a:prstGeom prst="roundRect">
            <a:avLst>
              <a:gd name="adj" fmla="val 9091"/>
            </a:avLst>
          </a:prstGeom>
          <a:solidFill>
            <a:srgbClr val="E1ECE0"/>
          </a:solidFill>
          <a:ln/>
        </p:spPr>
      </p:sp>
      <p:sp>
        <p:nvSpPr>
          <p:cNvPr id="52" name="Text 49"/>
          <p:cNvSpPr/>
          <p:nvPr/>
        </p:nvSpPr>
        <p:spPr>
          <a:xfrm>
            <a:off x="4443984" y="3566160"/>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11,2%</a:t>
            </a:r>
            <a:endParaRPr lang="en-US" sz="1100" dirty="0"/>
          </a:p>
        </p:txBody>
      </p:sp>
      <p:sp>
        <p:nvSpPr>
          <p:cNvPr id="53" name="Shape 50"/>
          <p:cNvSpPr/>
          <p:nvPr/>
        </p:nvSpPr>
        <p:spPr>
          <a:xfrm>
            <a:off x="6025896" y="3566160"/>
            <a:ext cx="1472184" cy="402336"/>
          </a:xfrm>
          <a:prstGeom prst="roundRect">
            <a:avLst>
              <a:gd name="adj" fmla="val 9091"/>
            </a:avLst>
          </a:prstGeom>
          <a:solidFill>
            <a:srgbClr val="EEE5C8"/>
          </a:solidFill>
          <a:ln/>
        </p:spPr>
      </p:sp>
      <p:sp>
        <p:nvSpPr>
          <p:cNvPr id="54" name="Text 51"/>
          <p:cNvSpPr/>
          <p:nvPr/>
        </p:nvSpPr>
        <p:spPr>
          <a:xfrm>
            <a:off x="5989320" y="3566160"/>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42,9%</a:t>
            </a:r>
            <a:endParaRPr lang="en-US" sz="1100" dirty="0"/>
          </a:p>
        </p:txBody>
      </p:sp>
      <p:sp>
        <p:nvSpPr>
          <p:cNvPr id="55" name="Shape 52"/>
          <p:cNvSpPr/>
          <p:nvPr/>
        </p:nvSpPr>
        <p:spPr>
          <a:xfrm>
            <a:off x="7571232" y="3566160"/>
            <a:ext cx="1472184" cy="402336"/>
          </a:xfrm>
          <a:prstGeom prst="roundRect">
            <a:avLst>
              <a:gd name="adj" fmla="val 9091"/>
            </a:avLst>
          </a:prstGeom>
          <a:solidFill>
            <a:srgbClr val="E2EBDE"/>
          </a:solidFill>
          <a:ln/>
        </p:spPr>
      </p:sp>
      <p:sp>
        <p:nvSpPr>
          <p:cNvPr id="56" name="Text 53"/>
          <p:cNvSpPr/>
          <p:nvPr/>
        </p:nvSpPr>
        <p:spPr>
          <a:xfrm>
            <a:off x="7534656" y="3566160"/>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14,3%</a:t>
            </a:r>
            <a:endParaRPr lang="en-US" sz="1100" dirty="0"/>
          </a:p>
        </p:txBody>
      </p:sp>
      <p:sp>
        <p:nvSpPr>
          <p:cNvPr id="57" name="Shape 54"/>
          <p:cNvSpPr/>
          <p:nvPr/>
        </p:nvSpPr>
        <p:spPr>
          <a:xfrm>
            <a:off x="9116568" y="3566160"/>
            <a:ext cx="1472184" cy="402336"/>
          </a:xfrm>
          <a:prstGeom prst="roundRect">
            <a:avLst>
              <a:gd name="adj" fmla="val 9091"/>
            </a:avLst>
          </a:prstGeom>
          <a:solidFill>
            <a:srgbClr val="ECE6CC"/>
          </a:solidFill>
          <a:ln/>
        </p:spPr>
      </p:sp>
      <p:sp>
        <p:nvSpPr>
          <p:cNvPr id="58" name="Text 55"/>
          <p:cNvSpPr/>
          <p:nvPr/>
        </p:nvSpPr>
        <p:spPr>
          <a:xfrm>
            <a:off x="9079992" y="3566160"/>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37,7%</a:t>
            </a:r>
            <a:endParaRPr lang="en-US" sz="1100" dirty="0"/>
          </a:p>
        </p:txBody>
      </p:sp>
      <p:sp>
        <p:nvSpPr>
          <p:cNvPr id="59" name="Text 56"/>
          <p:cNvSpPr/>
          <p:nvPr/>
        </p:nvSpPr>
        <p:spPr>
          <a:xfrm>
            <a:off x="566928" y="4014216"/>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Fonction PPE</a:t>
            </a:r>
            <a:endParaRPr lang="en-US" sz="1150" dirty="0"/>
          </a:p>
        </p:txBody>
      </p:sp>
      <p:sp>
        <p:nvSpPr>
          <p:cNvPr id="60" name="Shape 57"/>
          <p:cNvSpPr/>
          <p:nvPr/>
        </p:nvSpPr>
        <p:spPr>
          <a:xfrm>
            <a:off x="2935224" y="4059936"/>
            <a:ext cx="1472184" cy="402336"/>
          </a:xfrm>
          <a:prstGeom prst="roundRect">
            <a:avLst>
              <a:gd name="adj" fmla="val 9091"/>
            </a:avLst>
          </a:prstGeom>
          <a:solidFill>
            <a:srgbClr val="EAF4F1"/>
          </a:solidFill>
          <a:ln/>
        </p:spPr>
      </p:sp>
      <p:sp>
        <p:nvSpPr>
          <p:cNvPr id="61" name="Text 58"/>
          <p:cNvSpPr/>
          <p:nvPr/>
        </p:nvSpPr>
        <p:spPr>
          <a:xfrm>
            <a:off x="2898648" y="4059936"/>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endParaRPr lang="en-US" sz="1100" dirty="0"/>
          </a:p>
        </p:txBody>
      </p:sp>
      <p:sp>
        <p:nvSpPr>
          <p:cNvPr id="62" name="Shape 59"/>
          <p:cNvSpPr/>
          <p:nvPr/>
        </p:nvSpPr>
        <p:spPr>
          <a:xfrm>
            <a:off x="4480560" y="4059936"/>
            <a:ext cx="1472184" cy="402336"/>
          </a:xfrm>
          <a:prstGeom prst="roundRect">
            <a:avLst>
              <a:gd name="adj" fmla="val 9091"/>
            </a:avLst>
          </a:prstGeom>
          <a:solidFill>
            <a:srgbClr val="EAF4F1"/>
          </a:solidFill>
          <a:ln/>
        </p:spPr>
      </p:sp>
      <p:sp>
        <p:nvSpPr>
          <p:cNvPr id="63" name="Text 60"/>
          <p:cNvSpPr/>
          <p:nvPr/>
        </p:nvSpPr>
        <p:spPr>
          <a:xfrm>
            <a:off x="4443984" y="4059936"/>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0,6%</a:t>
            </a:r>
            <a:endParaRPr lang="en-US" sz="1100" dirty="0"/>
          </a:p>
        </p:txBody>
      </p:sp>
      <p:sp>
        <p:nvSpPr>
          <p:cNvPr id="64" name="Shape 61"/>
          <p:cNvSpPr/>
          <p:nvPr/>
        </p:nvSpPr>
        <p:spPr>
          <a:xfrm>
            <a:off x="6025896" y="4059936"/>
            <a:ext cx="1472184" cy="402336"/>
          </a:xfrm>
          <a:prstGeom prst="roundRect">
            <a:avLst>
              <a:gd name="adj" fmla="val 9091"/>
            </a:avLst>
          </a:prstGeom>
          <a:solidFill>
            <a:srgbClr val="EAF4F1"/>
          </a:solidFill>
          <a:ln/>
        </p:spPr>
      </p:sp>
      <p:sp>
        <p:nvSpPr>
          <p:cNvPr id="65" name="Text 62"/>
          <p:cNvSpPr/>
          <p:nvPr/>
        </p:nvSpPr>
        <p:spPr>
          <a:xfrm>
            <a:off x="5989320" y="4059936"/>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0,4%</a:t>
            </a:r>
            <a:endParaRPr lang="en-US" sz="1100" dirty="0"/>
          </a:p>
        </p:txBody>
      </p:sp>
      <p:sp>
        <p:nvSpPr>
          <p:cNvPr id="66" name="Shape 63"/>
          <p:cNvSpPr/>
          <p:nvPr/>
        </p:nvSpPr>
        <p:spPr>
          <a:xfrm>
            <a:off x="7571232" y="4059936"/>
            <a:ext cx="1472184" cy="402336"/>
          </a:xfrm>
          <a:prstGeom prst="roundRect">
            <a:avLst>
              <a:gd name="adj" fmla="val 9091"/>
            </a:avLst>
          </a:prstGeom>
          <a:solidFill>
            <a:srgbClr val="EAF4F1"/>
          </a:solidFill>
          <a:ln/>
        </p:spPr>
      </p:sp>
      <p:sp>
        <p:nvSpPr>
          <p:cNvPr id="67" name="Text 64"/>
          <p:cNvSpPr/>
          <p:nvPr/>
        </p:nvSpPr>
        <p:spPr>
          <a:xfrm>
            <a:off x="7534656" y="4059936"/>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4,1%</a:t>
            </a:r>
            <a:endParaRPr lang="en-US" sz="1100" dirty="0"/>
          </a:p>
        </p:txBody>
      </p:sp>
      <p:sp>
        <p:nvSpPr>
          <p:cNvPr id="68" name="Shape 65"/>
          <p:cNvSpPr/>
          <p:nvPr/>
        </p:nvSpPr>
        <p:spPr>
          <a:xfrm>
            <a:off x="9116568" y="4059936"/>
            <a:ext cx="1472184" cy="402336"/>
          </a:xfrm>
          <a:prstGeom prst="roundRect">
            <a:avLst>
              <a:gd name="adj" fmla="val 9091"/>
            </a:avLst>
          </a:prstGeom>
          <a:solidFill>
            <a:srgbClr val="F4DEDD"/>
          </a:solidFill>
          <a:ln/>
        </p:spPr>
      </p:sp>
      <p:sp>
        <p:nvSpPr>
          <p:cNvPr id="69" name="Text 66"/>
          <p:cNvSpPr/>
          <p:nvPr/>
        </p:nvSpPr>
        <p:spPr>
          <a:xfrm>
            <a:off x="9079992" y="4059936"/>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97,4%</a:t>
            </a:r>
            <a:endParaRPr lang="en-US" sz="1100" dirty="0"/>
          </a:p>
        </p:txBody>
      </p:sp>
      <p:sp>
        <p:nvSpPr>
          <p:cNvPr id="70" name="Text 67"/>
          <p:cNvSpPr/>
          <p:nvPr/>
        </p:nvSpPr>
        <p:spPr>
          <a:xfrm>
            <a:off x="566928" y="4507992"/>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Pays résidence</a:t>
            </a:r>
            <a:endParaRPr lang="en-US" sz="1150" dirty="0"/>
          </a:p>
        </p:txBody>
      </p:sp>
      <p:sp>
        <p:nvSpPr>
          <p:cNvPr id="71" name="Shape 68"/>
          <p:cNvSpPr/>
          <p:nvPr/>
        </p:nvSpPr>
        <p:spPr>
          <a:xfrm>
            <a:off x="2935224" y="4553712"/>
            <a:ext cx="1472184" cy="402336"/>
          </a:xfrm>
          <a:prstGeom prst="roundRect">
            <a:avLst>
              <a:gd name="adj" fmla="val 9091"/>
            </a:avLst>
          </a:prstGeom>
          <a:solidFill>
            <a:srgbClr val="EAF4F1"/>
          </a:solidFill>
          <a:ln/>
        </p:spPr>
      </p:sp>
      <p:sp>
        <p:nvSpPr>
          <p:cNvPr id="72" name="Text 69"/>
          <p:cNvSpPr/>
          <p:nvPr/>
        </p:nvSpPr>
        <p:spPr>
          <a:xfrm>
            <a:off x="2898648" y="455371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endParaRPr lang="en-US" sz="1100" dirty="0"/>
          </a:p>
        </p:txBody>
      </p:sp>
      <p:sp>
        <p:nvSpPr>
          <p:cNvPr id="73" name="Shape 70"/>
          <p:cNvSpPr/>
          <p:nvPr/>
        </p:nvSpPr>
        <p:spPr>
          <a:xfrm>
            <a:off x="4480560" y="4553712"/>
            <a:ext cx="1472184" cy="402336"/>
          </a:xfrm>
          <a:prstGeom prst="roundRect">
            <a:avLst>
              <a:gd name="adj" fmla="val 9091"/>
            </a:avLst>
          </a:prstGeom>
          <a:solidFill>
            <a:srgbClr val="EAF4F1"/>
          </a:solidFill>
          <a:ln/>
        </p:spPr>
      </p:sp>
      <p:sp>
        <p:nvSpPr>
          <p:cNvPr id="74" name="Text 71"/>
          <p:cNvSpPr/>
          <p:nvPr/>
        </p:nvSpPr>
        <p:spPr>
          <a:xfrm>
            <a:off x="4443984" y="455371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endParaRPr lang="en-US" sz="1100" dirty="0"/>
          </a:p>
        </p:txBody>
      </p:sp>
      <p:sp>
        <p:nvSpPr>
          <p:cNvPr id="75" name="Shape 72"/>
          <p:cNvSpPr/>
          <p:nvPr/>
        </p:nvSpPr>
        <p:spPr>
          <a:xfrm>
            <a:off x="6025896" y="4553712"/>
            <a:ext cx="1472184" cy="402336"/>
          </a:xfrm>
          <a:prstGeom prst="roundRect">
            <a:avLst>
              <a:gd name="adj" fmla="val 9091"/>
            </a:avLst>
          </a:prstGeom>
          <a:solidFill>
            <a:srgbClr val="EAF4F1"/>
          </a:solidFill>
          <a:ln/>
        </p:spPr>
      </p:sp>
      <p:sp>
        <p:nvSpPr>
          <p:cNvPr id="76" name="Text 73"/>
          <p:cNvSpPr/>
          <p:nvPr/>
        </p:nvSpPr>
        <p:spPr>
          <a:xfrm>
            <a:off x="5989320" y="455371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endParaRPr lang="en-US" sz="1100" dirty="0"/>
          </a:p>
        </p:txBody>
      </p:sp>
      <p:sp>
        <p:nvSpPr>
          <p:cNvPr id="77" name="Shape 74"/>
          <p:cNvSpPr/>
          <p:nvPr/>
        </p:nvSpPr>
        <p:spPr>
          <a:xfrm>
            <a:off x="7571232" y="4553712"/>
            <a:ext cx="1472184" cy="402336"/>
          </a:xfrm>
          <a:prstGeom prst="roundRect">
            <a:avLst>
              <a:gd name="adj" fmla="val 9091"/>
            </a:avLst>
          </a:prstGeom>
          <a:solidFill>
            <a:srgbClr val="EAF4F1"/>
          </a:solidFill>
          <a:ln/>
        </p:spPr>
      </p:sp>
      <p:sp>
        <p:nvSpPr>
          <p:cNvPr id="78" name="Text 75"/>
          <p:cNvSpPr/>
          <p:nvPr/>
        </p:nvSpPr>
        <p:spPr>
          <a:xfrm>
            <a:off x="7534656" y="455371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endParaRPr lang="en-US" sz="1100" dirty="0"/>
          </a:p>
        </p:txBody>
      </p:sp>
      <p:sp>
        <p:nvSpPr>
          <p:cNvPr id="79" name="Shape 76"/>
          <p:cNvSpPr/>
          <p:nvPr/>
        </p:nvSpPr>
        <p:spPr>
          <a:xfrm>
            <a:off x="9116568" y="4553712"/>
            <a:ext cx="1472184" cy="402336"/>
          </a:xfrm>
          <a:prstGeom prst="roundRect">
            <a:avLst>
              <a:gd name="adj" fmla="val 9091"/>
            </a:avLst>
          </a:prstGeom>
          <a:solidFill>
            <a:srgbClr val="F4DEDE"/>
          </a:solidFill>
          <a:ln/>
        </p:spPr>
      </p:sp>
      <p:sp>
        <p:nvSpPr>
          <p:cNvPr id="80" name="Text 77"/>
          <p:cNvSpPr/>
          <p:nvPr/>
        </p:nvSpPr>
        <p:spPr>
          <a:xfrm>
            <a:off x="9079992" y="455371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endParaRPr lang="en-US" sz="1100" dirty="0"/>
          </a:p>
        </p:txBody>
      </p:sp>
      <p:sp>
        <p:nvSpPr>
          <p:cNvPr id="81" name="Shape 78"/>
          <p:cNvSpPr/>
          <p:nvPr/>
        </p:nvSpPr>
        <p:spPr>
          <a:xfrm>
            <a:off x="566928" y="5166360"/>
            <a:ext cx="274320" cy="201168"/>
          </a:xfrm>
          <a:prstGeom prst="roundRect">
            <a:avLst>
              <a:gd name="adj" fmla="val 18182"/>
            </a:avLst>
          </a:prstGeom>
          <a:solidFill>
            <a:srgbClr val="EAF4F1"/>
          </a:solidFill>
          <a:ln/>
        </p:spPr>
      </p:sp>
      <p:sp>
        <p:nvSpPr>
          <p:cNvPr id="82" name="Text 79"/>
          <p:cNvSpPr/>
          <p:nvPr/>
        </p:nvSpPr>
        <p:spPr>
          <a:xfrm>
            <a:off x="932688" y="5129784"/>
            <a:ext cx="2286000" cy="27432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Faible (≤ 15 %)</a:t>
            </a:r>
            <a:endParaRPr lang="en-US" sz="1050" dirty="0"/>
          </a:p>
        </p:txBody>
      </p:sp>
      <p:sp>
        <p:nvSpPr>
          <p:cNvPr id="83" name="Shape 80"/>
          <p:cNvSpPr/>
          <p:nvPr/>
        </p:nvSpPr>
        <p:spPr>
          <a:xfrm>
            <a:off x="3310128" y="5166360"/>
            <a:ext cx="274320" cy="201168"/>
          </a:xfrm>
          <a:prstGeom prst="roundRect">
            <a:avLst>
              <a:gd name="adj" fmla="val 18182"/>
            </a:avLst>
          </a:prstGeom>
          <a:solidFill>
            <a:srgbClr val="F1E3C2"/>
          </a:solidFill>
          <a:ln/>
        </p:spPr>
      </p:sp>
      <p:sp>
        <p:nvSpPr>
          <p:cNvPr id="84" name="Text 81"/>
          <p:cNvSpPr/>
          <p:nvPr/>
        </p:nvSpPr>
        <p:spPr>
          <a:xfrm>
            <a:off x="3675888" y="5129784"/>
            <a:ext cx="2286000" cy="27432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Intermédiaire</a:t>
            </a:r>
            <a:endParaRPr lang="en-US" sz="1050" dirty="0"/>
          </a:p>
        </p:txBody>
      </p:sp>
      <p:sp>
        <p:nvSpPr>
          <p:cNvPr id="85" name="Shape 82"/>
          <p:cNvSpPr/>
          <p:nvPr/>
        </p:nvSpPr>
        <p:spPr>
          <a:xfrm>
            <a:off x="6053328" y="5166360"/>
            <a:ext cx="274320" cy="201168"/>
          </a:xfrm>
          <a:prstGeom prst="roundRect">
            <a:avLst>
              <a:gd name="adj" fmla="val 18182"/>
            </a:avLst>
          </a:prstGeom>
          <a:solidFill>
            <a:srgbClr val="F4DEDE"/>
          </a:solidFill>
          <a:ln/>
        </p:spPr>
      </p:sp>
      <p:sp>
        <p:nvSpPr>
          <p:cNvPr id="86" name="Text 83"/>
          <p:cNvSpPr/>
          <p:nvPr/>
        </p:nvSpPr>
        <p:spPr>
          <a:xfrm>
            <a:off x="6419088" y="5129784"/>
            <a:ext cx="2286000" cy="27432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Élevé (≥ 70 %)</a:t>
            </a:r>
            <a:endParaRPr lang="en-US" sz="1050" dirty="0"/>
          </a:p>
        </p:txBody>
      </p:sp>
      <p:sp>
        <p:nvSpPr>
          <p:cNvPr id="88" name="Shape 4">
            <a:extLst>
              <a:ext uri="{FF2B5EF4-FFF2-40B4-BE49-F238E27FC236}">
                <a16:creationId xmlns:a16="http://schemas.microsoft.com/office/drawing/2014/main" id="{DAF327D0-5726-4938-B330-05239F70ADB6}"/>
              </a:ext>
            </a:extLst>
          </p:cNvPr>
          <p:cNvSpPr/>
          <p:nvPr/>
        </p:nvSpPr>
        <p:spPr>
          <a:xfrm>
            <a:off x="10044887" y="6561646"/>
            <a:ext cx="45720" cy="45720"/>
          </a:xfrm>
          <a:prstGeom prst="ellipse">
            <a:avLst/>
          </a:prstGeom>
          <a:solidFill>
            <a:srgbClr val="C9962F"/>
          </a:solidFill>
          <a:ln/>
        </p:spPr>
      </p:sp>
      <p:sp>
        <p:nvSpPr>
          <p:cNvPr id="89" name="Shape 5">
            <a:extLst>
              <a:ext uri="{FF2B5EF4-FFF2-40B4-BE49-F238E27FC236}">
                <a16:creationId xmlns:a16="http://schemas.microsoft.com/office/drawing/2014/main" id="{90D09D59-A680-ED29-1926-324CD07493BA}"/>
              </a:ext>
            </a:extLst>
          </p:cNvPr>
          <p:cNvSpPr/>
          <p:nvPr/>
        </p:nvSpPr>
        <p:spPr>
          <a:xfrm>
            <a:off x="9926015" y="6561646"/>
            <a:ext cx="45720" cy="45720"/>
          </a:xfrm>
          <a:prstGeom prst="ellipse">
            <a:avLst/>
          </a:prstGeom>
          <a:solidFill>
            <a:srgbClr val="C9962F"/>
          </a:solidFill>
          <a:ln/>
        </p:spPr>
      </p:sp>
      <p:sp>
        <p:nvSpPr>
          <p:cNvPr id="90" name="Shape 6">
            <a:extLst>
              <a:ext uri="{FF2B5EF4-FFF2-40B4-BE49-F238E27FC236}">
                <a16:creationId xmlns:a16="http://schemas.microsoft.com/office/drawing/2014/main" id="{40CE7225-67CD-9489-1AA9-A83144C1E9D0}"/>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467CCDD3-A7C5-F7FA-1515-9C014BEEE79F}"/>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RÉSULTATS DES ANALYSES</a:t>
            </a:r>
            <a:endParaRPr lang="en-US" sz="3200" dirty="0"/>
          </a:p>
        </p:txBody>
      </p:sp>
      <p:sp>
        <p:nvSpPr>
          <p:cNvPr id="8" name="Text 1">
            <a:extLst>
              <a:ext uri="{FF2B5EF4-FFF2-40B4-BE49-F238E27FC236}">
                <a16:creationId xmlns:a16="http://schemas.microsoft.com/office/drawing/2014/main" id="{80802C3C-38E1-17E7-2CC7-A33CBDD9856F}"/>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800" b="1" dirty="0">
                <a:solidFill>
                  <a:srgbClr val="082AF5"/>
                </a:solidFill>
                <a:latin typeface="Montserrat" pitchFamily="34" charset="0"/>
                <a:ea typeface="Montserrat" pitchFamily="34" charset="-122"/>
                <a:cs typeface="Montserrat" pitchFamily="34" charset="-120"/>
              </a:rPr>
              <a:t>Analyse de valeurs manquantes par variable et par exercice</a:t>
            </a:r>
            <a:endParaRPr lang="en-US"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21376E08-5A99-4B55-F7FF-49A2224EEA5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wheel(1)">
                                      <p:cBhvr>
                                        <p:cTn id="7" dur="500"/>
                                        <p:tgtEl>
                                          <p:spTgt spid="90"/>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wheel(1)">
                                      <p:cBhvr>
                                        <p:cTn id="11" dur="500"/>
                                        <p:tgtEl>
                                          <p:spTgt spid="89"/>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88"/>
                                        </p:tgtEl>
                                        <p:attrNameLst>
                                          <p:attrName>style.visibility</p:attrName>
                                        </p:attrNameLst>
                                      </p:cBhvr>
                                      <p:to>
                                        <p:strVal val="visible"/>
                                      </p:to>
                                    </p:set>
                                    <p:animEffect transition="in" filter="wheel(1)">
                                      <p:cBhvr>
                                        <p:cTn id="15"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Shape 63">
            <a:extLst>
              <a:ext uri="{FF2B5EF4-FFF2-40B4-BE49-F238E27FC236}">
                <a16:creationId xmlns:a16="http://schemas.microsoft.com/office/drawing/2014/main" id="{4EBB0D31-030A-7414-ECDA-42C54364C14B}"/>
              </a:ext>
            </a:extLst>
          </p:cNvPr>
          <p:cNvSpPr/>
          <p:nvPr/>
        </p:nvSpPr>
        <p:spPr>
          <a:xfrm>
            <a:off x="5959602" y="4608576"/>
            <a:ext cx="1472184" cy="402336"/>
          </a:xfrm>
          <a:prstGeom prst="roundRect">
            <a:avLst>
              <a:gd name="adj" fmla="val 9091"/>
            </a:avLst>
          </a:prstGeom>
          <a:solidFill>
            <a:srgbClr val="EAF4F1"/>
          </a:solidFill>
          <a:ln/>
        </p:spPr>
        <p:txBody>
          <a:bodyPr/>
          <a:lstStyle/>
          <a:p>
            <a:endParaRPr lang="fr-SN" dirty="0"/>
          </a:p>
        </p:txBody>
      </p:sp>
      <p:sp>
        <p:nvSpPr>
          <p:cNvPr id="15" name="Shape 59">
            <a:extLst>
              <a:ext uri="{FF2B5EF4-FFF2-40B4-BE49-F238E27FC236}">
                <a16:creationId xmlns:a16="http://schemas.microsoft.com/office/drawing/2014/main" id="{64B9F68F-5443-4C3C-190D-5357BF900B15}"/>
              </a:ext>
            </a:extLst>
          </p:cNvPr>
          <p:cNvSpPr/>
          <p:nvPr/>
        </p:nvSpPr>
        <p:spPr>
          <a:xfrm>
            <a:off x="2868930" y="4128516"/>
            <a:ext cx="1472184" cy="402336"/>
          </a:xfrm>
          <a:prstGeom prst="roundRect">
            <a:avLst>
              <a:gd name="adj" fmla="val 9091"/>
            </a:avLst>
          </a:prstGeom>
          <a:solidFill>
            <a:srgbClr val="F4DEDD"/>
          </a:solidFill>
          <a:ln/>
        </p:spPr>
        <p:txBody>
          <a:bodyPr/>
          <a:lstStyle/>
          <a:p>
            <a:endParaRPr lang="fr-SN" dirty="0"/>
          </a:p>
        </p:txBody>
      </p:sp>
      <p:sp>
        <p:nvSpPr>
          <p:cNvPr id="14" name="Shape 43">
            <a:extLst>
              <a:ext uri="{FF2B5EF4-FFF2-40B4-BE49-F238E27FC236}">
                <a16:creationId xmlns:a16="http://schemas.microsoft.com/office/drawing/2014/main" id="{37D28BFD-6331-BAA0-7280-B1D8D5F21CDC}"/>
              </a:ext>
            </a:extLst>
          </p:cNvPr>
          <p:cNvSpPr/>
          <p:nvPr/>
        </p:nvSpPr>
        <p:spPr>
          <a:xfrm>
            <a:off x="5946648" y="2627884"/>
            <a:ext cx="1472184" cy="402336"/>
          </a:xfrm>
          <a:prstGeom prst="roundRect">
            <a:avLst>
              <a:gd name="adj" fmla="val 9091"/>
            </a:avLst>
          </a:prstGeom>
          <a:solidFill>
            <a:srgbClr val="EAF4F1"/>
          </a:solidFill>
          <a:ln/>
        </p:spPr>
        <p:txBody>
          <a:bodyPr/>
          <a:lstStyle/>
          <a:p>
            <a:endParaRPr lang="fr-SN" dirty="0"/>
          </a:p>
        </p:txBody>
      </p:sp>
      <p:sp>
        <p:nvSpPr>
          <p:cNvPr id="13" name="Shape 50">
            <a:extLst>
              <a:ext uri="{FF2B5EF4-FFF2-40B4-BE49-F238E27FC236}">
                <a16:creationId xmlns:a16="http://schemas.microsoft.com/office/drawing/2014/main" id="{E1659782-9EE8-29BE-6F34-9293D48E2CE1}"/>
              </a:ext>
            </a:extLst>
          </p:cNvPr>
          <p:cNvSpPr/>
          <p:nvPr/>
        </p:nvSpPr>
        <p:spPr>
          <a:xfrm>
            <a:off x="4403344" y="2138172"/>
            <a:ext cx="1472184" cy="402336"/>
          </a:xfrm>
          <a:prstGeom prst="roundRect">
            <a:avLst>
              <a:gd name="adj" fmla="val 9091"/>
            </a:avLst>
          </a:prstGeom>
          <a:solidFill>
            <a:srgbClr val="F1E3C3"/>
          </a:solidFill>
          <a:ln/>
        </p:spPr>
      </p:sp>
      <p:sp>
        <p:nvSpPr>
          <p:cNvPr id="12" name="Shape 24">
            <a:extLst>
              <a:ext uri="{FF2B5EF4-FFF2-40B4-BE49-F238E27FC236}">
                <a16:creationId xmlns:a16="http://schemas.microsoft.com/office/drawing/2014/main" id="{FBA5F6B7-D66E-9113-8578-AB584CA3E86C}"/>
              </a:ext>
            </a:extLst>
          </p:cNvPr>
          <p:cNvSpPr/>
          <p:nvPr/>
        </p:nvSpPr>
        <p:spPr>
          <a:xfrm>
            <a:off x="2845054" y="2144268"/>
            <a:ext cx="1472184" cy="402336"/>
          </a:xfrm>
          <a:prstGeom prst="roundRect">
            <a:avLst>
              <a:gd name="adj" fmla="val 9091"/>
            </a:avLst>
          </a:prstGeom>
          <a:solidFill>
            <a:srgbClr val="EAF4F1"/>
          </a:solidFill>
          <a:ln/>
        </p:spPr>
      </p:sp>
      <p:sp>
        <p:nvSpPr>
          <p:cNvPr id="11" name="Shape 24">
            <a:extLst>
              <a:ext uri="{FF2B5EF4-FFF2-40B4-BE49-F238E27FC236}">
                <a16:creationId xmlns:a16="http://schemas.microsoft.com/office/drawing/2014/main" id="{15A1E651-C56D-02ED-E5F0-41ACFF65253C}"/>
              </a:ext>
            </a:extLst>
          </p:cNvPr>
          <p:cNvSpPr/>
          <p:nvPr/>
        </p:nvSpPr>
        <p:spPr>
          <a:xfrm>
            <a:off x="1313434" y="1664208"/>
            <a:ext cx="1472184" cy="402336"/>
          </a:xfrm>
          <a:prstGeom prst="roundRect">
            <a:avLst>
              <a:gd name="adj" fmla="val 9091"/>
            </a:avLst>
          </a:prstGeom>
          <a:solidFill>
            <a:srgbClr val="EAF4F1"/>
          </a:solidFill>
          <a:ln/>
        </p:spPr>
      </p:sp>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09 / 21</a:t>
            </a:r>
            <a:endParaRPr lang="en-US" sz="900" dirty="0"/>
          </a:p>
        </p:txBody>
      </p:sp>
      <p:sp>
        <p:nvSpPr>
          <p:cNvPr id="17" name="Text 14"/>
          <p:cNvSpPr/>
          <p:nvPr/>
        </p:nvSpPr>
        <p:spPr>
          <a:xfrm>
            <a:off x="1273048" y="165811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0 %</a:t>
            </a:r>
          </a:p>
        </p:txBody>
      </p:sp>
      <p:sp>
        <p:nvSpPr>
          <p:cNvPr id="18" name="Shape 15"/>
          <p:cNvSpPr/>
          <p:nvPr/>
        </p:nvSpPr>
        <p:spPr>
          <a:xfrm>
            <a:off x="2854960" y="1658112"/>
            <a:ext cx="1472184" cy="402336"/>
          </a:xfrm>
          <a:prstGeom prst="roundRect">
            <a:avLst>
              <a:gd name="adj" fmla="val 9091"/>
            </a:avLst>
          </a:prstGeom>
          <a:solidFill>
            <a:srgbClr val="EAF4F1"/>
          </a:solidFill>
          <a:ln/>
        </p:spPr>
        <p:txBody>
          <a:bodyPr/>
          <a:lstStyle/>
          <a:p>
            <a:endParaRPr lang="fr-SN" dirty="0"/>
          </a:p>
        </p:txBody>
      </p:sp>
      <p:sp>
        <p:nvSpPr>
          <p:cNvPr id="19" name="Text 16"/>
          <p:cNvSpPr/>
          <p:nvPr/>
        </p:nvSpPr>
        <p:spPr>
          <a:xfrm>
            <a:off x="2818384" y="165811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p>
        </p:txBody>
      </p:sp>
      <p:sp>
        <p:nvSpPr>
          <p:cNvPr id="20" name="Shape 17"/>
          <p:cNvSpPr/>
          <p:nvPr/>
        </p:nvSpPr>
        <p:spPr>
          <a:xfrm>
            <a:off x="4400296" y="1658112"/>
            <a:ext cx="1472184" cy="402336"/>
          </a:xfrm>
          <a:prstGeom prst="roundRect">
            <a:avLst>
              <a:gd name="adj" fmla="val 9091"/>
            </a:avLst>
          </a:prstGeom>
          <a:solidFill>
            <a:srgbClr val="F4DEDD"/>
          </a:solidFill>
          <a:ln/>
        </p:spPr>
      </p:sp>
      <p:sp>
        <p:nvSpPr>
          <p:cNvPr id="21" name="Text 18"/>
          <p:cNvSpPr/>
          <p:nvPr/>
        </p:nvSpPr>
        <p:spPr>
          <a:xfrm>
            <a:off x="4363720" y="165811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endParaRPr lang="en-US" sz="1100" dirty="0"/>
          </a:p>
        </p:txBody>
      </p:sp>
      <p:sp>
        <p:nvSpPr>
          <p:cNvPr id="22" name="Shape 19"/>
          <p:cNvSpPr/>
          <p:nvPr/>
        </p:nvSpPr>
        <p:spPr>
          <a:xfrm>
            <a:off x="5945632" y="1658112"/>
            <a:ext cx="1472184" cy="402336"/>
          </a:xfrm>
          <a:prstGeom prst="roundRect">
            <a:avLst>
              <a:gd name="adj" fmla="val 9091"/>
            </a:avLst>
          </a:prstGeom>
          <a:solidFill>
            <a:srgbClr val="F4DEDE"/>
          </a:solidFill>
          <a:ln/>
        </p:spPr>
      </p:sp>
      <p:sp>
        <p:nvSpPr>
          <p:cNvPr id="23" name="Text 20"/>
          <p:cNvSpPr/>
          <p:nvPr/>
        </p:nvSpPr>
        <p:spPr>
          <a:xfrm>
            <a:off x="5909056" y="1658112"/>
            <a:ext cx="1472400"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24" name="Shape 21"/>
          <p:cNvSpPr/>
          <p:nvPr/>
        </p:nvSpPr>
        <p:spPr>
          <a:xfrm>
            <a:off x="7490968" y="1658112"/>
            <a:ext cx="1472184" cy="402336"/>
          </a:xfrm>
          <a:prstGeom prst="roundRect">
            <a:avLst>
              <a:gd name="adj" fmla="val 9091"/>
            </a:avLst>
          </a:prstGeom>
          <a:solidFill>
            <a:srgbClr val="F4DEDD"/>
          </a:solidFill>
          <a:ln/>
        </p:spPr>
      </p:sp>
      <p:sp>
        <p:nvSpPr>
          <p:cNvPr id="25" name="Text 22"/>
          <p:cNvSpPr/>
          <p:nvPr/>
        </p:nvSpPr>
        <p:spPr>
          <a:xfrm>
            <a:off x="7454392" y="1658112"/>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27" name="Shape 24"/>
          <p:cNvSpPr/>
          <p:nvPr/>
        </p:nvSpPr>
        <p:spPr>
          <a:xfrm>
            <a:off x="1309624" y="2151888"/>
            <a:ext cx="1472184" cy="402336"/>
          </a:xfrm>
          <a:prstGeom prst="roundRect">
            <a:avLst>
              <a:gd name="adj" fmla="val 9091"/>
            </a:avLst>
          </a:prstGeom>
          <a:solidFill>
            <a:srgbClr val="EAF4F1"/>
          </a:solidFill>
          <a:ln/>
        </p:spPr>
      </p:sp>
      <p:sp>
        <p:nvSpPr>
          <p:cNvPr id="28" name="Text 25"/>
          <p:cNvSpPr/>
          <p:nvPr/>
        </p:nvSpPr>
        <p:spPr>
          <a:xfrm>
            <a:off x="1273048" y="2151888"/>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1,9%</a:t>
            </a:r>
          </a:p>
        </p:txBody>
      </p:sp>
      <p:sp>
        <p:nvSpPr>
          <p:cNvPr id="30" name="Text 27"/>
          <p:cNvSpPr/>
          <p:nvPr/>
        </p:nvSpPr>
        <p:spPr>
          <a:xfrm>
            <a:off x="2818384" y="2151888"/>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p>
        </p:txBody>
      </p:sp>
      <p:sp>
        <p:nvSpPr>
          <p:cNvPr id="32" name="Text 29"/>
          <p:cNvSpPr/>
          <p:nvPr/>
        </p:nvSpPr>
        <p:spPr>
          <a:xfrm>
            <a:off x="4363720" y="2151888"/>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67,9%</a:t>
            </a:r>
          </a:p>
        </p:txBody>
      </p:sp>
      <p:sp>
        <p:nvSpPr>
          <p:cNvPr id="33" name="Shape 30"/>
          <p:cNvSpPr/>
          <p:nvPr/>
        </p:nvSpPr>
        <p:spPr>
          <a:xfrm>
            <a:off x="5945632" y="2151888"/>
            <a:ext cx="1472184" cy="402336"/>
          </a:xfrm>
          <a:prstGeom prst="roundRect">
            <a:avLst>
              <a:gd name="adj" fmla="val 9091"/>
            </a:avLst>
          </a:prstGeom>
          <a:solidFill>
            <a:srgbClr val="EAF4F1"/>
          </a:solidFill>
          <a:ln/>
        </p:spPr>
      </p:sp>
      <p:sp>
        <p:nvSpPr>
          <p:cNvPr id="34" name="Text 31"/>
          <p:cNvSpPr/>
          <p:nvPr/>
        </p:nvSpPr>
        <p:spPr>
          <a:xfrm>
            <a:off x="5909056" y="2151888"/>
            <a:ext cx="1545336" cy="402336"/>
          </a:xfrm>
          <a:prstGeom prst="rect">
            <a:avLst/>
          </a:prstGeom>
          <a:noFill/>
          <a:ln/>
        </p:spPr>
        <p:txBody>
          <a:bodyPr wrap="square" lIns="0" tIns="0" rIns="0" bIns="0" rtlCol="0" anchor="ctr"/>
          <a:lstStyle/>
          <a:p>
            <a:pPr algn="ctr"/>
            <a:r>
              <a:rPr lang="en-US" sz="1100" b="1" dirty="0">
                <a:solidFill>
                  <a:srgbClr val="2F7D6E"/>
                </a:solidFill>
                <a:latin typeface="Calibri" pitchFamily="34" charset="0"/>
                <a:ea typeface="Calibri" pitchFamily="34" charset="-122"/>
                <a:cs typeface="Calibri" pitchFamily="34" charset="-120"/>
              </a:rPr>
              <a:t>13,2%</a:t>
            </a:r>
          </a:p>
        </p:txBody>
      </p:sp>
      <p:sp>
        <p:nvSpPr>
          <p:cNvPr id="35" name="Shape 32"/>
          <p:cNvSpPr/>
          <p:nvPr/>
        </p:nvSpPr>
        <p:spPr>
          <a:xfrm>
            <a:off x="7490968" y="2151888"/>
            <a:ext cx="1472184" cy="402336"/>
          </a:xfrm>
          <a:prstGeom prst="roundRect">
            <a:avLst>
              <a:gd name="adj" fmla="val 9091"/>
            </a:avLst>
          </a:prstGeom>
          <a:solidFill>
            <a:srgbClr val="F4DEDE"/>
          </a:solidFill>
          <a:ln/>
        </p:spPr>
        <p:txBody>
          <a:bodyPr/>
          <a:lstStyle/>
          <a:p>
            <a:endParaRPr lang="fr-SN" dirty="0"/>
          </a:p>
        </p:txBody>
      </p:sp>
      <p:sp>
        <p:nvSpPr>
          <p:cNvPr id="36" name="Text 33"/>
          <p:cNvSpPr/>
          <p:nvPr/>
        </p:nvSpPr>
        <p:spPr>
          <a:xfrm>
            <a:off x="7454392" y="2151888"/>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84,9%</a:t>
            </a:r>
          </a:p>
        </p:txBody>
      </p:sp>
      <p:sp>
        <p:nvSpPr>
          <p:cNvPr id="38" name="Shape 35"/>
          <p:cNvSpPr/>
          <p:nvPr/>
        </p:nvSpPr>
        <p:spPr>
          <a:xfrm>
            <a:off x="1309624" y="2645664"/>
            <a:ext cx="1472184" cy="402336"/>
          </a:xfrm>
          <a:prstGeom prst="roundRect">
            <a:avLst>
              <a:gd name="adj" fmla="val 9091"/>
            </a:avLst>
          </a:prstGeom>
          <a:solidFill>
            <a:srgbClr val="F1E3C3"/>
          </a:solidFill>
          <a:ln/>
        </p:spPr>
      </p:sp>
      <p:sp>
        <p:nvSpPr>
          <p:cNvPr id="39" name="Text 36"/>
          <p:cNvSpPr/>
          <p:nvPr/>
        </p:nvSpPr>
        <p:spPr>
          <a:xfrm>
            <a:off x="1273048" y="2645664"/>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50%</a:t>
            </a:r>
            <a:endParaRPr lang="en-US" sz="1100" dirty="0"/>
          </a:p>
        </p:txBody>
      </p:sp>
      <p:sp>
        <p:nvSpPr>
          <p:cNvPr id="40" name="Shape 37"/>
          <p:cNvSpPr/>
          <p:nvPr/>
        </p:nvSpPr>
        <p:spPr>
          <a:xfrm>
            <a:off x="2854960" y="2645664"/>
            <a:ext cx="1472184" cy="402336"/>
          </a:xfrm>
          <a:prstGeom prst="roundRect">
            <a:avLst>
              <a:gd name="adj" fmla="val 9091"/>
            </a:avLst>
          </a:prstGeom>
          <a:solidFill>
            <a:srgbClr val="EAF4F1"/>
          </a:solidFill>
          <a:ln/>
        </p:spPr>
      </p:sp>
      <p:sp>
        <p:nvSpPr>
          <p:cNvPr id="41" name="Text 38"/>
          <p:cNvSpPr/>
          <p:nvPr/>
        </p:nvSpPr>
        <p:spPr>
          <a:xfrm>
            <a:off x="2818384" y="2645664"/>
            <a:ext cx="1545336" cy="402336"/>
          </a:xfrm>
          <a:prstGeom prst="rect">
            <a:avLst/>
          </a:prstGeom>
          <a:noFill/>
          <a:ln/>
        </p:spPr>
        <p:txBody>
          <a:bodyPr wrap="square" lIns="0" tIns="0" rIns="0" bIns="0" rtlCol="0" anchor="ctr"/>
          <a:lstStyle/>
          <a:p>
            <a:pPr algn="ctr"/>
            <a:r>
              <a:rPr lang="en-US" sz="1100" b="1" dirty="0">
                <a:solidFill>
                  <a:srgbClr val="2F7D6E"/>
                </a:solidFill>
                <a:latin typeface="Calibri" pitchFamily="34" charset="0"/>
                <a:ea typeface="Calibri" pitchFamily="34" charset="-122"/>
                <a:cs typeface="Calibri" pitchFamily="34" charset="-120"/>
              </a:rPr>
              <a:t>0%</a:t>
            </a:r>
          </a:p>
        </p:txBody>
      </p:sp>
      <p:sp>
        <p:nvSpPr>
          <p:cNvPr id="42" name="Shape 39"/>
          <p:cNvSpPr/>
          <p:nvPr/>
        </p:nvSpPr>
        <p:spPr>
          <a:xfrm>
            <a:off x="4400296" y="2645664"/>
            <a:ext cx="1472184" cy="402336"/>
          </a:xfrm>
          <a:prstGeom prst="roundRect">
            <a:avLst>
              <a:gd name="adj" fmla="val 9091"/>
            </a:avLst>
          </a:prstGeom>
          <a:solidFill>
            <a:srgbClr val="F4DEDE"/>
          </a:solidFill>
          <a:ln/>
        </p:spPr>
      </p:sp>
      <p:sp>
        <p:nvSpPr>
          <p:cNvPr id="43" name="Text 40"/>
          <p:cNvSpPr/>
          <p:nvPr/>
        </p:nvSpPr>
        <p:spPr>
          <a:xfrm>
            <a:off x="4363720" y="2645664"/>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45" name="Text 42"/>
          <p:cNvSpPr/>
          <p:nvPr/>
        </p:nvSpPr>
        <p:spPr>
          <a:xfrm>
            <a:off x="5909056" y="2645664"/>
            <a:ext cx="1472400" cy="402336"/>
          </a:xfrm>
          <a:prstGeom prst="rect">
            <a:avLst/>
          </a:prstGeom>
          <a:noFill/>
          <a:ln/>
        </p:spPr>
        <p:txBody>
          <a:bodyPr wrap="square" lIns="0" tIns="0" rIns="0" bIns="0" rtlCol="0" anchor="ctr"/>
          <a:lstStyle/>
          <a:p>
            <a:pPr algn="ctr"/>
            <a:r>
              <a:rPr lang="en-US" sz="1100" b="1" dirty="0">
                <a:solidFill>
                  <a:srgbClr val="2F7D6E"/>
                </a:solidFill>
                <a:latin typeface="Calibri" pitchFamily="34" charset="0"/>
                <a:ea typeface="Calibri" pitchFamily="34" charset="-122"/>
                <a:cs typeface="Calibri" pitchFamily="34" charset="-120"/>
              </a:rPr>
              <a:t>0%</a:t>
            </a:r>
          </a:p>
        </p:txBody>
      </p:sp>
      <p:sp>
        <p:nvSpPr>
          <p:cNvPr id="46" name="Shape 43"/>
          <p:cNvSpPr/>
          <p:nvPr/>
        </p:nvSpPr>
        <p:spPr>
          <a:xfrm>
            <a:off x="7490968" y="2645664"/>
            <a:ext cx="1472184" cy="402336"/>
          </a:xfrm>
          <a:prstGeom prst="roundRect">
            <a:avLst>
              <a:gd name="adj" fmla="val 9091"/>
            </a:avLst>
          </a:prstGeom>
          <a:solidFill>
            <a:srgbClr val="F4DEDD"/>
          </a:solidFill>
          <a:ln/>
        </p:spPr>
      </p:sp>
      <p:sp>
        <p:nvSpPr>
          <p:cNvPr id="47" name="Text 44"/>
          <p:cNvSpPr/>
          <p:nvPr/>
        </p:nvSpPr>
        <p:spPr>
          <a:xfrm>
            <a:off x="7454392" y="2645664"/>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49" name="Shape 46"/>
          <p:cNvSpPr/>
          <p:nvPr/>
        </p:nvSpPr>
        <p:spPr>
          <a:xfrm>
            <a:off x="1309624" y="3139440"/>
            <a:ext cx="1472184" cy="402336"/>
          </a:xfrm>
          <a:prstGeom prst="roundRect">
            <a:avLst>
              <a:gd name="adj" fmla="val 9091"/>
            </a:avLst>
          </a:prstGeom>
          <a:solidFill>
            <a:srgbClr val="F1E3C3"/>
          </a:solidFill>
          <a:ln/>
        </p:spPr>
        <p:txBody>
          <a:bodyPr/>
          <a:lstStyle/>
          <a:p>
            <a:endParaRPr lang="fr-SN" dirty="0"/>
          </a:p>
        </p:txBody>
      </p:sp>
      <p:sp>
        <p:nvSpPr>
          <p:cNvPr id="50" name="Text 47"/>
          <p:cNvSpPr/>
          <p:nvPr/>
        </p:nvSpPr>
        <p:spPr>
          <a:xfrm>
            <a:off x="1273048" y="3139440"/>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57,1%</a:t>
            </a:r>
          </a:p>
        </p:txBody>
      </p:sp>
      <p:sp>
        <p:nvSpPr>
          <p:cNvPr id="51" name="Shape 48"/>
          <p:cNvSpPr/>
          <p:nvPr/>
        </p:nvSpPr>
        <p:spPr>
          <a:xfrm>
            <a:off x="2854960" y="3139440"/>
            <a:ext cx="1472184" cy="402336"/>
          </a:xfrm>
          <a:prstGeom prst="roundRect">
            <a:avLst>
              <a:gd name="adj" fmla="val 9091"/>
            </a:avLst>
          </a:prstGeom>
          <a:solidFill>
            <a:srgbClr val="F4DEDD"/>
          </a:solidFill>
          <a:ln/>
        </p:spPr>
      </p:sp>
      <p:sp>
        <p:nvSpPr>
          <p:cNvPr id="52" name="Text 49"/>
          <p:cNvSpPr/>
          <p:nvPr/>
        </p:nvSpPr>
        <p:spPr>
          <a:xfrm>
            <a:off x="2818384" y="3139440"/>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71,4%</a:t>
            </a:r>
          </a:p>
        </p:txBody>
      </p:sp>
      <p:sp>
        <p:nvSpPr>
          <p:cNvPr id="53" name="Shape 50"/>
          <p:cNvSpPr/>
          <p:nvPr/>
        </p:nvSpPr>
        <p:spPr>
          <a:xfrm>
            <a:off x="4400296" y="3139440"/>
            <a:ext cx="1472184" cy="402336"/>
          </a:xfrm>
          <a:prstGeom prst="roundRect">
            <a:avLst>
              <a:gd name="adj" fmla="val 9091"/>
            </a:avLst>
          </a:prstGeom>
          <a:solidFill>
            <a:srgbClr val="F1E3C3"/>
          </a:solidFill>
          <a:ln/>
        </p:spPr>
      </p:sp>
      <p:sp>
        <p:nvSpPr>
          <p:cNvPr id="54" name="Text 51"/>
          <p:cNvSpPr/>
          <p:nvPr/>
        </p:nvSpPr>
        <p:spPr>
          <a:xfrm>
            <a:off x="4363720" y="3139440"/>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57,1%</a:t>
            </a:r>
          </a:p>
        </p:txBody>
      </p:sp>
      <p:sp>
        <p:nvSpPr>
          <p:cNvPr id="55" name="Shape 52"/>
          <p:cNvSpPr/>
          <p:nvPr/>
        </p:nvSpPr>
        <p:spPr>
          <a:xfrm>
            <a:off x="5945632" y="3139440"/>
            <a:ext cx="1472184" cy="402336"/>
          </a:xfrm>
          <a:prstGeom prst="roundRect">
            <a:avLst>
              <a:gd name="adj" fmla="val 9091"/>
            </a:avLst>
          </a:prstGeom>
          <a:solidFill>
            <a:srgbClr val="F1E3C3"/>
          </a:solidFill>
          <a:ln/>
        </p:spPr>
        <p:txBody>
          <a:bodyPr/>
          <a:lstStyle/>
          <a:p>
            <a:endParaRPr lang="fr-SN" dirty="0"/>
          </a:p>
        </p:txBody>
      </p:sp>
      <p:sp>
        <p:nvSpPr>
          <p:cNvPr id="56" name="Text 53"/>
          <p:cNvSpPr/>
          <p:nvPr/>
        </p:nvSpPr>
        <p:spPr>
          <a:xfrm>
            <a:off x="5909056" y="3139440"/>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42,9%</a:t>
            </a:r>
          </a:p>
        </p:txBody>
      </p:sp>
      <p:sp>
        <p:nvSpPr>
          <p:cNvPr id="57" name="Shape 54"/>
          <p:cNvSpPr/>
          <p:nvPr/>
        </p:nvSpPr>
        <p:spPr>
          <a:xfrm>
            <a:off x="7490968" y="3139440"/>
            <a:ext cx="1472184" cy="402336"/>
          </a:xfrm>
          <a:prstGeom prst="roundRect">
            <a:avLst>
              <a:gd name="adj" fmla="val 9091"/>
            </a:avLst>
          </a:prstGeom>
          <a:solidFill>
            <a:srgbClr val="F4DEDD"/>
          </a:solidFill>
          <a:ln/>
        </p:spPr>
      </p:sp>
      <p:sp>
        <p:nvSpPr>
          <p:cNvPr id="58" name="Text 55"/>
          <p:cNvSpPr/>
          <p:nvPr/>
        </p:nvSpPr>
        <p:spPr>
          <a:xfrm>
            <a:off x="7454392" y="3139440"/>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60" name="Shape 57"/>
          <p:cNvSpPr/>
          <p:nvPr/>
        </p:nvSpPr>
        <p:spPr>
          <a:xfrm>
            <a:off x="1309624" y="3633216"/>
            <a:ext cx="1472184" cy="402336"/>
          </a:xfrm>
          <a:prstGeom prst="roundRect">
            <a:avLst>
              <a:gd name="adj" fmla="val 9091"/>
            </a:avLst>
          </a:prstGeom>
          <a:solidFill>
            <a:srgbClr val="F4DEDD"/>
          </a:solidFill>
          <a:ln/>
        </p:spPr>
      </p:sp>
      <p:sp>
        <p:nvSpPr>
          <p:cNvPr id="61" name="Text 58"/>
          <p:cNvSpPr/>
          <p:nvPr/>
        </p:nvSpPr>
        <p:spPr>
          <a:xfrm>
            <a:off x="1273048" y="3633216"/>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82,1%</a:t>
            </a:r>
          </a:p>
        </p:txBody>
      </p:sp>
      <p:sp>
        <p:nvSpPr>
          <p:cNvPr id="62" name="Shape 59"/>
          <p:cNvSpPr/>
          <p:nvPr/>
        </p:nvSpPr>
        <p:spPr>
          <a:xfrm>
            <a:off x="2854960" y="3633216"/>
            <a:ext cx="1472184" cy="402336"/>
          </a:xfrm>
          <a:prstGeom prst="roundRect">
            <a:avLst>
              <a:gd name="adj" fmla="val 9091"/>
            </a:avLst>
          </a:prstGeom>
          <a:solidFill>
            <a:srgbClr val="F4DEDD"/>
          </a:solidFill>
          <a:ln/>
        </p:spPr>
        <p:txBody>
          <a:bodyPr/>
          <a:lstStyle/>
          <a:p>
            <a:endParaRPr lang="fr-SN" dirty="0"/>
          </a:p>
        </p:txBody>
      </p:sp>
      <p:sp>
        <p:nvSpPr>
          <p:cNvPr id="63" name="Text 60"/>
          <p:cNvSpPr/>
          <p:nvPr/>
        </p:nvSpPr>
        <p:spPr>
          <a:xfrm>
            <a:off x="2818384" y="3633216"/>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98,9%</a:t>
            </a:r>
          </a:p>
        </p:txBody>
      </p:sp>
      <p:sp>
        <p:nvSpPr>
          <p:cNvPr id="64" name="Shape 61"/>
          <p:cNvSpPr/>
          <p:nvPr/>
        </p:nvSpPr>
        <p:spPr>
          <a:xfrm>
            <a:off x="4400296" y="3633216"/>
            <a:ext cx="1472184" cy="402336"/>
          </a:xfrm>
          <a:prstGeom prst="roundRect">
            <a:avLst>
              <a:gd name="adj" fmla="val 9091"/>
            </a:avLst>
          </a:prstGeom>
          <a:solidFill>
            <a:srgbClr val="EAF4F1"/>
          </a:solidFill>
          <a:ln/>
        </p:spPr>
      </p:sp>
      <p:sp>
        <p:nvSpPr>
          <p:cNvPr id="65" name="Text 62"/>
          <p:cNvSpPr/>
          <p:nvPr/>
        </p:nvSpPr>
        <p:spPr>
          <a:xfrm>
            <a:off x="4414520" y="3633216"/>
            <a:ext cx="1472400" cy="402336"/>
          </a:xfrm>
          <a:prstGeom prst="rect">
            <a:avLst/>
          </a:prstGeom>
          <a:solidFill>
            <a:srgbClr val="F4DEDD"/>
          </a:solid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75,8%</a:t>
            </a:r>
          </a:p>
        </p:txBody>
      </p:sp>
      <p:sp>
        <p:nvSpPr>
          <p:cNvPr id="66" name="Shape 63"/>
          <p:cNvSpPr/>
          <p:nvPr/>
        </p:nvSpPr>
        <p:spPr>
          <a:xfrm>
            <a:off x="5945632" y="3633216"/>
            <a:ext cx="1472400" cy="402336"/>
          </a:xfrm>
          <a:prstGeom prst="roundRect">
            <a:avLst>
              <a:gd name="adj" fmla="val 9091"/>
            </a:avLst>
          </a:prstGeom>
          <a:solidFill>
            <a:srgbClr val="F1E3C3"/>
          </a:solidFill>
          <a:ln/>
        </p:spPr>
      </p:sp>
      <p:sp>
        <p:nvSpPr>
          <p:cNvPr id="67" name="Text 64"/>
          <p:cNvSpPr/>
          <p:nvPr/>
        </p:nvSpPr>
        <p:spPr>
          <a:xfrm>
            <a:off x="5909056" y="3633216"/>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26,3%</a:t>
            </a:r>
          </a:p>
        </p:txBody>
      </p:sp>
      <p:sp>
        <p:nvSpPr>
          <p:cNvPr id="68" name="Shape 65"/>
          <p:cNvSpPr/>
          <p:nvPr/>
        </p:nvSpPr>
        <p:spPr>
          <a:xfrm>
            <a:off x="7490968" y="3633216"/>
            <a:ext cx="1472184" cy="402336"/>
          </a:xfrm>
          <a:prstGeom prst="roundRect">
            <a:avLst>
              <a:gd name="adj" fmla="val 9091"/>
            </a:avLst>
          </a:prstGeom>
          <a:solidFill>
            <a:srgbClr val="F4DEDD"/>
          </a:solidFill>
          <a:ln/>
        </p:spPr>
      </p:sp>
      <p:sp>
        <p:nvSpPr>
          <p:cNvPr id="69" name="Text 66"/>
          <p:cNvSpPr/>
          <p:nvPr/>
        </p:nvSpPr>
        <p:spPr>
          <a:xfrm>
            <a:off x="7454392" y="3633216"/>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endParaRPr lang="en-US" sz="1100" dirty="0"/>
          </a:p>
        </p:txBody>
      </p:sp>
      <p:sp>
        <p:nvSpPr>
          <p:cNvPr id="71" name="Shape 68"/>
          <p:cNvSpPr/>
          <p:nvPr/>
        </p:nvSpPr>
        <p:spPr>
          <a:xfrm>
            <a:off x="1309624" y="4126992"/>
            <a:ext cx="1472184" cy="402336"/>
          </a:xfrm>
          <a:prstGeom prst="roundRect">
            <a:avLst>
              <a:gd name="adj" fmla="val 9091"/>
            </a:avLst>
          </a:prstGeom>
          <a:solidFill>
            <a:srgbClr val="F4DEDD"/>
          </a:solidFill>
          <a:ln/>
        </p:spPr>
        <p:txBody>
          <a:bodyPr/>
          <a:lstStyle/>
          <a:p>
            <a:endParaRPr lang="fr-SN" dirty="0"/>
          </a:p>
        </p:txBody>
      </p:sp>
      <p:sp>
        <p:nvSpPr>
          <p:cNvPr id="72" name="Text 69"/>
          <p:cNvSpPr/>
          <p:nvPr/>
        </p:nvSpPr>
        <p:spPr>
          <a:xfrm>
            <a:off x="1273048" y="4126992"/>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74" name="Text 71"/>
          <p:cNvSpPr/>
          <p:nvPr/>
        </p:nvSpPr>
        <p:spPr>
          <a:xfrm>
            <a:off x="2848864" y="4126992"/>
            <a:ext cx="1472400"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75" name="Shape 72"/>
          <p:cNvSpPr/>
          <p:nvPr/>
        </p:nvSpPr>
        <p:spPr>
          <a:xfrm>
            <a:off x="4400296" y="4126992"/>
            <a:ext cx="1472184" cy="402336"/>
          </a:xfrm>
          <a:prstGeom prst="roundRect">
            <a:avLst>
              <a:gd name="adj" fmla="val 9091"/>
            </a:avLst>
          </a:prstGeom>
          <a:solidFill>
            <a:srgbClr val="EAF4F1"/>
          </a:solidFill>
          <a:ln/>
        </p:spPr>
      </p:sp>
      <p:sp>
        <p:nvSpPr>
          <p:cNvPr id="76" name="Text 73"/>
          <p:cNvSpPr/>
          <p:nvPr/>
        </p:nvSpPr>
        <p:spPr>
          <a:xfrm>
            <a:off x="4404360" y="4126992"/>
            <a:ext cx="1472400" cy="402336"/>
          </a:xfrm>
          <a:prstGeom prst="rect">
            <a:avLst/>
          </a:prstGeom>
          <a:solidFill>
            <a:srgbClr val="F4DEDD"/>
          </a:solid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77" name="Shape 74"/>
          <p:cNvSpPr/>
          <p:nvPr/>
        </p:nvSpPr>
        <p:spPr>
          <a:xfrm>
            <a:off x="5945632" y="4126992"/>
            <a:ext cx="1472184" cy="402336"/>
          </a:xfrm>
          <a:prstGeom prst="roundRect">
            <a:avLst>
              <a:gd name="adj" fmla="val 9091"/>
            </a:avLst>
          </a:prstGeom>
          <a:solidFill>
            <a:srgbClr val="EAF4F1"/>
          </a:solidFill>
          <a:ln/>
        </p:spPr>
      </p:sp>
      <p:sp>
        <p:nvSpPr>
          <p:cNvPr id="78" name="Text 75"/>
          <p:cNvSpPr/>
          <p:nvPr/>
        </p:nvSpPr>
        <p:spPr>
          <a:xfrm>
            <a:off x="5909056" y="412699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endParaRPr lang="en-US" sz="1100" dirty="0"/>
          </a:p>
        </p:txBody>
      </p:sp>
      <p:sp>
        <p:nvSpPr>
          <p:cNvPr id="79" name="Shape 76"/>
          <p:cNvSpPr/>
          <p:nvPr/>
        </p:nvSpPr>
        <p:spPr>
          <a:xfrm>
            <a:off x="7490968" y="4126992"/>
            <a:ext cx="1472184" cy="402336"/>
          </a:xfrm>
          <a:prstGeom prst="roundRect">
            <a:avLst>
              <a:gd name="adj" fmla="val 9091"/>
            </a:avLst>
          </a:prstGeom>
          <a:solidFill>
            <a:srgbClr val="F4DEDE"/>
          </a:solidFill>
          <a:ln/>
        </p:spPr>
      </p:sp>
      <p:sp>
        <p:nvSpPr>
          <p:cNvPr id="80" name="Text 77"/>
          <p:cNvSpPr/>
          <p:nvPr/>
        </p:nvSpPr>
        <p:spPr>
          <a:xfrm>
            <a:off x="7454392" y="4126992"/>
            <a:ext cx="1472400"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88" name="Shape 4">
            <a:extLst>
              <a:ext uri="{FF2B5EF4-FFF2-40B4-BE49-F238E27FC236}">
                <a16:creationId xmlns:a16="http://schemas.microsoft.com/office/drawing/2014/main" id="{DAF327D0-5726-4938-B330-05239F70ADB6}"/>
              </a:ext>
            </a:extLst>
          </p:cNvPr>
          <p:cNvSpPr/>
          <p:nvPr/>
        </p:nvSpPr>
        <p:spPr>
          <a:xfrm>
            <a:off x="10044887" y="6561646"/>
            <a:ext cx="45720" cy="45720"/>
          </a:xfrm>
          <a:prstGeom prst="ellipse">
            <a:avLst/>
          </a:prstGeom>
          <a:solidFill>
            <a:srgbClr val="C9962F"/>
          </a:solidFill>
          <a:ln/>
        </p:spPr>
      </p:sp>
      <p:sp>
        <p:nvSpPr>
          <p:cNvPr id="89" name="Shape 5">
            <a:extLst>
              <a:ext uri="{FF2B5EF4-FFF2-40B4-BE49-F238E27FC236}">
                <a16:creationId xmlns:a16="http://schemas.microsoft.com/office/drawing/2014/main" id="{90D09D59-A680-ED29-1926-324CD07493BA}"/>
              </a:ext>
            </a:extLst>
          </p:cNvPr>
          <p:cNvSpPr/>
          <p:nvPr/>
        </p:nvSpPr>
        <p:spPr>
          <a:xfrm>
            <a:off x="9926015" y="6561646"/>
            <a:ext cx="45720" cy="45720"/>
          </a:xfrm>
          <a:prstGeom prst="ellipse">
            <a:avLst/>
          </a:prstGeom>
          <a:solidFill>
            <a:srgbClr val="C9962F"/>
          </a:solidFill>
          <a:ln/>
        </p:spPr>
      </p:sp>
      <p:sp>
        <p:nvSpPr>
          <p:cNvPr id="90" name="Shape 6">
            <a:extLst>
              <a:ext uri="{FF2B5EF4-FFF2-40B4-BE49-F238E27FC236}">
                <a16:creationId xmlns:a16="http://schemas.microsoft.com/office/drawing/2014/main" id="{40CE7225-67CD-9489-1AA9-A83144C1E9D0}"/>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467CCDD3-A7C5-F7FA-1515-9C014BEEE79F}"/>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RÉSULTATS DES ANALYSES</a:t>
            </a:r>
            <a:endParaRPr lang="en-US" sz="3200" dirty="0"/>
          </a:p>
        </p:txBody>
      </p:sp>
      <p:sp>
        <p:nvSpPr>
          <p:cNvPr id="8" name="Text 1">
            <a:extLst>
              <a:ext uri="{FF2B5EF4-FFF2-40B4-BE49-F238E27FC236}">
                <a16:creationId xmlns:a16="http://schemas.microsoft.com/office/drawing/2014/main" id="{80802C3C-38E1-17E7-2CC7-A33CBDD9856F}"/>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800" b="1" dirty="0">
                <a:solidFill>
                  <a:srgbClr val="082AF5"/>
                </a:solidFill>
                <a:latin typeface="Montserrat" pitchFamily="34" charset="0"/>
                <a:ea typeface="Montserrat" pitchFamily="34" charset="-122"/>
                <a:cs typeface="Montserrat" pitchFamily="34" charset="-120"/>
              </a:rPr>
              <a:t>Analyse de valeurs manquantes par variable et par région</a:t>
            </a:r>
            <a:endParaRPr lang="en-US" sz="2800" dirty="0">
              <a:solidFill>
                <a:srgbClr val="082AF5"/>
              </a:solidFill>
            </a:endParaRPr>
          </a:p>
        </p:txBody>
      </p:sp>
      <p:sp>
        <p:nvSpPr>
          <p:cNvPr id="3" name="Text 12"/>
          <p:cNvSpPr/>
          <p:nvPr/>
        </p:nvSpPr>
        <p:spPr>
          <a:xfrm>
            <a:off x="7499579" y="1246632"/>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Nom PPE</a:t>
            </a:r>
            <a:endParaRPr lang="en-US" sz="1150" dirty="0"/>
          </a:p>
        </p:txBody>
      </p:sp>
      <p:sp>
        <p:nvSpPr>
          <p:cNvPr id="4" name="Text 23"/>
          <p:cNvSpPr/>
          <p:nvPr/>
        </p:nvSpPr>
        <p:spPr>
          <a:xfrm>
            <a:off x="4408143" y="1276888"/>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Est une PPE</a:t>
            </a:r>
            <a:endParaRPr lang="en-US" sz="1150" dirty="0"/>
          </a:p>
        </p:txBody>
      </p:sp>
      <p:sp>
        <p:nvSpPr>
          <p:cNvPr id="9" name="Text 34"/>
          <p:cNvSpPr/>
          <p:nvPr/>
        </p:nvSpPr>
        <p:spPr>
          <a:xfrm>
            <a:off x="2842487" y="1256122"/>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 Voix direct</a:t>
            </a:r>
            <a:endParaRPr lang="en-US" sz="1150" dirty="0"/>
          </a:p>
        </p:txBody>
      </p:sp>
      <p:sp>
        <p:nvSpPr>
          <p:cNvPr id="87" name="Text 45"/>
          <p:cNvSpPr/>
          <p:nvPr/>
        </p:nvSpPr>
        <p:spPr>
          <a:xfrm>
            <a:off x="1375309" y="1245328"/>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 Action direct</a:t>
            </a:r>
            <a:endParaRPr lang="en-US" sz="1150" dirty="0"/>
          </a:p>
        </p:txBody>
      </p:sp>
      <p:sp>
        <p:nvSpPr>
          <p:cNvPr id="91" name="Text 56"/>
          <p:cNvSpPr/>
          <p:nvPr/>
        </p:nvSpPr>
        <p:spPr>
          <a:xfrm>
            <a:off x="5923734" y="1251933"/>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Fonction PPE</a:t>
            </a:r>
            <a:endParaRPr lang="en-US" sz="1150" dirty="0"/>
          </a:p>
        </p:txBody>
      </p:sp>
      <p:sp>
        <p:nvSpPr>
          <p:cNvPr id="92" name="Text 67"/>
          <p:cNvSpPr/>
          <p:nvPr/>
        </p:nvSpPr>
        <p:spPr>
          <a:xfrm>
            <a:off x="9091168" y="1246632"/>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Pays résidence</a:t>
            </a:r>
            <a:endParaRPr lang="en-US" sz="1150" dirty="0"/>
          </a:p>
        </p:txBody>
      </p:sp>
      <p:sp>
        <p:nvSpPr>
          <p:cNvPr id="93" name="Shape 21">
            <a:extLst>
              <a:ext uri="{FF2B5EF4-FFF2-40B4-BE49-F238E27FC236}">
                <a16:creationId xmlns:a16="http://schemas.microsoft.com/office/drawing/2014/main" id="{88246954-A27E-DC22-59E9-6E445F722C0B}"/>
              </a:ext>
            </a:extLst>
          </p:cNvPr>
          <p:cNvSpPr/>
          <p:nvPr/>
        </p:nvSpPr>
        <p:spPr>
          <a:xfrm>
            <a:off x="9051798" y="1647952"/>
            <a:ext cx="1472184" cy="402336"/>
          </a:xfrm>
          <a:prstGeom prst="roundRect">
            <a:avLst>
              <a:gd name="adj" fmla="val 9091"/>
            </a:avLst>
          </a:prstGeom>
          <a:solidFill>
            <a:srgbClr val="EAF4F1"/>
          </a:solidFill>
          <a:ln/>
        </p:spPr>
        <p:txBody>
          <a:bodyPr/>
          <a:lstStyle/>
          <a:p>
            <a:endParaRPr lang="fr-SN" dirty="0"/>
          </a:p>
        </p:txBody>
      </p:sp>
      <p:sp>
        <p:nvSpPr>
          <p:cNvPr id="94" name="Text 22">
            <a:extLst>
              <a:ext uri="{FF2B5EF4-FFF2-40B4-BE49-F238E27FC236}">
                <a16:creationId xmlns:a16="http://schemas.microsoft.com/office/drawing/2014/main" id="{32EC2F83-42E6-0F83-D142-84EB5A6DAC12}"/>
              </a:ext>
            </a:extLst>
          </p:cNvPr>
          <p:cNvSpPr/>
          <p:nvPr/>
        </p:nvSpPr>
        <p:spPr>
          <a:xfrm>
            <a:off x="9049512" y="164795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p>
        </p:txBody>
      </p:sp>
      <p:sp>
        <p:nvSpPr>
          <p:cNvPr id="95" name="Shape 32">
            <a:extLst>
              <a:ext uri="{FF2B5EF4-FFF2-40B4-BE49-F238E27FC236}">
                <a16:creationId xmlns:a16="http://schemas.microsoft.com/office/drawing/2014/main" id="{0ADCDBEC-AA17-90A6-AE22-9FD56027576E}"/>
              </a:ext>
            </a:extLst>
          </p:cNvPr>
          <p:cNvSpPr/>
          <p:nvPr/>
        </p:nvSpPr>
        <p:spPr>
          <a:xfrm>
            <a:off x="9051798" y="2141728"/>
            <a:ext cx="1472184" cy="402336"/>
          </a:xfrm>
          <a:prstGeom prst="roundRect">
            <a:avLst>
              <a:gd name="adj" fmla="val 9091"/>
            </a:avLst>
          </a:prstGeom>
          <a:solidFill>
            <a:srgbClr val="EAF4F1"/>
          </a:solidFill>
          <a:ln/>
        </p:spPr>
      </p:sp>
      <p:sp>
        <p:nvSpPr>
          <p:cNvPr id="96" name="Text 33">
            <a:extLst>
              <a:ext uri="{FF2B5EF4-FFF2-40B4-BE49-F238E27FC236}">
                <a16:creationId xmlns:a16="http://schemas.microsoft.com/office/drawing/2014/main" id="{2C264459-790F-49E7-2BF9-7A998CFBEFA6}"/>
              </a:ext>
            </a:extLst>
          </p:cNvPr>
          <p:cNvSpPr/>
          <p:nvPr/>
        </p:nvSpPr>
        <p:spPr>
          <a:xfrm>
            <a:off x="9049512" y="2141728"/>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13,2%</a:t>
            </a:r>
            <a:endParaRPr lang="en-US" sz="1100" dirty="0"/>
          </a:p>
        </p:txBody>
      </p:sp>
      <p:sp>
        <p:nvSpPr>
          <p:cNvPr id="97" name="Shape 43">
            <a:extLst>
              <a:ext uri="{FF2B5EF4-FFF2-40B4-BE49-F238E27FC236}">
                <a16:creationId xmlns:a16="http://schemas.microsoft.com/office/drawing/2014/main" id="{89754DDD-47CE-126B-C978-F14381F12DBB}"/>
              </a:ext>
            </a:extLst>
          </p:cNvPr>
          <p:cNvSpPr/>
          <p:nvPr/>
        </p:nvSpPr>
        <p:spPr>
          <a:xfrm>
            <a:off x="9040368" y="2635504"/>
            <a:ext cx="1472184" cy="402336"/>
          </a:xfrm>
          <a:prstGeom prst="roundRect">
            <a:avLst>
              <a:gd name="adj" fmla="val 9091"/>
            </a:avLst>
          </a:prstGeom>
          <a:solidFill>
            <a:srgbClr val="EAF4F1"/>
          </a:solidFill>
          <a:ln/>
        </p:spPr>
        <p:txBody>
          <a:bodyPr/>
          <a:lstStyle/>
          <a:p>
            <a:endParaRPr lang="fr-SN" dirty="0"/>
          </a:p>
        </p:txBody>
      </p:sp>
      <p:sp>
        <p:nvSpPr>
          <p:cNvPr id="98" name="Text 44">
            <a:extLst>
              <a:ext uri="{FF2B5EF4-FFF2-40B4-BE49-F238E27FC236}">
                <a16:creationId xmlns:a16="http://schemas.microsoft.com/office/drawing/2014/main" id="{996E62C6-FF64-B394-D0F4-2AF5B8FD9AF3}"/>
              </a:ext>
            </a:extLst>
          </p:cNvPr>
          <p:cNvSpPr/>
          <p:nvPr/>
        </p:nvSpPr>
        <p:spPr>
          <a:xfrm>
            <a:off x="9049512" y="2635504"/>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p>
        </p:txBody>
      </p:sp>
      <p:sp>
        <p:nvSpPr>
          <p:cNvPr id="99" name="Shape 54">
            <a:extLst>
              <a:ext uri="{FF2B5EF4-FFF2-40B4-BE49-F238E27FC236}">
                <a16:creationId xmlns:a16="http://schemas.microsoft.com/office/drawing/2014/main" id="{BA379932-E1ED-4DE7-A6EB-0A8B05E0E06A}"/>
              </a:ext>
            </a:extLst>
          </p:cNvPr>
          <p:cNvSpPr/>
          <p:nvPr/>
        </p:nvSpPr>
        <p:spPr>
          <a:xfrm>
            <a:off x="9040368" y="3129280"/>
            <a:ext cx="1472184" cy="402336"/>
          </a:xfrm>
          <a:prstGeom prst="roundRect">
            <a:avLst>
              <a:gd name="adj" fmla="val 9091"/>
            </a:avLst>
          </a:prstGeom>
          <a:solidFill>
            <a:srgbClr val="ECE6CC"/>
          </a:solidFill>
          <a:ln/>
        </p:spPr>
      </p:sp>
      <p:sp>
        <p:nvSpPr>
          <p:cNvPr id="100" name="Text 55">
            <a:extLst>
              <a:ext uri="{FF2B5EF4-FFF2-40B4-BE49-F238E27FC236}">
                <a16:creationId xmlns:a16="http://schemas.microsoft.com/office/drawing/2014/main" id="{3EDE62F8-C70A-F843-B2F3-BC75432A4588}"/>
              </a:ext>
            </a:extLst>
          </p:cNvPr>
          <p:cNvSpPr/>
          <p:nvPr/>
        </p:nvSpPr>
        <p:spPr>
          <a:xfrm>
            <a:off x="8992362" y="3129280"/>
            <a:ext cx="1472400"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42,9%</a:t>
            </a:r>
            <a:endParaRPr lang="en-US" sz="1100" dirty="0"/>
          </a:p>
        </p:txBody>
      </p:sp>
      <p:sp>
        <p:nvSpPr>
          <p:cNvPr id="101" name="Shape 65">
            <a:extLst>
              <a:ext uri="{FF2B5EF4-FFF2-40B4-BE49-F238E27FC236}">
                <a16:creationId xmlns:a16="http://schemas.microsoft.com/office/drawing/2014/main" id="{B5351252-72B4-4F38-B9A0-F4BB03FFD876}"/>
              </a:ext>
            </a:extLst>
          </p:cNvPr>
          <p:cNvSpPr/>
          <p:nvPr/>
        </p:nvSpPr>
        <p:spPr>
          <a:xfrm>
            <a:off x="9040368" y="3623056"/>
            <a:ext cx="1472184" cy="402336"/>
          </a:xfrm>
          <a:prstGeom prst="roundRect">
            <a:avLst>
              <a:gd name="adj" fmla="val 9091"/>
            </a:avLst>
          </a:prstGeom>
          <a:solidFill>
            <a:srgbClr val="F1E3C3"/>
          </a:solidFill>
          <a:ln/>
        </p:spPr>
        <p:txBody>
          <a:bodyPr/>
          <a:lstStyle/>
          <a:p>
            <a:endParaRPr lang="fr-SN" dirty="0"/>
          </a:p>
        </p:txBody>
      </p:sp>
      <p:sp>
        <p:nvSpPr>
          <p:cNvPr id="102" name="Text 66">
            <a:extLst>
              <a:ext uri="{FF2B5EF4-FFF2-40B4-BE49-F238E27FC236}">
                <a16:creationId xmlns:a16="http://schemas.microsoft.com/office/drawing/2014/main" id="{1658BE47-E1EF-4AD5-EFD0-E4667F396719}"/>
              </a:ext>
            </a:extLst>
          </p:cNvPr>
          <p:cNvSpPr/>
          <p:nvPr/>
        </p:nvSpPr>
        <p:spPr>
          <a:xfrm>
            <a:off x="9049512" y="3623056"/>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25,3%</a:t>
            </a:r>
          </a:p>
        </p:txBody>
      </p:sp>
      <p:sp>
        <p:nvSpPr>
          <p:cNvPr id="103" name="Shape 76">
            <a:extLst>
              <a:ext uri="{FF2B5EF4-FFF2-40B4-BE49-F238E27FC236}">
                <a16:creationId xmlns:a16="http://schemas.microsoft.com/office/drawing/2014/main" id="{754F8BBA-3E95-279A-BDB0-FDBEC962701A}"/>
              </a:ext>
            </a:extLst>
          </p:cNvPr>
          <p:cNvSpPr/>
          <p:nvPr/>
        </p:nvSpPr>
        <p:spPr>
          <a:xfrm>
            <a:off x="9086088" y="4116832"/>
            <a:ext cx="1472184" cy="402336"/>
          </a:xfrm>
          <a:prstGeom prst="roundRect">
            <a:avLst>
              <a:gd name="adj" fmla="val 9091"/>
            </a:avLst>
          </a:prstGeom>
          <a:noFill/>
          <a:ln/>
        </p:spPr>
        <p:txBody>
          <a:bodyPr wrap="square" lIns="0" tIns="0" rIns="0" bIns="0" rtlCol="0" anchor="ctr"/>
          <a:lstStyle/>
          <a:p>
            <a:endParaRPr lang="fr-SN"/>
          </a:p>
        </p:txBody>
      </p:sp>
      <p:sp>
        <p:nvSpPr>
          <p:cNvPr id="104" name="Text 77">
            <a:extLst>
              <a:ext uri="{FF2B5EF4-FFF2-40B4-BE49-F238E27FC236}">
                <a16:creationId xmlns:a16="http://schemas.microsoft.com/office/drawing/2014/main" id="{2D89B680-7F6E-462E-243D-FCE8A61144A5}"/>
              </a:ext>
            </a:extLst>
          </p:cNvPr>
          <p:cNvSpPr/>
          <p:nvPr/>
        </p:nvSpPr>
        <p:spPr>
          <a:xfrm>
            <a:off x="9049512" y="4116832"/>
            <a:ext cx="1472400" cy="402336"/>
          </a:xfrm>
          <a:prstGeom prst="rect">
            <a:avLst/>
          </a:prstGeom>
          <a:solidFill>
            <a:srgbClr val="EAF4F1"/>
          </a:solid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p>
        </p:txBody>
      </p:sp>
      <p:sp>
        <p:nvSpPr>
          <p:cNvPr id="105" name="Text 12">
            <a:extLst>
              <a:ext uri="{FF2B5EF4-FFF2-40B4-BE49-F238E27FC236}">
                <a16:creationId xmlns:a16="http://schemas.microsoft.com/office/drawing/2014/main" id="{6339E3B3-8AAD-0429-05DD-F0B1C8A2ACF9}"/>
              </a:ext>
            </a:extLst>
          </p:cNvPr>
          <p:cNvSpPr/>
          <p:nvPr/>
        </p:nvSpPr>
        <p:spPr>
          <a:xfrm>
            <a:off x="434848" y="1612392"/>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ZIGUINCHOR</a:t>
            </a:r>
            <a:endParaRPr lang="en-US" sz="1150" dirty="0"/>
          </a:p>
        </p:txBody>
      </p:sp>
      <p:sp>
        <p:nvSpPr>
          <p:cNvPr id="106" name="Text 23">
            <a:extLst>
              <a:ext uri="{FF2B5EF4-FFF2-40B4-BE49-F238E27FC236}">
                <a16:creationId xmlns:a16="http://schemas.microsoft.com/office/drawing/2014/main" id="{C2CA54F6-2C5E-2B87-6A24-94937438DA53}"/>
              </a:ext>
            </a:extLst>
          </p:cNvPr>
          <p:cNvSpPr/>
          <p:nvPr/>
        </p:nvSpPr>
        <p:spPr>
          <a:xfrm>
            <a:off x="434848" y="2106168"/>
            <a:ext cx="2194560" cy="493776"/>
          </a:xfrm>
          <a:prstGeom prst="rect">
            <a:avLst/>
          </a:prstGeom>
          <a:noFill/>
          <a:ln/>
        </p:spPr>
        <p:txBody>
          <a:bodyPr wrap="square" lIns="0" tIns="0" rIns="0" bIns="0" rtlCol="0" anchor="ctr"/>
          <a:lstStyle/>
          <a:p>
            <a:pPr marL="0" indent="0">
              <a:buNone/>
            </a:pPr>
            <a:r>
              <a:rPr lang="en-US" sz="1150" b="1" dirty="0" err="1">
                <a:solidFill>
                  <a:srgbClr val="1E2532"/>
                </a:solidFill>
                <a:latin typeface="Calibri" pitchFamily="34" charset="0"/>
                <a:ea typeface="Calibri" pitchFamily="34" charset="-122"/>
                <a:cs typeface="Calibri" pitchFamily="34" charset="-120"/>
              </a:rPr>
              <a:t>Thiès</a:t>
            </a:r>
            <a:endParaRPr lang="en-US" sz="1150" dirty="0"/>
          </a:p>
        </p:txBody>
      </p:sp>
      <p:sp>
        <p:nvSpPr>
          <p:cNvPr id="107" name="Text 34">
            <a:extLst>
              <a:ext uri="{FF2B5EF4-FFF2-40B4-BE49-F238E27FC236}">
                <a16:creationId xmlns:a16="http://schemas.microsoft.com/office/drawing/2014/main" id="{ADB5ADDF-364B-104D-7FC8-74A1B19F3577}"/>
              </a:ext>
            </a:extLst>
          </p:cNvPr>
          <p:cNvSpPr/>
          <p:nvPr/>
        </p:nvSpPr>
        <p:spPr>
          <a:xfrm>
            <a:off x="434848" y="2599944"/>
            <a:ext cx="2194560" cy="493776"/>
          </a:xfrm>
          <a:prstGeom prst="rect">
            <a:avLst/>
          </a:prstGeom>
          <a:noFill/>
          <a:ln/>
        </p:spPr>
        <p:txBody>
          <a:bodyPr wrap="square" lIns="0" tIns="0" rIns="0" bIns="0" rtlCol="0" anchor="ctr"/>
          <a:lstStyle/>
          <a:p>
            <a:pPr marL="0" indent="0">
              <a:buNone/>
            </a:pPr>
            <a:r>
              <a:rPr lang="en-US" sz="1150" b="1" dirty="0" err="1">
                <a:solidFill>
                  <a:srgbClr val="1E2532"/>
                </a:solidFill>
                <a:latin typeface="Calibri" pitchFamily="34" charset="0"/>
                <a:ea typeface="Calibri" pitchFamily="34" charset="-122"/>
                <a:cs typeface="Calibri" pitchFamily="34" charset="-120"/>
              </a:rPr>
              <a:t>Tambacounda</a:t>
            </a:r>
            <a:endParaRPr lang="en-US" sz="1150" dirty="0"/>
          </a:p>
        </p:txBody>
      </p:sp>
      <p:sp>
        <p:nvSpPr>
          <p:cNvPr id="108" name="Text 45">
            <a:extLst>
              <a:ext uri="{FF2B5EF4-FFF2-40B4-BE49-F238E27FC236}">
                <a16:creationId xmlns:a16="http://schemas.microsoft.com/office/drawing/2014/main" id="{F3735077-0F99-B404-555C-A0D190B21F19}"/>
              </a:ext>
            </a:extLst>
          </p:cNvPr>
          <p:cNvSpPr/>
          <p:nvPr/>
        </p:nvSpPr>
        <p:spPr>
          <a:xfrm>
            <a:off x="434848" y="3093720"/>
            <a:ext cx="2194560" cy="493776"/>
          </a:xfrm>
          <a:prstGeom prst="rect">
            <a:avLst/>
          </a:prstGeom>
          <a:noFill/>
          <a:ln/>
        </p:spPr>
        <p:txBody>
          <a:bodyPr wrap="square" lIns="0" tIns="0" rIns="0" bIns="0" rtlCol="0" anchor="ctr"/>
          <a:lstStyle/>
          <a:p>
            <a:pPr marL="0" indent="0">
              <a:buNone/>
            </a:pPr>
            <a:r>
              <a:rPr lang="en-US" sz="1150" b="1" dirty="0" err="1">
                <a:solidFill>
                  <a:srgbClr val="1E2532"/>
                </a:solidFill>
                <a:latin typeface="Calibri" pitchFamily="34" charset="0"/>
                <a:ea typeface="Calibri" pitchFamily="34" charset="-122"/>
                <a:cs typeface="Calibri" pitchFamily="34" charset="-120"/>
              </a:rPr>
              <a:t>Mbour</a:t>
            </a:r>
            <a:endParaRPr lang="en-US" sz="1150" dirty="0"/>
          </a:p>
        </p:txBody>
      </p:sp>
      <p:sp>
        <p:nvSpPr>
          <p:cNvPr id="109" name="Text 56">
            <a:extLst>
              <a:ext uri="{FF2B5EF4-FFF2-40B4-BE49-F238E27FC236}">
                <a16:creationId xmlns:a16="http://schemas.microsoft.com/office/drawing/2014/main" id="{22945C5F-2628-CA21-25DE-88FCFF835748}"/>
              </a:ext>
            </a:extLst>
          </p:cNvPr>
          <p:cNvSpPr/>
          <p:nvPr/>
        </p:nvSpPr>
        <p:spPr>
          <a:xfrm>
            <a:off x="434848" y="3587496"/>
            <a:ext cx="2194560" cy="493776"/>
          </a:xfrm>
          <a:prstGeom prst="rect">
            <a:avLst/>
          </a:prstGeom>
          <a:noFill/>
          <a:ln/>
        </p:spPr>
        <p:txBody>
          <a:bodyPr wrap="square" lIns="0" tIns="0" rIns="0" bIns="0" rtlCol="0" anchor="ctr"/>
          <a:lstStyle/>
          <a:p>
            <a:pPr marL="0" indent="0">
              <a:buNone/>
            </a:pPr>
            <a:r>
              <a:rPr lang="en-US" sz="1150" b="1" dirty="0" err="1">
                <a:solidFill>
                  <a:srgbClr val="1E2532"/>
                </a:solidFill>
                <a:latin typeface="Calibri" pitchFamily="34" charset="0"/>
                <a:ea typeface="Calibri" pitchFamily="34" charset="-122"/>
                <a:cs typeface="Calibri" pitchFamily="34" charset="-120"/>
              </a:rPr>
              <a:t>Kédougou</a:t>
            </a:r>
            <a:endParaRPr lang="en-US" sz="1150" dirty="0"/>
          </a:p>
        </p:txBody>
      </p:sp>
      <p:sp>
        <p:nvSpPr>
          <p:cNvPr id="110" name="Text 67">
            <a:extLst>
              <a:ext uri="{FF2B5EF4-FFF2-40B4-BE49-F238E27FC236}">
                <a16:creationId xmlns:a16="http://schemas.microsoft.com/office/drawing/2014/main" id="{CD231FCA-5721-EAF0-CADB-72786E8F9007}"/>
              </a:ext>
            </a:extLst>
          </p:cNvPr>
          <p:cNvSpPr/>
          <p:nvPr/>
        </p:nvSpPr>
        <p:spPr>
          <a:xfrm>
            <a:off x="434848" y="4081272"/>
            <a:ext cx="2194560" cy="493776"/>
          </a:xfrm>
          <a:prstGeom prst="rect">
            <a:avLst/>
          </a:prstGeom>
          <a:noFill/>
          <a:ln/>
        </p:spPr>
        <p:txBody>
          <a:bodyPr wrap="square" lIns="0" tIns="0" rIns="0" bIns="0" rtlCol="0" anchor="ctr"/>
          <a:lstStyle/>
          <a:p>
            <a:pPr marL="0" indent="0">
              <a:buNone/>
            </a:pPr>
            <a:r>
              <a:rPr lang="en-US" sz="1150" dirty="0" err="1"/>
              <a:t>Kaolack</a:t>
            </a:r>
            <a:endParaRPr lang="en-US" sz="1150" dirty="0"/>
          </a:p>
        </p:txBody>
      </p:sp>
      <p:sp>
        <p:nvSpPr>
          <p:cNvPr id="124" name="Shape 46">
            <a:extLst>
              <a:ext uri="{FF2B5EF4-FFF2-40B4-BE49-F238E27FC236}">
                <a16:creationId xmlns:a16="http://schemas.microsoft.com/office/drawing/2014/main" id="{F541E877-BB86-B9F7-6B28-F313AEBA66F0}"/>
              </a:ext>
            </a:extLst>
          </p:cNvPr>
          <p:cNvSpPr/>
          <p:nvPr/>
        </p:nvSpPr>
        <p:spPr>
          <a:xfrm>
            <a:off x="1319784" y="4602480"/>
            <a:ext cx="1472184" cy="402336"/>
          </a:xfrm>
          <a:prstGeom prst="roundRect">
            <a:avLst>
              <a:gd name="adj" fmla="val 9091"/>
            </a:avLst>
          </a:prstGeom>
          <a:solidFill>
            <a:srgbClr val="F1E3C3"/>
          </a:solidFill>
          <a:ln/>
        </p:spPr>
        <p:txBody>
          <a:bodyPr/>
          <a:lstStyle/>
          <a:p>
            <a:endParaRPr lang="fr-SN" dirty="0"/>
          </a:p>
        </p:txBody>
      </p:sp>
      <p:sp>
        <p:nvSpPr>
          <p:cNvPr id="125" name="Text 47">
            <a:extLst>
              <a:ext uri="{FF2B5EF4-FFF2-40B4-BE49-F238E27FC236}">
                <a16:creationId xmlns:a16="http://schemas.microsoft.com/office/drawing/2014/main" id="{FF31377A-C772-61CC-2BDB-849129B90995}"/>
              </a:ext>
            </a:extLst>
          </p:cNvPr>
          <p:cNvSpPr/>
          <p:nvPr/>
        </p:nvSpPr>
        <p:spPr>
          <a:xfrm>
            <a:off x="1283208" y="4602480"/>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50%</a:t>
            </a:r>
            <a:endParaRPr lang="en-US" sz="1100" dirty="0"/>
          </a:p>
        </p:txBody>
      </p:sp>
      <p:sp>
        <p:nvSpPr>
          <p:cNvPr id="126" name="Shape 48">
            <a:extLst>
              <a:ext uri="{FF2B5EF4-FFF2-40B4-BE49-F238E27FC236}">
                <a16:creationId xmlns:a16="http://schemas.microsoft.com/office/drawing/2014/main" id="{B7E8B5B1-6591-968E-71F5-AE7586EED557}"/>
              </a:ext>
            </a:extLst>
          </p:cNvPr>
          <p:cNvSpPr/>
          <p:nvPr/>
        </p:nvSpPr>
        <p:spPr>
          <a:xfrm>
            <a:off x="2865120" y="4602480"/>
            <a:ext cx="1472184" cy="402336"/>
          </a:xfrm>
          <a:prstGeom prst="roundRect">
            <a:avLst>
              <a:gd name="adj" fmla="val 9091"/>
            </a:avLst>
          </a:prstGeom>
          <a:solidFill>
            <a:srgbClr val="F1E3C3"/>
          </a:solidFill>
          <a:ln/>
        </p:spPr>
        <p:txBody>
          <a:bodyPr/>
          <a:lstStyle/>
          <a:p>
            <a:endParaRPr lang="fr-SN"/>
          </a:p>
        </p:txBody>
      </p:sp>
      <p:sp>
        <p:nvSpPr>
          <p:cNvPr id="127" name="Text 49">
            <a:extLst>
              <a:ext uri="{FF2B5EF4-FFF2-40B4-BE49-F238E27FC236}">
                <a16:creationId xmlns:a16="http://schemas.microsoft.com/office/drawing/2014/main" id="{2F7C1BFC-34A9-408D-D370-C9D575B4B293}"/>
              </a:ext>
            </a:extLst>
          </p:cNvPr>
          <p:cNvSpPr/>
          <p:nvPr/>
        </p:nvSpPr>
        <p:spPr>
          <a:xfrm>
            <a:off x="2828544" y="4602480"/>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50%</a:t>
            </a:r>
            <a:endParaRPr lang="en-US" sz="1100" dirty="0"/>
          </a:p>
        </p:txBody>
      </p:sp>
      <p:sp>
        <p:nvSpPr>
          <p:cNvPr id="128" name="Shape 50">
            <a:extLst>
              <a:ext uri="{FF2B5EF4-FFF2-40B4-BE49-F238E27FC236}">
                <a16:creationId xmlns:a16="http://schemas.microsoft.com/office/drawing/2014/main" id="{F4E73553-3423-BC64-9E49-0769D3FD265A}"/>
              </a:ext>
            </a:extLst>
          </p:cNvPr>
          <p:cNvSpPr/>
          <p:nvPr/>
        </p:nvSpPr>
        <p:spPr>
          <a:xfrm>
            <a:off x="4410456" y="4602480"/>
            <a:ext cx="1472184" cy="402336"/>
          </a:xfrm>
          <a:prstGeom prst="roundRect">
            <a:avLst>
              <a:gd name="adj" fmla="val 9091"/>
            </a:avLst>
          </a:prstGeom>
          <a:solidFill>
            <a:srgbClr val="F4DEDD"/>
          </a:solidFill>
          <a:ln/>
        </p:spPr>
      </p:sp>
      <p:sp>
        <p:nvSpPr>
          <p:cNvPr id="129" name="Text 51">
            <a:extLst>
              <a:ext uri="{FF2B5EF4-FFF2-40B4-BE49-F238E27FC236}">
                <a16:creationId xmlns:a16="http://schemas.microsoft.com/office/drawing/2014/main" id="{88610B5A-7C05-63BF-18A3-D28A882C55B5}"/>
              </a:ext>
            </a:extLst>
          </p:cNvPr>
          <p:cNvSpPr/>
          <p:nvPr/>
        </p:nvSpPr>
        <p:spPr>
          <a:xfrm>
            <a:off x="4373880" y="4602480"/>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131" name="Text 53">
            <a:extLst>
              <a:ext uri="{FF2B5EF4-FFF2-40B4-BE49-F238E27FC236}">
                <a16:creationId xmlns:a16="http://schemas.microsoft.com/office/drawing/2014/main" id="{2DBCBC17-2274-B7A1-C3EC-FBB19D070468}"/>
              </a:ext>
            </a:extLst>
          </p:cNvPr>
          <p:cNvSpPr/>
          <p:nvPr/>
        </p:nvSpPr>
        <p:spPr>
          <a:xfrm>
            <a:off x="5919216" y="4602480"/>
            <a:ext cx="1472400" cy="402336"/>
          </a:xfrm>
          <a:prstGeom prst="rect">
            <a:avLst/>
          </a:prstGeom>
          <a:noFill/>
          <a:ln/>
        </p:spPr>
        <p:txBody>
          <a:bodyPr wrap="square" lIns="0" tIns="0" rIns="0" bIns="0" rtlCol="0" anchor="ctr"/>
          <a:lstStyle/>
          <a:p>
            <a:pPr algn="ctr"/>
            <a:r>
              <a:rPr lang="en-US" sz="1100" b="1" dirty="0">
                <a:solidFill>
                  <a:srgbClr val="2F7D6E"/>
                </a:solidFill>
                <a:latin typeface="Calibri" pitchFamily="34" charset="0"/>
                <a:ea typeface="Calibri" pitchFamily="34" charset="-122"/>
                <a:cs typeface="Calibri" pitchFamily="34" charset="-120"/>
              </a:rPr>
              <a:t>0%</a:t>
            </a:r>
          </a:p>
        </p:txBody>
      </p:sp>
      <p:sp>
        <p:nvSpPr>
          <p:cNvPr id="132" name="Shape 54">
            <a:extLst>
              <a:ext uri="{FF2B5EF4-FFF2-40B4-BE49-F238E27FC236}">
                <a16:creationId xmlns:a16="http://schemas.microsoft.com/office/drawing/2014/main" id="{5C4A39E8-259B-3E3C-307D-860619A4B5FA}"/>
              </a:ext>
            </a:extLst>
          </p:cNvPr>
          <p:cNvSpPr/>
          <p:nvPr/>
        </p:nvSpPr>
        <p:spPr>
          <a:xfrm>
            <a:off x="7501128" y="4602480"/>
            <a:ext cx="1472184" cy="402336"/>
          </a:xfrm>
          <a:prstGeom prst="roundRect">
            <a:avLst>
              <a:gd name="adj" fmla="val 9091"/>
            </a:avLst>
          </a:prstGeom>
          <a:solidFill>
            <a:srgbClr val="F4DEDE"/>
          </a:solidFill>
          <a:ln/>
        </p:spPr>
        <p:txBody>
          <a:bodyPr/>
          <a:lstStyle/>
          <a:p>
            <a:endParaRPr lang="fr-SN" dirty="0"/>
          </a:p>
        </p:txBody>
      </p:sp>
      <p:sp>
        <p:nvSpPr>
          <p:cNvPr id="133" name="Text 55">
            <a:extLst>
              <a:ext uri="{FF2B5EF4-FFF2-40B4-BE49-F238E27FC236}">
                <a16:creationId xmlns:a16="http://schemas.microsoft.com/office/drawing/2014/main" id="{59B09775-F787-9B8C-D2B5-F93460159D1C}"/>
              </a:ext>
            </a:extLst>
          </p:cNvPr>
          <p:cNvSpPr/>
          <p:nvPr/>
        </p:nvSpPr>
        <p:spPr>
          <a:xfrm>
            <a:off x="7464552" y="4602480"/>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p>
        </p:txBody>
      </p:sp>
      <p:sp>
        <p:nvSpPr>
          <p:cNvPr id="134" name="Shape 57">
            <a:extLst>
              <a:ext uri="{FF2B5EF4-FFF2-40B4-BE49-F238E27FC236}">
                <a16:creationId xmlns:a16="http://schemas.microsoft.com/office/drawing/2014/main" id="{4BA10AFF-990E-525A-0FC5-FDAEEB88711F}"/>
              </a:ext>
            </a:extLst>
          </p:cNvPr>
          <p:cNvSpPr/>
          <p:nvPr/>
        </p:nvSpPr>
        <p:spPr>
          <a:xfrm>
            <a:off x="1319784" y="5096256"/>
            <a:ext cx="1472184" cy="402336"/>
          </a:xfrm>
          <a:prstGeom prst="roundRect">
            <a:avLst>
              <a:gd name="adj" fmla="val 9091"/>
            </a:avLst>
          </a:prstGeom>
          <a:solidFill>
            <a:srgbClr val="F4DEDD"/>
          </a:solidFill>
          <a:ln/>
        </p:spPr>
        <p:txBody>
          <a:bodyPr/>
          <a:lstStyle/>
          <a:p>
            <a:endParaRPr lang="fr-SN" dirty="0"/>
          </a:p>
        </p:txBody>
      </p:sp>
      <p:sp>
        <p:nvSpPr>
          <p:cNvPr id="135" name="Text 58">
            <a:extLst>
              <a:ext uri="{FF2B5EF4-FFF2-40B4-BE49-F238E27FC236}">
                <a16:creationId xmlns:a16="http://schemas.microsoft.com/office/drawing/2014/main" id="{839E91B7-2F3B-6384-601A-19222F1CCFC2}"/>
              </a:ext>
            </a:extLst>
          </p:cNvPr>
          <p:cNvSpPr/>
          <p:nvPr/>
        </p:nvSpPr>
        <p:spPr>
          <a:xfrm>
            <a:off x="1283208" y="5096256"/>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136" name="Shape 59">
            <a:extLst>
              <a:ext uri="{FF2B5EF4-FFF2-40B4-BE49-F238E27FC236}">
                <a16:creationId xmlns:a16="http://schemas.microsoft.com/office/drawing/2014/main" id="{0F4A5113-679A-387F-070C-37A77FB3FF45}"/>
              </a:ext>
            </a:extLst>
          </p:cNvPr>
          <p:cNvSpPr/>
          <p:nvPr/>
        </p:nvSpPr>
        <p:spPr>
          <a:xfrm>
            <a:off x="2865120" y="5096256"/>
            <a:ext cx="1472184" cy="402336"/>
          </a:xfrm>
          <a:prstGeom prst="roundRect">
            <a:avLst>
              <a:gd name="adj" fmla="val 9091"/>
            </a:avLst>
          </a:prstGeom>
          <a:solidFill>
            <a:srgbClr val="F4DEDD"/>
          </a:solidFill>
          <a:ln/>
        </p:spPr>
        <p:txBody>
          <a:bodyPr/>
          <a:lstStyle/>
          <a:p>
            <a:endParaRPr lang="fr-SN" dirty="0"/>
          </a:p>
        </p:txBody>
      </p:sp>
      <p:sp>
        <p:nvSpPr>
          <p:cNvPr id="137" name="Text 60">
            <a:extLst>
              <a:ext uri="{FF2B5EF4-FFF2-40B4-BE49-F238E27FC236}">
                <a16:creationId xmlns:a16="http://schemas.microsoft.com/office/drawing/2014/main" id="{D0B05527-7FB4-2087-F4F9-E6B6150FBD14}"/>
              </a:ext>
            </a:extLst>
          </p:cNvPr>
          <p:cNvSpPr/>
          <p:nvPr/>
        </p:nvSpPr>
        <p:spPr>
          <a:xfrm>
            <a:off x="2828544" y="5096256"/>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138" name="Shape 61">
            <a:extLst>
              <a:ext uri="{FF2B5EF4-FFF2-40B4-BE49-F238E27FC236}">
                <a16:creationId xmlns:a16="http://schemas.microsoft.com/office/drawing/2014/main" id="{1900B062-4AA9-BFDD-B673-425E1DE62848}"/>
              </a:ext>
            </a:extLst>
          </p:cNvPr>
          <p:cNvSpPr/>
          <p:nvPr/>
        </p:nvSpPr>
        <p:spPr>
          <a:xfrm>
            <a:off x="4410456" y="5096256"/>
            <a:ext cx="1472184" cy="402336"/>
          </a:xfrm>
          <a:prstGeom prst="roundRect">
            <a:avLst>
              <a:gd name="adj" fmla="val 9091"/>
            </a:avLst>
          </a:prstGeom>
          <a:solidFill>
            <a:srgbClr val="EAF4F1"/>
          </a:solidFill>
          <a:ln/>
        </p:spPr>
      </p:sp>
      <p:sp>
        <p:nvSpPr>
          <p:cNvPr id="139" name="Text 62">
            <a:extLst>
              <a:ext uri="{FF2B5EF4-FFF2-40B4-BE49-F238E27FC236}">
                <a16:creationId xmlns:a16="http://schemas.microsoft.com/office/drawing/2014/main" id="{13CC96C1-E9A2-37B8-478B-8C88E13D0391}"/>
              </a:ext>
            </a:extLst>
          </p:cNvPr>
          <p:cNvSpPr/>
          <p:nvPr/>
        </p:nvSpPr>
        <p:spPr>
          <a:xfrm>
            <a:off x="4414520" y="5096256"/>
            <a:ext cx="1472400" cy="402336"/>
          </a:xfrm>
          <a:prstGeom prst="rect">
            <a:avLst/>
          </a:prstGeom>
          <a:solidFill>
            <a:srgbClr val="F4DEDD"/>
          </a:solid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100%</a:t>
            </a:r>
          </a:p>
        </p:txBody>
      </p:sp>
      <p:sp>
        <p:nvSpPr>
          <p:cNvPr id="140" name="Shape 63">
            <a:extLst>
              <a:ext uri="{FF2B5EF4-FFF2-40B4-BE49-F238E27FC236}">
                <a16:creationId xmlns:a16="http://schemas.microsoft.com/office/drawing/2014/main" id="{0A17F07C-B19C-9A89-AEAA-DC44B54E5031}"/>
              </a:ext>
            </a:extLst>
          </p:cNvPr>
          <p:cNvSpPr/>
          <p:nvPr/>
        </p:nvSpPr>
        <p:spPr>
          <a:xfrm>
            <a:off x="5955792" y="5096256"/>
            <a:ext cx="1472184" cy="402336"/>
          </a:xfrm>
          <a:prstGeom prst="roundRect">
            <a:avLst>
              <a:gd name="adj" fmla="val 9091"/>
            </a:avLst>
          </a:prstGeom>
          <a:solidFill>
            <a:srgbClr val="EAF4F1"/>
          </a:solidFill>
          <a:ln/>
        </p:spPr>
        <p:txBody>
          <a:bodyPr/>
          <a:lstStyle/>
          <a:p>
            <a:endParaRPr lang="fr-SN" dirty="0"/>
          </a:p>
        </p:txBody>
      </p:sp>
      <p:sp>
        <p:nvSpPr>
          <p:cNvPr id="141" name="Text 64">
            <a:extLst>
              <a:ext uri="{FF2B5EF4-FFF2-40B4-BE49-F238E27FC236}">
                <a16:creationId xmlns:a16="http://schemas.microsoft.com/office/drawing/2014/main" id="{90757480-CF82-E068-2E63-FB2B3AD3FD82}"/>
              </a:ext>
            </a:extLst>
          </p:cNvPr>
          <p:cNvSpPr/>
          <p:nvPr/>
        </p:nvSpPr>
        <p:spPr>
          <a:xfrm>
            <a:off x="5919216" y="5096256"/>
            <a:ext cx="1545336" cy="402336"/>
          </a:xfrm>
          <a:prstGeom prst="rect">
            <a:avLst/>
          </a:prstGeom>
          <a:noFill/>
          <a:ln/>
        </p:spPr>
        <p:txBody>
          <a:bodyPr wrap="square" lIns="0" tIns="0" rIns="0" bIns="0" rtlCol="0" anchor="ctr"/>
          <a:lstStyle/>
          <a:p>
            <a:pPr algn="ctr"/>
            <a:r>
              <a:rPr lang="en-US" sz="1100" b="1" dirty="0">
                <a:solidFill>
                  <a:srgbClr val="2F7D6E"/>
                </a:solidFill>
                <a:latin typeface="Calibri" pitchFamily="34" charset="0"/>
                <a:ea typeface="Calibri" pitchFamily="34" charset="-122"/>
                <a:cs typeface="Calibri" pitchFamily="34" charset="-120"/>
              </a:rPr>
              <a:t>0%</a:t>
            </a:r>
          </a:p>
        </p:txBody>
      </p:sp>
      <p:sp>
        <p:nvSpPr>
          <p:cNvPr id="142" name="Shape 65">
            <a:extLst>
              <a:ext uri="{FF2B5EF4-FFF2-40B4-BE49-F238E27FC236}">
                <a16:creationId xmlns:a16="http://schemas.microsoft.com/office/drawing/2014/main" id="{743479FB-BD32-5A59-9CA4-E74B0674A3B6}"/>
              </a:ext>
            </a:extLst>
          </p:cNvPr>
          <p:cNvSpPr/>
          <p:nvPr/>
        </p:nvSpPr>
        <p:spPr>
          <a:xfrm>
            <a:off x="7501128" y="5096256"/>
            <a:ext cx="1472184" cy="402336"/>
          </a:xfrm>
          <a:prstGeom prst="roundRect">
            <a:avLst>
              <a:gd name="adj" fmla="val 9091"/>
            </a:avLst>
          </a:prstGeom>
          <a:solidFill>
            <a:srgbClr val="F4DEDD"/>
          </a:solidFill>
          <a:ln/>
        </p:spPr>
      </p:sp>
      <p:sp>
        <p:nvSpPr>
          <p:cNvPr id="143" name="Text 66">
            <a:extLst>
              <a:ext uri="{FF2B5EF4-FFF2-40B4-BE49-F238E27FC236}">
                <a16:creationId xmlns:a16="http://schemas.microsoft.com/office/drawing/2014/main" id="{3CF73CD2-2E47-59C6-F8B4-86B6328988B2}"/>
              </a:ext>
            </a:extLst>
          </p:cNvPr>
          <p:cNvSpPr/>
          <p:nvPr/>
        </p:nvSpPr>
        <p:spPr>
          <a:xfrm>
            <a:off x="7464552" y="5096256"/>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endParaRPr lang="en-US" sz="1100" dirty="0"/>
          </a:p>
        </p:txBody>
      </p:sp>
      <p:sp>
        <p:nvSpPr>
          <p:cNvPr id="144" name="Shape 68">
            <a:extLst>
              <a:ext uri="{FF2B5EF4-FFF2-40B4-BE49-F238E27FC236}">
                <a16:creationId xmlns:a16="http://schemas.microsoft.com/office/drawing/2014/main" id="{88D308C4-BDED-5049-4F47-41665FAA4DBB}"/>
              </a:ext>
            </a:extLst>
          </p:cNvPr>
          <p:cNvSpPr/>
          <p:nvPr/>
        </p:nvSpPr>
        <p:spPr>
          <a:xfrm>
            <a:off x="1319784" y="5590032"/>
            <a:ext cx="1472184" cy="402336"/>
          </a:xfrm>
          <a:prstGeom prst="roundRect">
            <a:avLst>
              <a:gd name="adj" fmla="val 9091"/>
            </a:avLst>
          </a:prstGeom>
          <a:solidFill>
            <a:srgbClr val="F1E3C3"/>
          </a:solidFill>
          <a:ln/>
        </p:spPr>
        <p:txBody>
          <a:bodyPr/>
          <a:lstStyle/>
          <a:p>
            <a:endParaRPr lang="fr-SN"/>
          </a:p>
        </p:txBody>
      </p:sp>
      <p:sp>
        <p:nvSpPr>
          <p:cNvPr id="145" name="Text 69">
            <a:extLst>
              <a:ext uri="{FF2B5EF4-FFF2-40B4-BE49-F238E27FC236}">
                <a16:creationId xmlns:a16="http://schemas.microsoft.com/office/drawing/2014/main" id="{017FD35B-C736-89FD-B764-A6E3A80181E6}"/>
              </a:ext>
            </a:extLst>
          </p:cNvPr>
          <p:cNvSpPr/>
          <p:nvPr/>
        </p:nvSpPr>
        <p:spPr>
          <a:xfrm>
            <a:off x="1283208" y="5590032"/>
            <a:ext cx="1545336" cy="402336"/>
          </a:xfrm>
          <a:prstGeom prst="rect">
            <a:avLst/>
          </a:prstGeom>
          <a:noFill/>
          <a:ln/>
        </p:spPr>
        <p:txBody>
          <a:bodyPr wrap="square" lIns="0" tIns="0" rIns="0" bIns="0" rtlCol="0" anchor="ctr"/>
          <a:lstStyle/>
          <a:p>
            <a:pPr marL="0" indent="0" algn="ctr">
              <a:buNone/>
            </a:pPr>
            <a:r>
              <a:rPr lang="en-US" sz="1100" b="1" dirty="0">
                <a:solidFill>
                  <a:srgbClr val="8A6A1F"/>
                </a:solidFill>
                <a:latin typeface="Calibri" pitchFamily="34" charset="0"/>
                <a:ea typeface="Calibri" pitchFamily="34" charset="-122"/>
                <a:cs typeface="Calibri" pitchFamily="34" charset="-120"/>
              </a:rPr>
              <a:t>16,4%</a:t>
            </a:r>
          </a:p>
        </p:txBody>
      </p:sp>
      <p:sp>
        <p:nvSpPr>
          <p:cNvPr id="146" name="Shape 70">
            <a:extLst>
              <a:ext uri="{FF2B5EF4-FFF2-40B4-BE49-F238E27FC236}">
                <a16:creationId xmlns:a16="http://schemas.microsoft.com/office/drawing/2014/main" id="{1116729C-69F2-6EA5-0EDC-67606B91497C}"/>
              </a:ext>
            </a:extLst>
          </p:cNvPr>
          <p:cNvSpPr/>
          <p:nvPr/>
        </p:nvSpPr>
        <p:spPr>
          <a:xfrm>
            <a:off x="2865120" y="5590032"/>
            <a:ext cx="1472184" cy="402336"/>
          </a:xfrm>
          <a:prstGeom prst="roundRect">
            <a:avLst>
              <a:gd name="adj" fmla="val 9091"/>
            </a:avLst>
          </a:prstGeom>
          <a:solidFill>
            <a:srgbClr val="F4DEDD"/>
          </a:solidFill>
          <a:ln/>
        </p:spPr>
      </p:sp>
      <p:sp>
        <p:nvSpPr>
          <p:cNvPr id="147" name="Text 71">
            <a:extLst>
              <a:ext uri="{FF2B5EF4-FFF2-40B4-BE49-F238E27FC236}">
                <a16:creationId xmlns:a16="http://schemas.microsoft.com/office/drawing/2014/main" id="{B03B3465-681E-BA79-BCB0-53F4184E4859}"/>
              </a:ext>
            </a:extLst>
          </p:cNvPr>
          <p:cNvSpPr/>
          <p:nvPr/>
        </p:nvSpPr>
        <p:spPr>
          <a:xfrm>
            <a:off x="2828544" y="5590032"/>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89%</a:t>
            </a:r>
          </a:p>
        </p:txBody>
      </p:sp>
      <p:sp>
        <p:nvSpPr>
          <p:cNvPr id="148" name="Shape 72">
            <a:extLst>
              <a:ext uri="{FF2B5EF4-FFF2-40B4-BE49-F238E27FC236}">
                <a16:creationId xmlns:a16="http://schemas.microsoft.com/office/drawing/2014/main" id="{5BE821E2-501E-53DD-1CFA-B6B0F035ABF9}"/>
              </a:ext>
            </a:extLst>
          </p:cNvPr>
          <p:cNvSpPr/>
          <p:nvPr/>
        </p:nvSpPr>
        <p:spPr>
          <a:xfrm>
            <a:off x="4410456" y="5590032"/>
            <a:ext cx="1472184" cy="402336"/>
          </a:xfrm>
          <a:prstGeom prst="roundRect">
            <a:avLst>
              <a:gd name="adj" fmla="val 9091"/>
            </a:avLst>
          </a:prstGeom>
          <a:solidFill>
            <a:srgbClr val="F4DEDD"/>
          </a:solidFill>
          <a:ln/>
        </p:spPr>
      </p:sp>
      <p:sp>
        <p:nvSpPr>
          <p:cNvPr id="149" name="Text 73">
            <a:extLst>
              <a:ext uri="{FF2B5EF4-FFF2-40B4-BE49-F238E27FC236}">
                <a16:creationId xmlns:a16="http://schemas.microsoft.com/office/drawing/2014/main" id="{6A6449B3-C622-7621-389B-DA7C98F3CB36}"/>
              </a:ext>
            </a:extLst>
          </p:cNvPr>
          <p:cNvSpPr/>
          <p:nvPr/>
        </p:nvSpPr>
        <p:spPr>
          <a:xfrm>
            <a:off x="4373880" y="5590032"/>
            <a:ext cx="1545336" cy="402336"/>
          </a:xfrm>
          <a:prstGeom prst="rect">
            <a:avLst/>
          </a:prstGeom>
          <a:noFill/>
          <a:ln/>
        </p:spPr>
        <p:txBody>
          <a:bodyPr wrap="square" lIns="0" tIns="0" rIns="0" bIns="0" rtlCol="0" anchor="ctr"/>
          <a:lstStyle/>
          <a:p>
            <a:pPr algn="ctr"/>
            <a:r>
              <a:rPr lang="en-US" sz="1100" b="1" dirty="0">
                <a:solidFill>
                  <a:srgbClr val="B33A3A"/>
                </a:solidFill>
                <a:latin typeface="Calibri" pitchFamily="34" charset="0"/>
                <a:ea typeface="Calibri" pitchFamily="34" charset="-122"/>
                <a:cs typeface="Calibri" pitchFamily="34" charset="-120"/>
              </a:rPr>
              <a:t>89%</a:t>
            </a:r>
          </a:p>
        </p:txBody>
      </p:sp>
      <p:sp>
        <p:nvSpPr>
          <p:cNvPr id="150" name="Shape 74">
            <a:extLst>
              <a:ext uri="{FF2B5EF4-FFF2-40B4-BE49-F238E27FC236}">
                <a16:creationId xmlns:a16="http://schemas.microsoft.com/office/drawing/2014/main" id="{961F48A4-AB0D-EF57-CD19-7ACE9B5ABF51}"/>
              </a:ext>
            </a:extLst>
          </p:cNvPr>
          <p:cNvSpPr/>
          <p:nvPr/>
        </p:nvSpPr>
        <p:spPr>
          <a:xfrm>
            <a:off x="5955792" y="5590032"/>
            <a:ext cx="1472184" cy="402336"/>
          </a:xfrm>
          <a:prstGeom prst="roundRect">
            <a:avLst>
              <a:gd name="adj" fmla="val 9091"/>
            </a:avLst>
          </a:prstGeom>
          <a:solidFill>
            <a:srgbClr val="EAF4F1"/>
          </a:solidFill>
          <a:ln/>
        </p:spPr>
      </p:sp>
      <p:sp>
        <p:nvSpPr>
          <p:cNvPr id="151" name="Text 75">
            <a:extLst>
              <a:ext uri="{FF2B5EF4-FFF2-40B4-BE49-F238E27FC236}">
                <a16:creationId xmlns:a16="http://schemas.microsoft.com/office/drawing/2014/main" id="{E7136782-10E6-0C4F-C733-96DEA30D12CB}"/>
              </a:ext>
            </a:extLst>
          </p:cNvPr>
          <p:cNvSpPr/>
          <p:nvPr/>
        </p:nvSpPr>
        <p:spPr>
          <a:xfrm>
            <a:off x="5919216" y="5590032"/>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9,4%</a:t>
            </a:r>
            <a:endParaRPr lang="en-US" sz="1100" dirty="0"/>
          </a:p>
        </p:txBody>
      </p:sp>
      <p:sp>
        <p:nvSpPr>
          <p:cNvPr id="152" name="Shape 76">
            <a:extLst>
              <a:ext uri="{FF2B5EF4-FFF2-40B4-BE49-F238E27FC236}">
                <a16:creationId xmlns:a16="http://schemas.microsoft.com/office/drawing/2014/main" id="{9D3567AC-6A12-8AA9-5970-1D63F7B2CA21}"/>
              </a:ext>
            </a:extLst>
          </p:cNvPr>
          <p:cNvSpPr/>
          <p:nvPr/>
        </p:nvSpPr>
        <p:spPr>
          <a:xfrm>
            <a:off x="7501128" y="5590032"/>
            <a:ext cx="1472184" cy="402336"/>
          </a:xfrm>
          <a:prstGeom prst="roundRect">
            <a:avLst>
              <a:gd name="adj" fmla="val 9091"/>
            </a:avLst>
          </a:prstGeom>
          <a:solidFill>
            <a:srgbClr val="F4DEDE"/>
          </a:solidFill>
          <a:ln/>
        </p:spPr>
      </p:sp>
      <p:sp>
        <p:nvSpPr>
          <p:cNvPr id="153" name="Text 77">
            <a:extLst>
              <a:ext uri="{FF2B5EF4-FFF2-40B4-BE49-F238E27FC236}">
                <a16:creationId xmlns:a16="http://schemas.microsoft.com/office/drawing/2014/main" id="{69B66181-07C7-49CD-914B-B9777C55FF01}"/>
              </a:ext>
            </a:extLst>
          </p:cNvPr>
          <p:cNvSpPr/>
          <p:nvPr/>
        </p:nvSpPr>
        <p:spPr>
          <a:xfrm>
            <a:off x="7464552" y="5590032"/>
            <a:ext cx="1472400"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97,8%</a:t>
            </a:r>
            <a:endParaRPr lang="en-US" sz="1100" dirty="0"/>
          </a:p>
        </p:txBody>
      </p:sp>
      <p:sp>
        <p:nvSpPr>
          <p:cNvPr id="154" name="Shape 54">
            <a:extLst>
              <a:ext uri="{FF2B5EF4-FFF2-40B4-BE49-F238E27FC236}">
                <a16:creationId xmlns:a16="http://schemas.microsoft.com/office/drawing/2014/main" id="{FFD9274E-B19A-A22F-179D-B3F7501EDEC6}"/>
              </a:ext>
            </a:extLst>
          </p:cNvPr>
          <p:cNvSpPr/>
          <p:nvPr/>
        </p:nvSpPr>
        <p:spPr>
          <a:xfrm>
            <a:off x="9061958" y="4592320"/>
            <a:ext cx="1472184" cy="402336"/>
          </a:xfrm>
          <a:prstGeom prst="roundRect">
            <a:avLst>
              <a:gd name="adj" fmla="val 9091"/>
            </a:avLst>
          </a:prstGeom>
          <a:solidFill>
            <a:srgbClr val="EAF4F1"/>
          </a:solidFill>
          <a:ln/>
        </p:spPr>
      </p:sp>
      <p:sp>
        <p:nvSpPr>
          <p:cNvPr id="155" name="Text 55">
            <a:extLst>
              <a:ext uri="{FF2B5EF4-FFF2-40B4-BE49-F238E27FC236}">
                <a16:creationId xmlns:a16="http://schemas.microsoft.com/office/drawing/2014/main" id="{A5CBB995-AFF3-06B6-2A05-4C783D187912}"/>
              </a:ext>
            </a:extLst>
          </p:cNvPr>
          <p:cNvSpPr/>
          <p:nvPr/>
        </p:nvSpPr>
        <p:spPr>
          <a:xfrm>
            <a:off x="9059672" y="4592320"/>
            <a:ext cx="1545336" cy="402336"/>
          </a:xfrm>
          <a:prstGeom prst="rect">
            <a:avLst/>
          </a:prstGeom>
          <a:no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p>
        </p:txBody>
      </p:sp>
      <p:sp>
        <p:nvSpPr>
          <p:cNvPr id="156" name="Shape 65">
            <a:extLst>
              <a:ext uri="{FF2B5EF4-FFF2-40B4-BE49-F238E27FC236}">
                <a16:creationId xmlns:a16="http://schemas.microsoft.com/office/drawing/2014/main" id="{2CE1D4C2-92BD-05F2-112D-71BD930BECB8}"/>
              </a:ext>
            </a:extLst>
          </p:cNvPr>
          <p:cNvSpPr/>
          <p:nvPr/>
        </p:nvSpPr>
        <p:spPr>
          <a:xfrm>
            <a:off x="9096248" y="5086096"/>
            <a:ext cx="1472184" cy="402336"/>
          </a:xfrm>
          <a:prstGeom prst="roundRect">
            <a:avLst>
              <a:gd name="adj" fmla="val 9091"/>
            </a:avLst>
          </a:prstGeom>
          <a:solidFill>
            <a:srgbClr val="EAF4F1"/>
          </a:solidFill>
          <a:ln/>
        </p:spPr>
      </p:sp>
      <p:sp>
        <p:nvSpPr>
          <p:cNvPr id="157" name="Text 66">
            <a:extLst>
              <a:ext uri="{FF2B5EF4-FFF2-40B4-BE49-F238E27FC236}">
                <a16:creationId xmlns:a16="http://schemas.microsoft.com/office/drawing/2014/main" id="{E1CD0F42-FD21-4F0A-F4CF-77F2C116279D}"/>
              </a:ext>
            </a:extLst>
          </p:cNvPr>
          <p:cNvSpPr/>
          <p:nvPr/>
        </p:nvSpPr>
        <p:spPr>
          <a:xfrm>
            <a:off x="9059672" y="5086096"/>
            <a:ext cx="1472400" cy="402336"/>
          </a:xfrm>
          <a:prstGeom prst="rect">
            <a:avLst/>
          </a:prstGeom>
          <a:solidFill>
            <a:srgbClr val="EAF4F1"/>
          </a:solidFill>
          <a:ln/>
        </p:spPr>
        <p:txBody>
          <a:bodyPr wrap="square" lIns="0" tIns="0" rIns="0" bIns="0" rtlCol="0" anchor="ctr"/>
          <a:lstStyle/>
          <a:p>
            <a:pPr marL="0" indent="0" algn="ctr">
              <a:buNone/>
            </a:pPr>
            <a:r>
              <a:rPr lang="en-US" sz="1100" b="1" dirty="0">
                <a:solidFill>
                  <a:srgbClr val="2F7D6E"/>
                </a:solidFill>
                <a:latin typeface="Calibri" pitchFamily="34" charset="0"/>
                <a:ea typeface="Calibri" pitchFamily="34" charset="-122"/>
                <a:cs typeface="Calibri" pitchFamily="34" charset="-120"/>
              </a:rPr>
              <a:t>0%</a:t>
            </a:r>
          </a:p>
        </p:txBody>
      </p:sp>
      <p:sp>
        <p:nvSpPr>
          <p:cNvPr id="158" name="Shape 76">
            <a:extLst>
              <a:ext uri="{FF2B5EF4-FFF2-40B4-BE49-F238E27FC236}">
                <a16:creationId xmlns:a16="http://schemas.microsoft.com/office/drawing/2014/main" id="{CB5F25C2-F6B1-A30B-41D9-7EDDEB6C8D8B}"/>
              </a:ext>
            </a:extLst>
          </p:cNvPr>
          <p:cNvSpPr/>
          <p:nvPr/>
        </p:nvSpPr>
        <p:spPr>
          <a:xfrm>
            <a:off x="9061958" y="5579872"/>
            <a:ext cx="1472184" cy="402336"/>
          </a:xfrm>
          <a:prstGeom prst="roundRect">
            <a:avLst>
              <a:gd name="adj" fmla="val 9091"/>
            </a:avLst>
          </a:prstGeom>
          <a:solidFill>
            <a:srgbClr val="F4DEDE"/>
          </a:solidFill>
          <a:ln/>
        </p:spPr>
      </p:sp>
      <p:sp>
        <p:nvSpPr>
          <p:cNvPr id="159" name="Text 77">
            <a:extLst>
              <a:ext uri="{FF2B5EF4-FFF2-40B4-BE49-F238E27FC236}">
                <a16:creationId xmlns:a16="http://schemas.microsoft.com/office/drawing/2014/main" id="{7F96BA81-A438-A18A-81A3-9E3DE6D39365}"/>
              </a:ext>
            </a:extLst>
          </p:cNvPr>
          <p:cNvSpPr/>
          <p:nvPr/>
        </p:nvSpPr>
        <p:spPr>
          <a:xfrm>
            <a:off x="9059672" y="5579872"/>
            <a:ext cx="1545336" cy="402336"/>
          </a:xfrm>
          <a:prstGeom prst="rect">
            <a:avLst/>
          </a:prstGeom>
          <a:noFill/>
          <a:ln/>
        </p:spPr>
        <p:txBody>
          <a:bodyPr wrap="square" lIns="0" tIns="0" rIns="0" bIns="0" rtlCol="0" anchor="ctr"/>
          <a:lstStyle/>
          <a:p>
            <a:pPr marL="0" indent="0" algn="ctr">
              <a:buNone/>
            </a:pPr>
            <a:r>
              <a:rPr lang="en-US" sz="1100" b="1" dirty="0">
                <a:solidFill>
                  <a:srgbClr val="B33A3A"/>
                </a:solidFill>
                <a:latin typeface="Calibri" pitchFamily="34" charset="0"/>
                <a:ea typeface="Calibri" pitchFamily="34" charset="-122"/>
                <a:cs typeface="Calibri" pitchFamily="34" charset="-120"/>
              </a:rPr>
              <a:t>100%</a:t>
            </a:r>
            <a:endParaRPr lang="en-US" sz="1100" dirty="0"/>
          </a:p>
        </p:txBody>
      </p:sp>
      <p:sp>
        <p:nvSpPr>
          <p:cNvPr id="160" name="Text 45">
            <a:extLst>
              <a:ext uri="{FF2B5EF4-FFF2-40B4-BE49-F238E27FC236}">
                <a16:creationId xmlns:a16="http://schemas.microsoft.com/office/drawing/2014/main" id="{C6ED7723-949B-F6F1-7408-7A90FB5C70B8}"/>
              </a:ext>
            </a:extLst>
          </p:cNvPr>
          <p:cNvSpPr/>
          <p:nvPr/>
        </p:nvSpPr>
        <p:spPr>
          <a:xfrm>
            <a:off x="445008" y="4556760"/>
            <a:ext cx="2194560" cy="493776"/>
          </a:xfrm>
          <a:prstGeom prst="rect">
            <a:avLst/>
          </a:prstGeom>
          <a:noFill/>
          <a:ln/>
        </p:spPr>
        <p:txBody>
          <a:bodyPr wrap="square" lIns="0" tIns="0" rIns="0" bIns="0" rtlCol="0" anchor="ctr"/>
          <a:lstStyle/>
          <a:p>
            <a:pPr marL="0" indent="0">
              <a:buNone/>
            </a:pPr>
            <a:r>
              <a:rPr lang="en-US" sz="1150" b="1" dirty="0" err="1">
                <a:solidFill>
                  <a:srgbClr val="1E2532"/>
                </a:solidFill>
                <a:latin typeface="Calibri" pitchFamily="34" charset="0"/>
                <a:ea typeface="Calibri" pitchFamily="34" charset="-122"/>
                <a:cs typeface="Calibri" pitchFamily="34" charset="-120"/>
              </a:rPr>
              <a:t>Fatick</a:t>
            </a:r>
            <a:endParaRPr lang="en-US" sz="1150" dirty="0"/>
          </a:p>
        </p:txBody>
      </p:sp>
      <p:sp>
        <p:nvSpPr>
          <p:cNvPr id="161" name="Text 56">
            <a:extLst>
              <a:ext uri="{FF2B5EF4-FFF2-40B4-BE49-F238E27FC236}">
                <a16:creationId xmlns:a16="http://schemas.microsoft.com/office/drawing/2014/main" id="{00A4D54F-7162-2C69-BE7B-944AE50248A2}"/>
              </a:ext>
            </a:extLst>
          </p:cNvPr>
          <p:cNvSpPr/>
          <p:nvPr/>
        </p:nvSpPr>
        <p:spPr>
          <a:xfrm>
            <a:off x="445008" y="5050536"/>
            <a:ext cx="2194560" cy="493776"/>
          </a:xfrm>
          <a:prstGeom prst="rect">
            <a:avLst/>
          </a:prstGeom>
          <a:noFill/>
          <a:ln/>
        </p:spPr>
        <p:txBody>
          <a:bodyPr wrap="square" lIns="0" tIns="0" rIns="0" bIns="0" rtlCol="0" anchor="ctr"/>
          <a:lstStyle/>
          <a:p>
            <a:pPr marL="0" indent="0">
              <a:buNone/>
            </a:pPr>
            <a:r>
              <a:rPr lang="en-US" sz="1150" b="1" dirty="0" err="1">
                <a:solidFill>
                  <a:srgbClr val="1E2532"/>
                </a:solidFill>
                <a:latin typeface="Calibri" pitchFamily="34" charset="0"/>
                <a:ea typeface="Calibri" pitchFamily="34" charset="-122"/>
                <a:cs typeface="Calibri" pitchFamily="34" charset="-120"/>
              </a:rPr>
              <a:t>Dioubel</a:t>
            </a:r>
            <a:endParaRPr lang="en-US" sz="1150" dirty="0"/>
          </a:p>
        </p:txBody>
      </p:sp>
      <p:sp>
        <p:nvSpPr>
          <p:cNvPr id="162" name="Text 67">
            <a:extLst>
              <a:ext uri="{FF2B5EF4-FFF2-40B4-BE49-F238E27FC236}">
                <a16:creationId xmlns:a16="http://schemas.microsoft.com/office/drawing/2014/main" id="{B45D683D-683E-07CD-C055-83C266436FF8}"/>
              </a:ext>
            </a:extLst>
          </p:cNvPr>
          <p:cNvSpPr/>
          <p:nvPr/>
        </p:nvSpPr>
        <p:spPr>
          <a:xfrm>
            <a:off x="445008" y="5544312"/>
            <a:ext cx="2194560" cy="493776"/>
          </a:xfrm>
          <a:prstGeom prst="rect">
            <a:avLst/>
          </a:prstGeom>
          <a:noFill/>
          <a:ln/>
        </p:spPr>
        <p:txBody>
          <a:bodyPr wrap="square" lIns="0" tIns="0" rIns="0" bIns="0" rtlCol="0" anchor="ctr"/>
          <a:lstStyle/>
          <a:p>
            <a:pPr marL="0" indent="0">
              <a:buNone/>
            </a:pPr>
            <a:r>
              <a:rPr lang="en-US" sz="1150" b="1" dirty="0">
                <a:solidFill>
                  <a:srgbClr val="1E2532"/>
                </a:solidFill>
                <a:latin typeface="Calibri" pitchFamily="34" charset="0"/>
                <a:ea typeface="Calibri" pitchFamily="34" charset="-122"/>
                <a:cs typeface="Calibri" pitchFamily="34" charset="-120"/>
              </a:rPr>
              <a:t>Dakar</a:t>
            </a:r>
            <a:endParaRPr lang="en-US" sz="1150" dirty="0"/>
          </a:p>
        </p:txBody>
      </p:sp>
      <p:sp>
        <p:nvSpPr>
          <p:cNvPr id="169" name="Shape 78">
            <a:extLst>
              <a:ext uri="{FF2B5EF4-FFF2-40B4-BE49-F238E27FC236}">
                <a16:creationId xmlns:a16="http://schemas.microsoft.com/office/drawing/2014/main" id="{32AFA045-2F2B-9DDD-5A6D-89D17FFE89F1}"/>
              </a:ext>
            </a:extLst>
          </p:cNvPr>
          <p:cNvSpPr/>
          <p:nvPr/>
        </p:nvSpPr>
        <p:spPr>
          <a:xfrm>
            <a:off x="566928" y="6131560"/>
            <a:ext cx="274320" cy="201168"/>
          </a:xfrm>
          <a:prstGeom prst="roundRect">
            <a:avLst>
              <a:gd name="adj" fmla="val 18182"/>
            </a:avLst>
          </a:prstGeom>
          <a:solidFill>
            <a:srgbClr val="EAF4F1"/>
          </a:solidFill>
          <a:ln/>
        </p:spPr>
      </p:sp>
      <p:sp>
        <p:nvSpPr>
          <p:cNvPr id="170" name="Text 79">
            <a:extLst>
              <a:ext uri="{FF2B5EF4-FFF2-40B4-BE49-F238E27FC236}">
                <a16:creationId xmlns:a16="http://schemas.microsoft.com/office/drawing/2014/main" id="{609A38F8-A908-DA52-8E18-C42F914038A1}"/>
              </a:ext>
            </a:extLst>
          </p:cNvPr>
          <p:cNvSpPr/>
          <p:nvPr/>
        </p:nvSpPr>
        <p:spPr>
          <a:xfrm>
            <a:off x="932688" y="6094984"/>
            <a:ext cx="2286000" cy="27432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Faible (≤ 15 %)</a:t>
            </a:r>
            <a:endParaRPr lang="en-US" sz="1050" dirty="0"/>
          </a:p>
        </p:txBody>
      </p:sp>
      <p:sp>
        <p:nvSpPr>
          <p:cNvPr id="171" name="Shape 80">
            <a:extLst>
              <a:ext uri="{FF2B5EF4-FFF2-40B4-BE49-F238E27FC236}">
                <a16:creationId xmlns:a16="http://schemas.microsoft.com/office/drawing/2014/main" id="{32718AC7-E4DC-802B-8DC6-F61BB9884B5F}"/>
              </a:ext>
            </a:extLst>
          </p:cNvPr>
          <p:cNvSpPr/>
          <p:nvPr/>
        </p:nvSpPr>
        <p:spPr>
          <a:xfrm>
            <a:off x="3310128" y="6131560"/>
            <a:ext cx="274320" cy="201168"/>
          </a:xfrm>
          <a:prstGeom prst="roundRect">
            <a:avLst>
              <a:gd name="adj" fmla="val 18182"/>
            </a:avLst>
          </a:prstGeom>
          <a:solidFill>
            <a:srgbClr val="F1E3C2"/>
          </a:solidFill>
          <a:ln/>
        </p:spPr>
      </p:sp>
      <p:sp>
        <p:nvSpPr>
          <p:cNvPr id="172" name="Text 81">
            <a:extLst>
              <a:ext uri="{FF2B5EF4-FFF2-40B4-BE49-F238E27FC236}">
                <a16:creationId xmlns:a16="http://schemas.microsoft.com/office/drawing/2014/main" id="{425877FE-7355-CF94-B7FD-E78CD193DFAC}"/>
              </a:ext>
            </a:extLst>
          </p:cNvPr>
          <p:cNvSpPr/>
          <p:nvPr/>
        </p:nvSpPr>
        <p:spPr>
          <a:xfrm>
            <a:off x="3675888" y="6094984"/>
            <a:ext cx="2286000" cy="27432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Intermédiaire</a:t>
            </a:r>
            <a:endParaRPr lang="en-US" sz="1050" dirty="0"/>
          </a:p>
        </p:txBody>
      </p:sp>
      <p:sp>
        <p:nvSpPr>
          <p:cNvPr id="173" name="Shape 82">
            <a:extLst>
              <a:ext uri="{FF2B5EF4-FFF2-40B4-BE49-F238E27FC236}">
                <a16:creationId xmlns:a16="http://schemas.microsoft.com/office/drawing/2014/main" id="{45E554DD-28E5-7D0D-20F7-4476502950AC}"/>
              </a:ext>
            </a:extLst>
          </p:cNvPr>
          <p:cNvSpPr/>
          <p:nvPr/>
        </p:nvSpPr>
        <p:spPr>
          <a:xfrm>
            <a:off x="6053328" y="6131560"/>
            <a:ext cx="274320" cy="201168"/>
          </a:xfrm>
          <a:prstGeom prst="roundRect">
            <a:avLst>
              <a:gd name="adj" fmla="val 18182"/>
            </a:avLst>
          </a:prstGeom>
          <a:solidFill>
            <a:srgbClr val="F4DEDE"/>
          </a:solidFill>
          <a:ln/>
        </p:spPr>
      </p:sp>
      <p:sp>
        <p:nvSpPr>
          <p:cNvPr id="174" name="Text 83">
            <a:extLst>
              <a:ext uri="{FF2B5EF4-FFF2-40B4-BE49-F238E27FC236}">
                <a16:creationId xmlns:a16="http://schemas.microsoft.com/office/drawing/2014/main" id="{60A167C6-E24A-C1A7-32F2-17DC384EB2D1}"/>
              </a:ext>
            </a:extLst>
          </p:cNvPr>
          <p:cNvSpPr/>
          <p:nvPr/>
        </p:nvSpPr>
        <p:spPr>
          <a:xfrm>
            <a:off x="6419088" y="6094984"/>
            <a:ext cx="2286000" cy="27432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Élevé (≥ 70 %)</a:t>
            </a:r>
            <a:endParaRPr lang="en-US" sz="1050" dirty="0"/>
          </a:p>
        </p:txBody>
      </p:sp>
      <p:pic>
        <p:nvPicPr>
          <p:cNvPr id="10" name="Graphique 9" descr="Ampoule et engrenage avec un remplissage uni">
            <a:extLst>
              <a:ext uri="{FF2B5EF4-FFF2-40B4-BE49-F238E27FC236}">
                <a16:creationId xmlns:a16="http://schemas.microsoft.com/office/drawing/2014/main" id="{21484CBC-29C0-137C-7C2D-A96F3658B9B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80368" y="6624270"/>
            <a:ext cx="216000" cy="216000"/>
          </a:xfrm>
          <a:prstGeom prst="rect">
            <a:avLst/>
          </a:prstGeom>
        </p:spPr>
      </p:pic>
    </p:spTree>
    <p:extLst>
      <p:ext uri="{BB962C8B-B14F-4D97-AF65-F5344CB8AC3E}">
        <p14:creationId xmlns:p14="http://schemas.microsoft.com/office/powerpoint/2010/main" val="577127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wheel(1)">
                                      <p:cBhvr>
                                        <p:cTn id="7" dur="500"/>
                                        <p:tgtEl>
                                          <p:spTgt spid="90"/>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wheel(1)">
                                      <p:cBhvr>
                                        <p:cTn id="11" dur="500"/>
                                        <p:tgtEl>
                                          <p:spTgt spid="89"/>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88"/>
                                        </p:tgtEl>
                                        <p:attrNameLst>
                                          <p:attrName>style.visibility</p:attrName>
                                        </p:attrNameLst>
                                      </p:cBhvr>
                                      <p:to>
                                        <p:strVal val="visible"/>
                                      </p:to>
                                    </p:set>
                                    <p:animEffect transition="in" filter="wheel(1)">
                                      <p:cBhvr>
                                        <p:cTn id="15"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11 / 21</a:t>
            </a:r>
            <a:endParaRPr lang="en-US" sz="900" dirty="0"/>
          </a:p>
        </p:txBody>
      </p:sp>
      <p:sp>
        <p:nvSpPr>
          <p:cNvPr id="11" name="Shape 7"/>
          <p:cNvSpPr/>
          <p:nvPr/>
        </p:nvSpPr>
        <p:spPr>
          <a:xfrm>
            <a:off x="8050123" y="1783080"/>
            <a:ext cx="3559759" cy="2426272"/>
          </a:xfrm>
          <a:prstGeom prst="roundRect">
            <a:avLst>
              <a:gd name="adj" fmla="val 2055"/>
            </a:avLst>
          </a:prstGeom>
          <a:solidFill>
            <a:srgbClr val="F4DEDE"/>
          </a:solidFill>
          <a:ln/>
          <a:effectLst>
            <a:outerShdw blurRad="114300" dist="38100" dir="5400000" algn="bl" rotWithShape="0">
              <a:srgbClr val="1B2A4A">
                <a:alpha val="10000"/>
              </a:srgbClr>
            </a:outerShdw>
          </a:effectLst>
        </p:spPr>
      </p:sp>
      <p:sp>
        <p:nvSpPr>
          <p:cNvPr id="13" name="Text 9"/>
          <p:cNvSpPr/>
          <p:nvPr/>
        </p:nvSpPr>
        <p:spPr>
          <a:xfrm>
            <a:off x="8378928" y="2125980"/>
            <a:ext cx="2974543" cy="1737360"/>
          </a:xfrm>
          <a:prstGeom prst="rect">
            <a:avLst/>
          </a:prstGeom>
          <a:noFill/>
          <a:ln/>
        </p:spPr>
        <p:txBody>
          <a:bodyPr wrap="square" lIns="0" tIns="0" rIns="0" bIns="0" rtlCol="0" anchor="ctr"/>
          <a:lstStyle/>
          <a:p>
            <a:pPr marL="0" indent="0" algn="just">
              <a:lnSpc>
                <a:spcPct val="122000"/>
              </a:lnSpc>
              <a:buNone/>
            </a:pPr>
            <a:r>
              <a:rPr lang="fr-FR" sz="1250" dirty="0">
                <a:latin typeface="Calibri" pitchFamily="34" charset="0"/>
                <a:ea typeface="Calibri" pitchFamily="34" charset="-122"/>
                <a:cs typeface="Calibri" pitchFamily="34" charset="-120"/>
              </a:rPr>
              <a:t>355 (56,5%) des enregistrements de toute la base disposent des deux variables financières simultanément renseignées. À l’inverse, 160 (25,5 %) n’ont ni l’action ni la voix. </a:t>
            </a:r>
            <a:endParaRPr lang="en-US" sz="1250" dirty="0"/>
          </a:p>
        </p:txBody>
      </p:sp>
      <p:sp>
        <p:nvSpPr>
          <p:cNvPr id="10" name="Shape 4">
            <a:extLst>
              <a:ext uri="{FF2B5EF4-FFF2-40B4-BE49-F238E27FC236}">
                <a16:creationId xmlns:a16="http://schemas.microsoft.com/office/drawing/2014/main" id="{70DC91B3-EEAE-2CFB-2696-64458F3F3913}"/>
              </a:ext>
            </a:extLst>
          </p:cNvPr>
          <p:cNvSpPr/>
          <p:nvPr/>
        </p:nvSpPr>
        <p:spPr>
          <a:xfrm>
            <a:off x="10044887" y="6561646"/>
            <a:ext cx="45720" cy="45720"/>
          </a:xfrm>
          <a:prstGeom prst="ellipse">
            <a:avLst/>
          </a:prstGeom>
          <a:solidFill>
            <a:srgbClr val="C9962F"/>
          </a:solidFill>
          <a:ln/>
        </p:spPr>
      </p:sp>
      <p:sp>
        <p:nvSpPr>
          <p:cNvPr id="17" name="Shape 5">
            <a:extLst>
              <a:ext uri="{FF2B5EF4-FFF2-40B4-BE49-F238E27FC236}">
                <a16:creationId xmlns:a16="http://schemas.microsoft.com/office/drawing/2014/main" id="{E5E85505-ADD1-E8EE-420F-819EBA6C5941}"/>
              </a:ext>
            </a:extLst>
          </p:cNvPr>
          <p:cNvSpPr/>
          <p:nvPr/>
        </p:nvSpPr>
        <p:spPr>
          <a:xfrm>
            <a:off x="9926015" y="6561646"/>
            <a:ext cx="45720" cy="45720"/>
          </a:xfrm>
          <a:prstGeom prst="ellipse">
            <a:avLst/>
          </a:prstGeom>
          <a:solidFill>
            <a:srgbClr val="C9962F"/>
          </a:solidFill>
          <a:ln/>
        </p:spPr>
      </p:sp>
      <p:sp>
        <p:nvSpPr>
          <p:cNvPr id="18" name="Shape 6">
            <a:extLst>
              <a:ext uri="{FF2B5EF4-FFF2-40B4-BE49-F238E27FC236}">
                <a16:creationId xmlns:a16="http://schemas.microsoft.com/office/drawing/2014/main" id="{B9EB310E-2378-1B3E-D978-BA17EBBAD302}"/>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DB4CE906-789D-6EA0-57C4-63F3DF58AB0C}"/>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RÉSULTATS DES ANALYSES</a:t>
            </a:r>
            <a:endParaRPr lang="en-US" sz="3200" dirty="0"/>
          </a:p>
        </p:txBody>
      </p:sp>
      <p:sp>
        <p:nvSpPr>
          <p:cNvPr id="9" name="Text 1">
            <a:extLst>
              <a:ext uri="{FF2B5EF4-FFF2-40B4-BE49-F238E27FC236}">
                <a16:creationId xmlns:a16="http://schemas.microsoft.com/office/drawing/2014/main" id="{872A0FCB-02EA-1191-2BA4-B12A3BE915A1}"/>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800" b="1" dirty="0">
                <a:solidFill>
                  <a:srgbClr val="082AF5"/>
                </a:solidFill>
                <a:latin typeface="Montserrat" pitchFamily="34" charset="0"/>
                <a:ea typeface="Montserrat" pitchFamily="34" charset="-122"/>
                <a:cs typeface="Montserrat" pitchFamily="34" charset="-120"/>
              </a:rPr>
              <a:t>Analyse de valeurs manquantes financières (action et voix)</a:t>
            </a:r>
            <a:endParaRPr lang="en-US" sz="2800" dirty="0">
              <a:solidFill>
                <a:srgbClr val="082AF5"/>
              </a:solidFill>
            </a:endParaRPr>
          </a:p>
        </p:txBody>
      </p:sp>
      <p:graphicFrame>
        <p:nvGraphicFramePr>
          <p:cNvPr id="3" name="Graphique 2">
            <a:extLst>
              <a:ext uri="{FF2B5EF4-FFF2-40B4-BE49-F238E27FC236}">
                <a16:creationId xmlns:a16="http://schemas.microsoft.com/office/drawing/2014/main" id="{00000000-0008-0000-0000-000003000000}"/>
              </a:ext>
            </a:extLst>
          </p:cNvPr>
          <p:cNvGraphicFramePr/>
          <p:nvPr>
            <p:extLst>
              <p:ext uri="{D42A27DB-BD31-4B8C-83A1-F6EECF244321}">
                <p14:modId xmlns:p14="http://schemas.microsoft.com/office/powerpoint/2010/main" val="2020347367"/>
              </p:ext>
            </p:extLst>
          </p:nvPr>
        </p:nvGraphicFramePr>
        <p:xfrm>
          <a:off x="859840" y="1511046"/>
          <a:ext cx="6807899" cy="4768568"/>
        </p:xfrm>
        <a:graphic>
          <a:graphicData uri="http://schemas.openxmlformats.org/drawingml/2006/chart">
            <c:chart xmlns:c="http://schemas.openxmlformats.org/drawingml/2006/chart" xmlns:r="http://schemas.openxmlformats.org/officeDocument/2006/relationships" r:id="rId4"/>
          </a:graphicData>
        </a:graphic>
      </p:graphicFrame>
      <p:pic>
        <p:nvPicPr>
          <p:cNvPr id="4" name="Graphique 3" descr="Ampoule et engrenage avec un remplissage uni">
            <a:extLst>
              <a:ext uri="{FF2B5EF4-FFF2-40B4-BE49-F238E27FC236}">
                <a16:creationId xmlns:a16="http://schemas.microsoft.com/office/drawing/2014/main" id="{AF35F815-AABC-FB72-D162-87BA3F5DCD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Tree>
    <p:extLst>
      <p:ext uri="{BB962C8B-B14F-4D97-AF65-F5344CB8AC3E}">
        <p14:creationId xmlns:p14="http://schemas.microsoft.com/office/powerpoint/2010/main" val="1281110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500"/>
                                        <p:tgtEl>
                                          <p:spTgt spid="18"/>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heel(1)">
                                      <p:cBhvr>
                                        <p:cTn id="11" dur="500"/>
                                        <p:tgtEl>
                                          <p:spTgt spid="17"/>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10 / 21</a:t>
            </a:r>
            <a:endParaRPr lang="en-US" sz="900" dirty="0"/>
          </a:p>
        </p:txBody>
      </p:sp>
      <p:sp>
        <p:nvSpPr>
          <p:cNvPr id="11" name="Shape 7"/>
          <p:cNvSpPr/>
          <p:nvPr/>
        </p:nvSpPr>
        <p:spPr>
          <a:xfrm>
            <a:off x="8065008" y="1737360"/>
            <a:ext cx="3559759" cy="4160520"/>
          </a:xfrm>
          <a:prstGeom prst="roundRect">
            <a:avLst>
              <a:gd name="adj" fmla="val 2055"/>
            </a:avLst>
          </a:prstGeom>
          <a:solidFill>
            <a:srgbClr val="F4DEDE"/>
          </a:solidFill>
          <a:ln/>
          <a:effectLst>
            <a:outerShdw blurRad="114300" dist="38100" dir="5400000" algn="bl" rotWithShape="0">
              <a:srgbClr val="1B2A4A">
                <a:alpha val="10000"/>
              </a:srgbClr>
            </a:outerShdw>
          </a:effectLst>
        </p:spPr>
      </p:sp>
      <p:sp>
        <p:nvSpPr>
          <p:cNvPr id="12" name="Text 8"/>
          <p:cNvSpPr/>
          <p:nvPr/>
        </p:nvSpPr>
        <p:spPr>
          <a:xfrm>
            <a:off x="8357616" y="1965960"/>
            <a:ext cx="2974543" cy="868680"/>
          </a:xfrm>
          <a:prstGeom prst="rect">
            <a:avLst/>
          </a:prstGeom>
          <a:noFill/>
          <a:ln/>
        </p:spPr>
        <p:txBody>
          <a:bodyPr wrap="square" lIns="0" tIns="0" rIns="0" bIns="0" rtlCol="0" anchor="ctr"/>
          <a:lstStyle/>
          <a:p>
            <a:pPr marL="0" indent="0">
              <a:buNone/>
            </a:pPr>
            <a:r>
              <a:rPr lang="en-US" sz="4200" b="1" dirty="0">
                <a:solidFill>
                  <a:srgbClr val="C9962F"/>
                </a:solidFill>
                <a:latin typeface="Montserrat" pitchFamily="34" charset="0"/>
                <a:ea typeface="Montserrat" pitchFamily="34" charset="-122"/>
                <a:cs typeface="Montserrat" pitchFamily="34" charset="-120"/>
              </a:rPr>
              <a:t>86,8 %</a:t>
            </a:r>
            <a:endParaRPr lang="en-US" sz="4200" dirty="0"/>
          </a:p>
        </p:txBody>
      </p:sp>
      <p:sp>
        <p:nvSpPr>
          <p:cNvPr id="13" name="Text 9"/>
          <p:cNvSpPr/>
          <p:nvPr/>
        </p:nvSpPr>
        <p:spPr>
          <a:xfrm>
            <a:off x="8357616" y="2880360"/>
            <a:ext cx="2974543" cy="1737360"/>
          </a:xfrm>
          <a:prstGeom prst="rect">
            <a:avLst/>
          </a:prstGeom>
          <a:noFill/>
          <a:ln/>
        </p:spPr>
        <p:txBody>
          <a:bodyPr wrap="square" lIns="0" tIns="0" rIns="0" bIns="0" rtlCol="0" anchor="ctr"/>
          <a:lstStyle/>
          <a:p>
            <a:pPr marL="0" indent="0" algn="just">
              <a:lnSpc>
                <a:spcPct val="122000"/>
              </a:lnSpc>
              <a:buNone/>
            </a:pPr>
            <a:r>
              <a:rPr lang="en-US" sz="1250" dirty="0">
                <a:latin typeface="Calibri" pitchFamily="34" charset="0"/>
                <a:ea typeface="Calibri" pitchFamily="34" charset="-122"/>
                <a:cs typeface="Calibri" pitchFamily="34" charset="-120"/>
              </a:rPr>
              <a:t>des 628 enregistrements (</a:t>
            </a:r>
            <a:r>
              <a:rPr lang="en-US" sz="1250" dirty="0" err="1">
                <a:latin typeface="Calibri" pitchFamily="34" charset="0"/>
                <a:ea typeface="Calibri" pitchFamily="34" charset="-122"/>
                <a:cs typeface="Calibri" pitchFamily="34" charset="-120"/>
              </a:rPr>
              <a:t>soit</a:t>
            </a:r>
            <a:r>
              <a:rPr lang="en-US" sz="1250" dirty="0">
                <a:latin typeface="Calibri" pitchFamily="34" charset="0"/>
                <a:ea typeface="Calibri" pitchFamily="34" charset="-122"/>
                <a:cs typeface="Calibri" pitchFamily="34" charset="-120"/>
              </a:rPr>
              <a:t> 545 </a:t>
            </a:r>
            <a:r>
              <a:rPr lang="en-US" sz="1250" dirty="0" err="1">
                <a:latin typeface="Calibri" pitchFamily="34" charset="0"/>
                <a:ea typeface="Calibri" pitchFamily="34" charset="-122"/>
                <a:cs typeface="Calibri" pitchFamily="34" charset="-120"/>
              </a:rPr>
              <a:t>cas</a:t>
            </a:r>
            <a:r>
              <a:rPr lang="en-US" sz="1250" dirty="0">
                <a:latin typeface="Calibri" pitchFamily="34" charset="0"/>
                <a:ea typeface="Calibri" pitchFamily="34" charset="-122"/>
                <a:cs typeface="Calibri" pitchFamily="34" charset="-120"/>
              </a:rPr>
              <a:t>) confondent le code binaire « Est Une PPE » avec le champ texte « Fonction PPE »,</a:t>
            </a:r>
            <a:endParaRPr lang="en-US" sz="1250" dirty="0"/>
          </a:p>
        </p:txBody>
      </p:sp>
      <p:sp>
        <p:nvSpPr>
          <p:cNvPr id="15" name="Text 11"/>
          <p:cNvSpPr/>
          <p:nvPr/>
        </p:nvSpPr>
        <p:spPr>
          <a:xfrm>
            <a:off x="8357616" y="4282440"/>
            <a:ext cx="2974543" cy="1005840"/>
          </a:xfrm>
          <a:prstGeom prst="rect">
            <a:avLst/>
          </a:prstGeom>
          <a:noFill/>
          <a:ln/>
        </p:spPr>
        <p:txBody>
          <a:bodyPr wrap="square" lIns="0" tIns="0" rIns="0" bIns="0" rtlCol="0" anchor="ctr"/>
          <a:lstStyle/>
          <a:p>
            <a:pPr marL="0" indent="0" algn="just">
              <a:lnSpc>
                <a:spcPct val="120000"/>
              </a:lnSpc>
              <a:buNone/>
            </a:pPr>
            <a:r>
              <a:rPr lang="en-US" sz="1050" i="1" dirty="0">
                <a:latin typeface="Calibri" pitchFamily="34" charset="0"/>
                <a:ea typeface="Calibri" pitchFamily="34" charset="-122"/>
                <a:cs typeface="Calibri" pitchFamily="34" charset="-120"/>
              </a:rPr>
              <a:t>+ 18 </a:t>
            </a:r>
            <a:r>
              <a:rPr lang="en-US" sz="1050" i="1" dirty="0" err="1">
                <a:latin typeface="Calibri" pitchFamily="34" charset="0"/>
                <a:ea typeface="Calibri" pitchFamily="34" charset="-122"/>
                <a:cs typeface="Calibri" pitchFamily="34" charset="-120"/>
              </a:rPr>
              <a:t>cas</a:t>
            </a:r>
            <a:r>
              <a:rPr lang="en-US" sz="1050" i="1" dirty="0">
                <a:latin typeface="Calibri" pitchFamily="34" charset="0"/>
                <a:ea typeface="Calibri" pitchFamily="34" charset="-122"/>
                <a:cs typeface="Calibri" pitchFamily="34" charset="-120"/>
              </a:rPr>
              <a:t> </a:t>
            </a:r>
            <a:r>
              <a:rPr lang="en-US" sz="1050" i="1" dirty="0" err="1">
                <a:latin typeface="Calibri" pitchFamily="34" charset="0"/>
                <a:ea typeface="Calibri" pitchFamily="34" charset="-122"/>
                <a:cs typeface="Calibri" pitchFamily="34" charset="-120"/>
              </a:rPr>
              <a:t>isolés</a:t>
            </a:r>
            <a:r>
              <a:rPr lang="en-US" sz="1050" i="1" dirty="0">
                <a:latin typeface="Calibri" pitchFamily="34" charset="0"/>
                <a:ea typeface="Calibri" pitchFamily="34" charset="-122"/>
                <a:cs typeface="Calibri" pitchFamily="34" charset="-120"/>
              </a:rPr>
              <a:t> </a:t>
            </a:r>
            <a:r>
              <a:rPr lang="en-US" sz="1050" i="1" dirty="0" err="1">
                <a:latin typeface="Calibri" pitchFamily="34" charset="0"/>
                <a:ea typeface="Calibri" pitchFamily="34" charset="-122"/>
                <a:cs typeface="Calibri" pitchFamily="34" charset="-120"/>
              </a:rPr>
              <a:t>concernant</a:t>
            </a:r>
            <a:r>
              <a:rPr lang="en-US" sz="1050" i="1" dirty="0">
                <a:latin typeface="Calibri" pitchFamily="34" charset="0"/>
                <a:ea typeface="Calibri" pitchFamily="34" charset="-122"/>
                <a:cs typeface="Calibri" pitchFamily="34" charset="-120"/>
              </a:rPr>
              <a:t> les </a:t>
            </a:r>
            <a:r>
              <a:rPr lang="en-US" sz="1050" i="1" dirty="0" err="1">
                <a:latin typeface="Calibri" pitchFamily="34" charset="0"/>
                <a:ea typeface="Calibri" pitchFamily="34" charset="-122"/>
                <a:cs typeface="Calibri" pitchFamily="34" charset="-120"/>
              </a:rPr>
              <a:t>erreurs</a:t>
            </a:r>
            <a:r>
              <a:rPr lang="en-US" sz="1050" i="1" dirty="0">
                <a:latin typeface="Calibri" pitchFamily="34" charset="0"/>
                <a:ea typeface="Calibri" pitchFamily="34" charset="-122"/>
                <a:cs typeface="Calibri" pitchFamily="34" charset="-120"/>
              </a:rPr>
              <a:t> </a:t>
            </a:r>
            <a:r>
              <a:rPr lang="en-US" sz="1050" i="1" dirty="0" err="1">
                <a:latin typeface="Calibri" pitchFamily="34" charset="0"/>
                <a:ea typeface="Calibri" pitchFamily="34" charset="-122"/>
                <a:cs typeface="Calibri" pitchFamily="34" charset="-120"/>
              </a:rPr>
              <a:t>suivantes</a:t>
            </a:r>
            <a:r>
              <a:rPr lang="en-US" sz="1050" i="1" dirty="0">
                <a:latin typeface="Calibri" pitchFamily="34" charset="0"/>
                <a:ea typeface="Calibri" pitchFamily="34" charset="-122"/>
                <a:cs typeface="Calibri" pitchFamily="34" charset="-120"/>
              </a:rPr>
              <a:t> : </a:t>
            </a:r>
          </a:p>
          <a:p>
            <a:pPr marL="171450" indent="-171450">
              <a:lnSpc>
                <a:spcPct val="120000"/>
              </a:lnSpc>
              <a:buFont typeface="Arial" panose="020B0604020202020204" pitchFamily="34" charset="0"/>
              <a:buChar char="•"/>
            </a:pPr>
            <a:r>
              <a:rPr lang="en-US" sz="1050" i="1" dirty="0" err="1">
                <a:latin typeface="Calibri" pitchFamily="34" charset="0"/>
                <a:ea typeface="Calibri" pitchFamily="34" charset="-122"/>
                <a:cs typeface="Calibri" pitchFamily="34" charset="-120"/>
              </a:rPr>
              <a:t>noms</a:t>
            </a:r>
            <a:r>
              <a:rPr lang="en-US" sz="1050" i="1" dirty="0">
                <a:latin typeface="Calibri" pitchFamily="34" charset="0"/>
                <a:ea typeface="Calibri" pitchFamily="34" charset="-122"/>
                <a:cs typeface="Calibri" pitchFamily="34" charset="-120"/>
              </a:rPr>
              <a:t> de pays saisis dans « Est Une PPE », </a:t>
            </a:r>
          </a:p>
          <a:p>
            <a:pPr marL="171450" indent="-171450">
              <a:lnSpc>
                <a:spcPct val="120000"/>
              </a:lnSpc>
              <a:buFont typeface="Arial" panose="020B0604020202020204" pitchFamily="34" charset="0"/>
              <a:buChar char="•"/>
            </a:pPr>
            <a:r>
              <a:rPr lang="en-US" sz="1050" i="1" dirty="0" err="1">
                <a:latin typeface="Calibri" pitchFamily="34" charset="0"/>
                <a:ea typeface="Calibri" pitchFamily="34" charset="-122"/>
                <a:cs typeface="Calibri" pitchFamily="34" charset="-120"/>
              </a:rPr>
              <a:t>noms</a:t>
            </a:r>
            <a:r>
              <a:rPr lang="en-US" sz="1050" i="1" dirty="0">
                <a:latin typeface="Calibri" pitchFamily="34" charset="0"/>
                <a:ea typeface="Calibri" pitchFamily="34" charset="-122"/>
                <a:cs typeface="Calibri" pitchFamily="34" charset="-120"/>
              </a:rPr>
              <a:t> de personnes dans « Fonction PPE », </a:t>
            </a:r>
          </a:p>
          <a:p>
            <a:pPr marL="171450" indent="-171450">
              <a:lnSpc>
                <a:spcPct val="120000"/>
              </a:lnSpc>
              <a:buFont typeface="Arial" panose="020B0604020202020204" pitchFamily="34" charset="0"/>
              <a:buChar char="•"/>
            </a:pPr>
            <a:r>
              <a:rPr lang="en-US" sz="1050" i="1" dirty="0" err="1">
                <a:latin typeface="Calibri" pitchFamily="34" charset="0"/>
                <a:ea typeface="Calibri" pitchFamily="34" charset="-122"/>
                <a:cs typeface="Calibri" pitchFamily="34" charset="-120"/>
              </a:rPr>
              <a:t>libellés</a:t>
            </a:r>
            <a:r>
              <a:rPr lang="en-US" sz="1050" i="1" dirty="0">
                <a:latin typeface="Calibri" pitchFamily="34" charset="0"/>
                <a:ea typeface="Calibri" pitchFamily="34" charset="-122"/>
                <a:cs typeface="Calibri" pitchFamily="34" charset="-120"/>
              </a:rPr>
              <a:t> collectifs dans « NomPPE ».</a:t>
            </a:r>
            <a:endParaRPr lang="en-US" sz="1050" dirty="0"/>
          </a:p>
        </p:txBody>
      </p:sp>
      <p:sp>
        <p:nvSpPr>
          <p:cNvPr id="10" name="Shape 4">
            <a:extLst>
              <a:ext uri="{FF2B5EF4-FFF2-40B4-BE49-F238E27FC236}">
                <a16:creationId xmlns:a16="http://schemas.microsoft.com/office/drawing/2014/main" id="{70DC91B3-EEAE-2CFB-2696-64458F3F3913}"/>
              </a:ext>
            </a:extLst>
          </p:cNvPr>
          <p:cNvSpPr/>
          <p:nvPr/>
        </p:nvSpPr>
        <p:spPr>
          <a:xfrm>
            <a:off x="10044887" y="6561646"/>
            <a:ext cx="45720" cy="45720"/>
          </a:xfrm>
          <a:prstGeom prst="ellipse">
            <a:avLst/>
          </a:prstGeom>
          <a:solidFill>
            <a:srgbClr val="C9962F"/>
          </a:solidFill>
          <a:ln/>
        </p:spPr>
      </p:sp>
      <p:sp>
        <p:nvSpPr>
          <p:cNvPr id="17" name="Shape 5">
            <a:extLst>
              <a:ext uri="{FF2B5EF4-FFF2-40B4-BE49-F238E27FC236}">
                <a16:creationId xmlns:a16="http://schemas.microsoft.com/office/drawing/2014/main" id="{E5E85505-ADD1-E8EE-420F-819EBA6C5941}"/>
              </a:ext>
            </a:extLst>
          </p:cNvPr>
          <p:cNvSpPr/>
          <p:nvPr/>
        </p:nvSpPr>
        <p:spPr>
          <a:xfrm>
            <a:off x="9926015" y="6561646"/>
            <a:ext cx="45720" cy="45720"/>
          </a:xfrm>
          <a:prstGeom prst="ellipse">
            <a:avLst/>
          </a:prstGeom>
          <a:solidFill>
            <a:srgbClr val="C9962F"/>
          </a:solidFill>
          <a:ln/>
        </p:spPr>
      </p:sp>
      <p:sp>
        <p:nvSpPr>
          <p:cNvPr id="18" name="Shape 6">
            <a:extLst>
              <a:ext uri="{FF2B5EF4-FFF2-40B4-BE49-F238E27FC236}">
                <a16:creationId xmlns:a16="http://schemas.microsoft.com/office/drawing/2014/main" id="{B9EB310E-2378-1B3E-D978-BA17EBBAD302}"/>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DB4CE906-789D-6EA0-57C4-63F3DF58AB0C}"/>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RÉSULTATS DES ANALYSES</a:t>
            </a:r>
            <a:endParaRPr lang="en-US" sz="3200" dirty="0"/>
          </a:p>
        </p:txBody>
      </p:sp>
      <p:sp>
        <p:nvSpPr>
          <p:cNvPr id="9" name="Text 1">
            <a:extLst>
              <a:ext uri="{FF2B5EF4-FFF2-40B4-BE49-F238E27FC236}">
                <a16:creationId xmlns:a16="http://schemas.microsoft.com/office/drawing/2014/main" id="{872A0FCB-02EA-1191-2BA4-B12A3BE915A1}"/>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800" b="1" dirty="0">
                <a:solidFill>
                  <a:srgbClr val="082AF5"/>
                </a:solidFill>
                <a:latin typeface="Montserrat" pitchFamily="34" charset="0"/>
                <a:ea typeface="Montserrat" pitchFamily="34" charset="-122"/>
                <a:cs typeface="Montserrat" pitchFamily="34" charset="-120"/>
              </a:rPr>
              <a:t>Analyse par type d’erreurs de saisie</a:t>
            </a:r>
            <a:endParaRPr lang="en-US" sz="2800" dirty="0">
              <a:solidFill>
                <a:srgbClr val="082AF5"/>
              </a:solidFill>
            </a:endParaRPr>
          </a:p>
        </p:txBody>
      </p:sp>
      <p:graphicFrame>
        <p:nvGraphicFramePr>
          <p:cNvPr id="22" name="Graphique 21">
            <a:extLst>
              <a:ext uri="{FF2B5EF4-FFF2-40B4-BE49-F238E27FC236}">
                <a16:creationId xmlns:a16="http://schemas.microsoft.com/office/drawing/2014/main" id="{A4A0D08E-8AE0-904D-2FF9-E5D5E1268E50}"/>
              </a:ext>
            </a:extLst>
          </p:cNvPr>
          <p:cNvGraphicFramePr>
            <a:graphicFrameLocks/>
          </p:cNvGraphicFramePr>
          <p:nvPr>
            <p:extLst>
              <p:ext uri="{D42A27DB-BD31-4B8C-83A1-F6EECF244321}">
                <p14:modId xmlns:p14="http://schemas.microsoft.com/office/powerpoint/2010/main" val="1489875489"/>
              </p:ext>
            </p:extLst>
          </p:nvPr>
        </p:nvGraphicFramePr>
        <p:xfrm>
          <a:off x="1072346" y="1539685"/>
          <a:ext cx="6109294" cy="4520501"/>
        </p:xfrm>
        <a:graphic>
          <a:graphicData uri="http://schemas.openxmlformats.org/drawingml/2006/chart">
            <c:chart xmlns:c="http://schemas.openxmlformats.org/drawingml/2006/chart" xmlns:r="http://schemas.openxmlformats.org/officeDocument/2006/relationships" r:id="rId4"/>
          </a:graphicData>
        </a:graphic>
      </p:graphicFrame>
      <p:pic>
        <p:nvPicPr>
          <p:cNvPr id="3" name="Graphique 2" descr="Ampoule et engrenage avec un remplissage uni">
            <a:extLst>
              <a:ext uri="{FF2B5EF4-FFF2-40B4-BE49-F238E27FC236}">
                <a16:creationId xmlns:a16="http://schemas.microsoft.com/office/drawing/2014/main" id="{D75F9D37-B17D-3A76-60AC-BE748E9078E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
        <p:nvSpPr>
          <p:cNvPr id="4" name="Text 13">
            <a:extLst>
              <a:ext uri="{FF2B5EF4-FFF2-40B4-BE49-F238E27FC236}">
                <a16:creationId xmlns:a16="http://schemas.microsoft.com/office/drawing/2014/main" id="{741823A8-F558-B96E-C99F-8D29A562EB04}"/>
              </a:ext>
            </a:extLst>
          </p:cNvPr>
          <p:cNvSpPr/>
          <p:nvPr/>
        </p:nvSpPr>
        <p:spPr>
          <a:xfrm>
            <a:off x="3840685" y="3654412"/>
            <a:ext cx="6348679" cy="320040"/>
          </a:xfrm>
          <a:prstGeom prst="rect">
            <a:avLst/>
          </a:prstGeom>
          <a:noFill/>
          <a:ln/>
        </p:spPr>
        <p:txBody>
          <a:bodyPr wrap="square" lIns="0" tIns="0" rIns="0" bIns="0" rtlCol="0" anchor="ctr"/>
          <a:lstStyle/>
          <a:p>
            <a:pPr marL="0" indent="0">
              <a:buNone/>
            </a:pPr>
            <a:r>
              <a:rPr lang="fr-SN" sz="1150" b="1" kern="0" spc="80" dirty="0">
                <a:solidFill>
                  <a:srgbClr val="1B2A4A"/>
                </a:solidFill>
                <a:latin typeface="Calibri" pitchFamily="34" charset="0"/>
                <a:ea typeface="Calibri" pitchFamily="34" charset="-122"/>
                <a:cs typeface="Calibri" pitchFamily="34" charset="-120"/>
              </a:rPr>
              <a:t>04 Types d’erreurs de saisie</a:t>
            </a:r>
            <a:endParaRPr lang="fr-SN" sz="11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500"/>
                                        <p:tgtEl>
                                          <p:spTgt spid="18"/>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heel(1)">
                                      <p:cBhvr>
                                        <p:cTn id="11" dur="500"/>
                                        <p:tgtEl>
                                          <p:spTgt spid="17"/>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12 / 21</a:t>
            </a:r>
            <a:endParaRPr lang="en-US" sz="900" dirty="0"/>
          </a:p>
        </p:txBody>
      </p:sp>
      <p:sp>
        <p:nvSpPr>
          <p:cNvPr id="10" name="Shape 7"/>
          <p:cNvSpPr/>
          <p:nvPr/>
        </p:nvSpPr>
        <p:spPr>
          <a:xfrm>
            <a:off x="566928" y="1203452"/>
            <a:ext cx="5074920" cy="2286000"/>
          </a:xfrm>
          <a:prstGeom prst="roundRect">
            <a:avLst>
              <a:gd name="adj" fmla="val 3200"/>
            </a:avLst>
          </a:prstGeom>
          <a:solidFill>
            <a:srgbClr val="FFFFFF"/>
          </a:solidFill>
          <a:ln/>
          <a:effectLst>
            <a:outerShdw blurRad="114300" dist="38100" dir="5400000" algn="bl" rotWithShape="0">
              <a:srgbClr val="1B2A4A">
                <a:alpha val="10000"/>
              </a:srgbClr>
            </a:outerShdw>
          </a:effectLst>
        </p:spPr>
      </p:sp>
      <p:sp>
        <p:nvSpPr>
          <p:cNvPr id="11" name="Shape 8"/>
          <p:cNvSpPr/>
          <p:nvPr/>
        </p:nvSpPr>
        <p:spPr>
          <a:xfrm>
            <a:off x="859536" y="1701800"/>
            <a:ext cx="457200" cy="457200"/>
          </a:xfrm>
          <a:prstGeom prst="ellipse">
            <a:avLst/>
          </a:prstGeom>
          <a:solidFill>
            <a:srgbClr val="F4DEDE"/>
          </a:solidFill>
          <a:ln/>
        </p:spPr>
      </p:sp>
      <p:pic>
        <p:nvPicPr>
          <p:cNvPr id="12" name="Image 1" descr="/home/claude/work/assets/icons/coins_red.png"/>
          <p:cNvPicPr>
            <a:picLocks noChangeAspect="1"/>
          </p:cNvPicPr>
          <p:nvPr/>
        </p:nvPicPr>
        <p:blipFill>
          <a:blip r:embed="rId4"/>
          <a:stretch>
            <a:fillRect/>
          </a:stretch>
        </p:blipFill>
        <p:spPr>
          <a:xfrm>
            <a:off x="969264" y="1811528"/>
            <a:ext cx="237744" cy="237744"/>
          </a:xfrm>
          <a:prstGeom prst="rect">
            <a:avLst/>
          </a:prstGeom>
        </p:spPr>
      </p:pic>
      <p:sp>
        <p:nvSpPr>
          <p:cNvPr id="13" name="Text 9"/>
          <p:cNvSpPr/>
          <p:nvPr/>
        </p:nvSpPr>
        <p:spPr>
          <a:xfrm>
            <a:off x="1481328" y="1683512"/>
            <a:ext cx="3886200" cy="502920"/>
          </a:xfrm>
          <a:prstGeom prst="rect">
            <a:avLst/>
          </a:prstGeom>
          <a:noFill/>
          <a:ln/>
        </p:spPr>
        <p:txBody>
          <a:bodyPr wrap="square" lIns="0" tIns="0" rIns="0" bIns="0" rtlCol="0" anchor="ctr"/>
          <a:lstStyle/>
          <a:p>
            <a:pPr marL="0" indent="0">
              <a:buNone/>
            </a:pPr>
            <a:r>
              <a:rPr lang="en-US" sz="1350" b="1" dirty="0">
                <a:solidFill>
                  <a:srgbClr val="1B2A4A"/>
                </a:solidFill>
                <a:latin typeface="Montserrat" pitchFamily="34" charset="0"/>
                <a:ea typeface="Montserrat" pitchFamily="34" charset="-122"/>
                <a:cs typeface="Montserrat" pitchFamily="34" charset="-120"/>
              </a:rPr>
              <a:t>MAKABINGUI GOLD OPERATION</a:t>
            </a:r>
            <a:endParaRPr lang="en-US" sz="1350" dirty="0"/>
          </a:p>
        </p:txBody>
      </p:sp>
      <p:sp>
        <p:nvSpPr>
          <p:cNvPr id="14" name="Text 10"/>
          <p:cNvSpPr/>
          <p:nvPr/>
        </p:nvSpPr>
        <p:spPr>
          <a:xfrm>
            <a:off x="859536" y="2296160"/>
            <a:ext cx="4489704" cy="292608"/>
          </a:xfrm>
          <a:prstGeom prst="rect">
            <a:avLst/>
          </a:prstGeom>
          <a:noFill/>
          <a:ln/>
        </p:spPr>
        <p:txBody>
          <a:bodyPr wrap="square" lIns="0" tIns="0" rIns="0" bIns="0" rtlCol="0" anchor="ctr"/>
          <a:lstStyle/>
          <a:p>
            <a:pPr marL="0" indent="0">
              <a:buNone/>
            </a:pPr>
            <a:r>
              <a:rPr lang="en-US" sz="1150" dirty="0">
                <a:solidFill>
                  <a:srgbClr val="5B6472"/>
                </a:solidFill>
                <a:latin typeface="Calibri" pitchFamily="34" charset="0"/>
                <a:ea typeface="Calibri" pitchFamily="34" charset="-122"/>
                <a:cs typeface="Calibri" pitchFamily="34" charset="-120"/>
              </a:rPr>
              <a:t>Bénéficiaire : MAME DIARRA DIOP</a:t>
            </a:r>
            <a:endParaRPr lang="en-US" sz="1150" dirty="0"/>
          </a:p>
        </p:txBody>
      </p:sp>
      <p:sp>
        <p:nvSpPr>
          <p:cNvPr id="15" name="Text 11"/>
          <p:cNvSpPr/>
          <p:nvPr/>
        </p:nvSpPr>
        <p:spPr>
          <a:xfrm>
            <a:off x="859536" y="2735072"/>
            <a:ext cx="1737360" cy="274320"/>
          </a:xfrm>
          <a:prstGeom prst="rect">
            <a:avLst/>
          </a:prstGeom>
          <a:noFill/>
          <a:ln/>
        </p:spPr>
        <p:txBody>
          <a:bodyPr wrap="square" lIns="0" tIns="0" rIns="0" bIns="0" rtlCol="0" anchor="ctr"/>
          <a:lstStyle/>
          <a:p>
            <a:pPr marL="0" indent="0">
              <a:buNone/>
            </a:pPr>
            <a:r>
              <a:rPr lang="en-US" sz="1000" dirty="0">
                <a:solidFill>
                  <a:srgbClr val="1E2532"/>
                </a:solidFill>
                <a:latin typeface="Calibri" pitchFamily="34" charset="0"/>
                <a:ea typeface="Calibri" pitchFamily="34" charset="-122"/>
                <a:cs typeface="Calibri" pitchFamily="34" charset="-120"/>
              </a:rPr>
              <a:t>% Actions directes</a:t>
            </a:r>
            <a:endParaRPr lang="en-US" sz="1000" dirty="0"/>
          </a:p>
        </p:txBody>
      </p:sp>
      <p:sp>
        <p:nvSpPr>
          <p:cNvPr id="16" name="Shape 12"/>
          <p:cNvSpPr/>
          <p:nvPr/>
        </p:nvSpPr>
        <p:spPr>
          <a:xfrm>
            <a:off x="2624328" y="2771648"/>
            <a:ext cx="2450592" cy="146304"/>
          </a:xfrm>
          <a:prstGeom prst="roundRect">
            <a:avLst>
              <a:gd name="adj" fmla="val 12500"/>
            </a:avLst>
          </a:prstGeom>
          <a:solidFill>
            <a:srgbClr val="DDE2EA"/>
          </a:solidFill>
          <a:ln/>
        </p:spPr>
      </p:sp>
      <p:sp>
        <p:nvSpPr>
          <p:cNvPr id="17" name="Shape 13"/>
          <p:cNvSpPr/>
          <p:nvPr/>
        </p:nvSpPr>
        <p:spPr>
          <a:xfrm>
            <a:off x="2624328" y="2771648"/>
            <a:ext cx="1837944" cy="146304"/>
          </a:xfrm>
          <a:prstGeom prst="roundRect">
            <a:avLst>
              <a:gd name="adj" fmla="val 12500"/>
            </a:avLst>
          </a:prstGeom>
          <a:solidFill>
            <a:srgbClr val="B33A3A"/>
          </a:solidFill>
          <a:ln/>
        </p:spPr>
      </p:sp>
      <p:sp>
        <p:nvSpPr>
          <p:cNvPr id="18" name="Text 14"/>
          <p:cNvSpPr/>
          <p:nvPr/>
        </p:nvSpPr>
        <p:spPr>
          <a:xfrm>
            <a:off x="5129784" y="2716784"/>
            <a:ext cx="566928" cy="219456"/>
          </a:xfrm>
          <a:prstGeom prst="rect">
            <a:avLst/>
          </a:prstGeom>
          <a:noFill/>
          <a:ln/>
        </p:spPr>
        <p:txBody>
          <a:bodyPr wrap="square" lIns="0" tIns="0" rIns="0" bIns="0" rtlCol="0" anchor="ctr"/>
          <a:lstStyle/>
          <a:p>
            <a:pPr marL="0" indent="0">
              <a:buNone/>
            </a:pPr>
            <a:r>
              <a:rPr lang="en-US" sz="1050" b="1" dirty="0">
                <a:solidFill>
                  <a:srgbClr val="B33A3A"/>
                </a:solidFill>
                <a:latin typeface="Calibri" pitchFamily="34" charset="0"/>
                <a:ea typeface="Calibri" pitchFamily="34" charset="-122"/>
                <a:cs typeface="Calibri" pitchFamily="34" charset="-120"/>
              </a:rPr>
              <a:t>150 %</a:t>
            </a:r>
            <a:endParaRPr lang="en-US" sz="1050" dirty="0"/>
          </a:p>
        </p:txBody>
      </p:sp>
      <p:sp>
        <p:nvSpPr>
          <p:cNvPr id="19" name="Text 15"/>
          <p:cNvSpPr/>
          <p:nvPr/>
        </p:nvSpPr>
        <p:spPr>
          <a:xfrm>
            <a:off x="859536" y="3119120"/>
            <a:ext cx="1737360" cy="274320"/>
          </a:xfrm>
          <a:prstGeom prst="rect">
            <a:avLst/>
          </a:prstGeom>
          <a:noFill/>
          <a:ln/>
        </p:spPr>
        <p:txBody>
          <a:bodyPr wrap="square" lIns="0" tIns="0" rIns="0" bIns="0" rtlCol="0" anchor="ctr"/>
          <a:lstStyle/>
          <a:p>
            <a:pPr marL="0" indent="0">
              <a:buNone/>
            </a:pPr>
            <a:r>
              <a:rPr lang="en-US" sz="1000" dirty="0">
                <a:solidFill>
                  <a:srgbClr val="1E2532"/>
                </a:solidFill>
                <a:latin typeface="Calibri" pitchFamily="34" charset="0"/>
                <a:ea typeface="Calibri" pitchFamily="34" charset="-122"/>
                <a:cs typeface="Calibri" pitchFamily="34" charset="-120"/>
              </a:rPr>
              <a:t>% Voix directes</a:t>
            </a:r>
            <a:endParaRPr lang="en-US" sz="1000" dirty="0"/>
          </a:p>
        </p:txBody>
      </p:sp>
      <p:sp>
        <p:nvSpPr>
          <p:cNvPr id="20" name="Shape 16"/>
          <p:cNvSpPr/>
          <p:nvPr/>
        </p:nvSpPr>
        <p:spPr>
          <a:xfrm>
            <a:off x="2624328" y="3155696"/>
            <a:ext cx="2450592" cy="146304"/>
          </a:xfrm>
          <a:prstGeom prst="roundRect">
            <a:avLst>
              <a:gd name="adj" fmla="val 12500"/>
            </a:avLst>
          </a:prstGeom>
          <a:solidFill>
            <a:srgbClr val="DDE2EA"/>
          </a:solidFill>
          <a:ln/>
        </p:spPr>
      </p:sp>
      <p:sp>
        <p:nvSpPr>
          <p:cNvPr id="21" name="Shape 17"/>
          <p:cNvSpPr/>
          <p:nvPr/>
        </p:nvSpPr>
        <p:spPr>
          <a:xfrm>
            <a:off x="2624328" y="3155696"/>
            <a:ext cx="1837944" cy="146304"/>
          </a:xfrm>
          <a:prstGeom prst="roundRect">
            <a:avLst>
              <a:gd name="adj" fmla="val 12500"/>
            </a:avLst>
          </a:prstGeom>
          <a:solidFill>
            <a:srgbClr val="B33A3A"/>
          </a:solidFill>
          <a:ln/>
        </p:spPr>
      </p:sp>
      <p:sp>
        <p:nvSpPr>
          <p:cNvPr id="22" name="Text 18"/>
          <p:cNvSpPr/>
          <p:nvPr/>
        </p:nvSpPr>
        <p:spPr>
          <a:xfrm>
            <a:off x="5129784" y="3100832"/>
            <a:ext cx="566928" cy="219456"/>
          </a:xfrm>
          <a:prstGeom prst="rect">
            <a:avLst/>
          </a:prstGeom>
          <a:noFill/>
          <a:ln/>
        </p:spPr>
        <p:txBody>
          <a:bodyPr wrap="square" lIns="0" tIns="0" rIns="0" bIns="0" rtlCol="0" anchor="ctr"/>
          <a:lstStyle/>
          <a:p>
            <a:pPr marL="0" indent="0">
              <a:buNone/>
            </a:pPr>
            <a:r>
              <a:rPr lang="en-US" sz="1050" b="1" dirty="0">
                <a:solidFill>
                  <a:srgbClr val="B33A3A"/>
                </a:solidFill>
                <a:latin typeface="Calibri" pitchFamily="34" charset="0"/>
                <a:ea typeface="Calibri" pitchFamily="34" charset="-122"/>
                <a:cs typeface="Calibri" pitchFamily="34" charset="-120"/>
              </a:rPr>
              <a:t>150 %</a:t>
            </a:r>
            <a:endParaRPr lang="en-US" sz="1050" dirty="0"/>
          </a:p>
        </p:txBody>
      </p:sp>
      <p:sp>
        <p:nvSpPr>
          <p:cNvPr id="23" name="Shape 19"/>
          <p:cNvSpPr/>
          <p:nvPr/>
        </p:nvSpPr>
        <p:spPr>
          <a:xfrm>
            <a:off x="576072" y="3654044"/>
            <a:ext cx="5074920" cy="2432304"/>
          </a:xfrm>
          <a:prstGeom prst="roundRect">
            <a:avLst>
              <a:gd name="adj" fmla="val 3200"/>
            </a:avLst>
          </a:prstGeom>
          <a:solidFill>
            <a:srgbClr val="FFFFFF"/>
          </a:solidFill>
          <a:ln/>
          <a:effectLst>
            <a:outerShdw blurRad="114300" dist="38100" dir="5400000" algn="bl" rotWithShape="0">
              <a:srgbClr val="1B2A4A">
                <a:alpha val="10000"/>
              </a:srgbClr>
            </a:outerShdw>
          </a:effectLst>
        </p:spPr>
      </p:sp>
      <p:sp>
        <p:nvSpPr>
          <p:cNvPr id="24" name="Shape 20"/>
          <p:cNvSpPr/>
          <p:nvPr/>
        </p:nvSpPr>
        <p:spPr>
          <a:xfrm>
            <a:off x="859536" y="4353560"/>
            <a:ext cx="457200" cy="457200"/>
          </a:xfrm>
          <a:prstGeom prst="ellipse">
            <a:avLst/>
          </a:prstGeom>
          <a:solidFill>
            <a:srgbClr val="F4DEDE"/>
          </a:solidFill>
          <a:ln/>
        </p:spPr>
      </p:sp>
      <p:pic>
        <p:nvPicPr>
          <p:cNvPr id="25" name="Image 2" descr="/home/claude/work/assets/icons/coins_red.png"/>
          <p:cNvPicPr>
            <a:picLocks noChangeAspect="1"/>
          </p:cNvPicPr>
          <p:nvPr/>
        </p:nvPicPr>
        <p:blipFill>
          <a:blip r:embed="rId4"/>
          <a:stretch>
            <a:fillRect/>
          </a:stretch>
        </p:blipFill>
        <p:spPr>
          <a:xfrm>
            <a:off x="969264" y="4463288"/>
            <a:ext cx="237744" cy="237744"/>
          </a:xfrm>
          <a:prstGeom prst="rect">
            <a:avLst/>
          </a:prstGeom>
        </p:spPr>
      </p:pic>
      <p:sp>
        <p:nvSpPr>
          <p:cNvPr id="26" name="Text 21"/>
          <p:cNvSpPr/>
          <p:nvPr/>
        </p:nvSpPr>
        <p:spPr>
          <a:xfrm>
            <a:off x="1481328" y="4335272"/>
            <a:ext cx="3886200" cy="502920"/>
          </a:xfrm>
          <a:prstGeom prst="rect">
            <a:avLst/>
          </a:prstGeom>
          <a:noFill/>
          <a:ln/>
        </p:spPr>
        <p:txBody>
          <a:bodyPr wrap="square" lIns="0" tIns="0" rIns="0" bIns="0" rtlCol="0" anchor="ctr"/>
          <a:lstStyle/>
          <a:p>
            <a:pPr marL="0" indent="0">
              <a:buNone/>
            </a:pPr>
            <a:r>
              <a:rPr lang="en-US" sz="1350" b="1" dirty="0">
                <a:solidFill>
                  <a:srgbClr val="1B2A4A"/>
                </a:solidFill>
                <a:latin typeface="Montserrat" pitchFamily="34" charset="0"/>
                <a:ea typeface="Montserrat" pitchFamily="34" charset="-122"/>
                <a:cs typeface="Montserrat" pitchFamily="34" charset="-120"/>
              </a:rPr>
              <a:t>MAME DIARRA DIOP (société)</a:t>
            </a:r>
            <a:endParaRPr lang="en-US" sz="1350" dirty="0"/>
          </a:p>
        </p:txBody>
      </p:sp>
      <p:sp>
        <p:nvSpPr>
          <p:cNvPr id="27" name="Text 22"/>
          <p:cNvSpPr/>
          <p:nvPr/>
        </p:nvSpPr>
        <p:spPr>
          <a:xfrm>
            <a:off x="859536" y="4947920"/>
            <a:ext cx="4489704" cy="292608"/>
          </a:xfrm>
          <a:prstGeom prst="rect">
            <a:avLst/>
          </a:prstGeom>
          <a:noFill/>
          <a:ln/>
        </p:spPr>
        <p:txBody>
          <a:bodyPr wrap="square" lIns="0" tIns="0" rIns="0" bIns="0" rtlCol="0" anchor="ctr"/>
          <a:lstStyle/>
          <a:p>
            <a:pPr marL="0" indent="0">
              <a:buNone/>
            </a:pPr>
            <a:r>
              <a:rPr lang="en-US" sz="1150" dirty="0">
                <a:solidFill>
                  <a:srgbClr val="5B6472"/>
                </a:solidFill>
                <a:latin typeface="Calibri" pitchFamily="34" charset="0"/>
                <a:ea typeface="Calibri" pitchFamily="34" charset="-122"/>
                <a:cs typeface="Calibri" pitchFamily="34" charset="-120"/>
              </a:rPr>
              <a:t>Bénéficiaire : MAME DIARRA DIOP</a:t>
            </a:r>
            <a:endParaRPr lang="en-US" sz="1150" dirty="0"/>
          </a:p>
        </p:txBody>
      </p:sp>
      <p:sp>
        <p:nvSpPr>
          <p:cNvPr id="28" name="Text 23"/>
          <p:cNvSpPr/>
          <p:nvPr/>
        </p:nvSpPr>
        <p:spPr>
          <a:xfrm>
            <a:off x="859536" y="5386832"/>
            <a:ext cx="1737360" cy="274320"/>
          </a:xfrm>
          <a:prstGeom prst="rect">
            <a:avLst/>
          </a:prstGeom>
          <a:noFill/>
          <a:ln/>
        </p:spPr>
        <p:txBody>
          <a:bodyPr wrap="square" lIns="0" tIns="0" rIns="0" bIns="0" rtlCol="0" anchor="ctr"/>
          <a:lstStyle/>
          <a:p>
            <a:pPr marL="0" indent="0">
              <a:buNone/>
            </a:pPr>
            <a:r>
              <a:rPr lang="en-US" sz="1000" dirty="0">
                <a:solidFill>
                  <a:srgbClr val="1E2532"/>
                </a:solidFill>
                <a:latin typeface="Calibri" pitchFamily="34" charset="0"/>
                <a:ea typeface="Calibri" pitchFamily="34" charset="-122"/>
                <a:cs typeface="Calibri" pitchFamily="34" charset="-120"/>
              </a:rPr>
              <a:t>% Actions directes</a:t>
            </a:r>
            <a:endParaRPr lang="en-US" sz="1000" dirty="0"/>
          </a:p>
        </p:txBody>
      </p:sp>
      <p:sp>
        <p:nvSpPr>
          <p:cNvPr id="29" name="Shape 24"/>
          <p:cNvSpPr/>
          <p:nvPr/>
        </p:nvSpPr>
        <p:spPr>
          <a:xfrm>
            <a:off x="2624328" y="5423408"/>
            <a:ext cx="2450592" cy="146304"/>
          </a:xfrm>
          <a:prstGeom prst="roundRect">
            <a:avLst>
              <a:gd name="adj" fmla="val 12500"/>
            </a:avLst>
          </a:prstGeom>
          <a:solidFill>
            <a:srgbClr val="DDE2EA"/>
          </a:solidFill>
          <a:ln/>
        </p:spPr>
      </p:sp>
      <p:sp>
        <p:nvSpPr>
          <p:cNvPr id="30" name="Shape 25"/>
          <p:cNvSpPr/>
          <p:nvPr/>
        </p:nvSpPr>
        <p:spPr>
          <a:xfrm>
            <a:off x="2624328" y="5423408"/>
            <a:ext cx="2450592" cy="146304"/>
          </a:xfrm>
          <a:prstGeom prst="roundRect">
            <a:avLst>
              <a:gd name="adj" fmla="val 12500"/>
            </a:avLst>
          </a:prstGeom>
          <a:solidFill>
            <a:srgbClr val="B33A3A"/>
          </a:solidFill>
          <a:ln/>
        </p:spPr>
      </p:sp>
      <p:sp>
        <p:nvSpPr>
          <p:cNvPr id="31" name="Text 26"/>
          <p:cNvSpPr/>
          <p:nvPr/>
        </p:nvSpPr>
        <p:spPr>
          <a:xfrm>
            <a:off x="5129784" y="5368544"/>
            <a:ext cx="566928" cy="219456"/>
          </a:xfrm>
          <a:prstGeom prst="rect">
            <a:avLst/>
          </a:prstGeom>
          <a:noFill/>
          <a:ln/>
        </p:spPr>
        <p:txBody>
          <a:bodyPr wrap="square" lIns="0" tIns="0" rIns="0" bIns="0" rtlCol="0" anchor="ctr"/>
          <a:lstStyle/>
          <a:p>
            <a:pPr marL="0" indent="0">
              <a:buNone/>
            </a:pPr>
            <a:r>
              <a:rPr lang="en-US" sz="1050" b="1" dirty="0">
                <a:solidFill>
                  <a:srgbClr val="B33A3A"/>
                </a:solidFill>
                <a:latin typeface="Calibri" pitchFamily="34" charset="0"/>
                <a:ea typeface="Calibri" pitchFamily="34" charset="-122"/>
                <a:cs typeface="Calibri" pitchFamily="34" charset="-120"/>
              </a:rPr>
              <a:t>200 %</a:t>
            </a:r>
            <a:endParaRPr lang="en-US" sz="1050" dirty="0"/>
          </a:p>
        </p:txBody>
      </p:sp>
      <p:sp>
        <p:nvSpPr>
          <p:cNvPr id="32" name="Text 27"/>
          <p:cNvSpPr/>
          <p:nvPr/>
        </p:nvSpPr>
        <p:spPr>
          <a:xfrm>
            <a:off x="859536" y="5770880"/>
            <a:ext cx="1737360" cy="274320"/>
          </a:xfrm>
          <a:prstGeom prst="rect">
            <a:avLst/>
          </a:prstGeom>
          <a:noFill/>
          <a:ln/>
        </p:spPr>
        <p:txBody>
          <a:bodyPr wrap="square" lIns="0" tIns="0" rIns="0" bIns="0" rtlCol="0" anchor="ctr"/>
          <a:lstStyle/>
          <a:p>
            <a:pPr marL="0" indent="0">
              <a:buNone/>
            </a:pPr>
            <a:r>
              <a:rPr lang="en-US" sz="1000" dirty="0">
                <a:solidFill>
                  <a:srgbClr val="1E2532"/>
                </a:solidFill>
                <a:latin typeface="Calibri" pitchFamily="34" charset="0"/>
                <a:ea typeface="Calibri" pitchFamily="34" charset="-122"/>
                <a:cs typeface="Calibri" pitchFamily="34" charset="-120"/>
              </a:rPr>
              <a:t>% Voix directes</a:t>
            </a:r>
            <a:endParaRPr lang="en-US" sz="1000" dirty="0"/>
          </a:p>
        </p:txBody>
      </p:sp>
      <p:sp>
        <p:nvSpPr>
          <p:cNvPr id="33" name="Shape 28"/>
          <p:cNvSpPr/>
          <p:nvPr/>
        </p:nvSpPr>
        <p:spPr>
          <a:xfrm>
            <a:off x="2624328" y="5807456"/>
            <a:ext cx="2450592" cy="146304"/>
          </a:xfrm>
          <a:prstGeom prst="roundRect">
            <a:avLst>
              <a:gd name="adj" fmla="val 12500"/>
            </a:avLst>
          </a:prstGeom>
          <a:solidFill>
            <a:srgbClr val="DDE2EA"/>
          </a:solidFill>
          <a:ln/>
        </p:spPr>
      </p:sp>
      <p:sp>
        <p:nvSpPr>
          <p:cNvPr id="34" name="Shape 29"/>
          <p:cNvSpPr/>
          <p:nvPr/>
        </p:nvSpPr>
        <p:spPr>
          <a:xfrm>
            <a:off x="2624328" y="5807456"/>
            <a:ext cx="2450592" cy="146304"/>
          </a:xfrm>
          <a:prstGeom prst="roundRect">
            <a:avLst>
              <a:gd name="adj" fmla="val 12500"/>
            </a:avLst>
          </a:prstGeom>
          <a:solidFill>
            <a:srgbClr val="B33A3A"/>
          </a:solidFill>
          <a:ln/>
        </p:spPr>
      </p:sp>
      <p:sp>
        <p:nvSpPr>
          <p:cNvPr id="35" name="Text 30"/>
          <p:cNvSpPr/>
          <p:nvPr/>
        </p:nvSpPr>
        <p:spPr>
          <a:xfrm>
            <a:off x="5129784" y="5752592"/>
            <a:ext cx="566928" cy="219456"/>
          </a:xfrm>
          <a:prstGeom prst="rect">
            <a:avLst/>
          </a:prstGeom>
          <a:noFill/>
          <a:ln/>
        </p:spPr>
        <p:txBody>
          <a:bodyPr wrap="square" lIns="0" tIns="0" rIns="0" bIns="0" rtlCol="0" anchor="ctr"/>
          <a:lstStyle/>
          <a:p>
            <a:pPr marL="0" indent="0">
              <a:buNone/>
            </a:pPr>
            <a:r>
              <a:rPr lang="en-US" sz="1050" b="1" dirty="0">
                <a:solidFill>
                  <a:srgbClr val="B33A3A"/>
                </a:solidFill>
                <a:latin typeface="Calibri" pitchFamily="34" charset="0"/>
                <a:ea typeface="Calibri" pitchFamily="34" charset="-122"/>
                <a:cs typeface="Calibri" pitchFamily="34" charset="-120"/>
              </a:rPr>
              <a:t>200 %</a:t>
            </a:r>
            <a:endParaRPr lang="en-US" sz="1050" dirty="0"/>
          </a:p>
        </p:txBody>
      </p:sp>
      <p:sp>
        <p:nvSpPr>
          <p:cNvPr id="36" name="Shape 31"/>
          <p:cNvSpPr/>
          <p:nvPr/>
        </p:nvSpPr>
        <p:spPr>
          <a:xfrm>
            <a:off x="7132320" y="2779777"/>
            <a:ext cx="4549467" cy="1683511"/>
          </a:xfrm>
          <a:prstGeom prst="roundRect">
            <a:avLst>
              <a:gd name="adj" fmla="val 3021"/>
            </a:avLst>
          </a:prstGeom>
          <a:solidFill>
            <a:srgbClr val="F4DEDE"/>
          </a:solidFill>
          <a:ln/>
          <a:effectLst>
            <a:outerShdw blurRad="114300" dist="38100" dir="5400000" algn="bl" rotWithShape="0">
              <a:srgbClr val="1B2A4A">
                <a:alpha val="10000"/>
              </a:srgbClr>
            </a:outerShdw>
          </a:effectLst>
        </p:spPr>
      </p:sp>
      <p:sp>
        <p:nvSpPr>
          <p:cNvPr id="38" name="Text 33"/>
          <p:cNvSpPr/>
          <p:nvPr/>
        </p:nvSpPr>
        <p:spPr>
          <a:xfrm>
            <a:off x="7315200" y="2532888"/>
            <a:ext cx="3998671" cy="2249424"/>
          </a:xfrm>
          <a:prstGeom prst="rect">
            <a:avLst/>
          </a:prstGeom>
          <a:noFill/>
          <a:ln/>
        </p:spPr>
        <p:txBody>
          <a:bodyPr wrap="square" lIns="0" tIns="0" rIns="0" bIns="0" rtlCol="0" anchor="ctr"/>
          <a:lstStyle/>
          <a:p>
            <a:pPr marL="0" indent="0" algn="just">
              <a:lnSpc>
                <a:spcPct val="128000"/>
              </a:lnSpc>
              <a:buNone/>
            </a:pPr>
            <a:r>
              <a:rPr lang="en-US" sz="1250" dirty="0">
                <a:latin typeface="Calibri" pitchFamily="34" charset="0"/>
                <a:ea typeface="Calibri" pitchFamily="34" charset="-122"/>
                <a:cs typeface="Calibri" pitchFamily="34" charset="-120"/>
              </a:rPr>
              <a:t>Des part </a:t>
            </a:r>
            <a:r>
              <a:rPr lang="en-US" sz="1250" dirty="0" err="1">
                <a:latin typeface="Calibri" pitchFamily="34" charset="0"/>
                <a:ea typeface="Calibri" pitchFamily="34" charset="-122"/>
                <a:cs typeface="Calibri" pitchFamily="34" charset="-120"/>
              </a:rPr>
              <a:t>d'actions</a:t>
            </a:r>
            <a:r>
              <a:rPr lang="en-US" sz="1250" dirty="0">
                <a:latin typeface="Calibri" pitchFamily="34" charset="0"/>
                <a:ea typeface="Calibri" pitchFamily="34" charset="-122"/>
                <a:cs typeface="Calibri" pitchFamily="34" charset="-120"/>
              </a:rPr>
              <a:t> ou de voix supérieur à 100 % n’étant pas possible : il révèle soit une erreur de saisie (unité, virgule), soit une absence de contrôle de cohérence à l'enregistrement.</a:t>
            </a:r>
            <a:endParaRPr lang="en-US" sz="1250" dirty="0"/>
          </a:p>
          <a:p>
            <a:pPr marL="0" indent="0" algn="just">
              <a:lnSpc>
                <a:spcPct val="128000"/>
              </a:lnSpc>
              <a:buNone/>
            </a:pPr>
            <a:endParaRPr lang="en-US" sz="1250" dirty="0"/>
          </a:p>
        </p:txBody>
      </p:sp>
      <p:sp>
        <p:nvSpPr>
          <p:cNvPr id="39" name="Shape 4">
            <a:extLst>
              <a:ext uri="{FF2B5EF4-FFF2-40B4-BE49-F238E27FC236}">
                <a16:creationId xmlns:a16="http://schemas.microsoft.com/office/drawing/2014/main" id="{5CD03FD0-59CB-1BB4-4EA9-3727445EF9CA}"/>
              </a:ext>
            </a:extLst>
          </p:cNvPr>
          <p:cNvSpPr/>
          <p:nvPr/>
        </p:nvSpPr>
        <p:spPr>
          <a:xfrm>
            <a:off x="10044887" y="6561646"/>
            <a:ext cx="45720" cy="45720"/>
          </a:xfrm>
          <a:prstGeom prst="ellipse">
            <a:avLst/>
          </a:prstGeom>
          <a:solidFill>
            <a:srgbClr val="C9962F"/>
          </a:solidFill>
          <a:ln/>
        </p:spPr>
      </p:sp>
      <p:sp>
        <p:nvSpPr>
          <p:cNvPr id="40" name="Shape 5">
            <a:extLst>
              <a:ext uri="{FF2B5EF4-FFF2-40B4-BE49-F238E27FC236}">
                <a16:creationId xmlns:a16="http://schemas.microsoft.com/office/drawing/2014/main" id="{F4265958-097A-E218-0E7E-150AAF0CDC6E}"/>
              </a:ext>
            </a:extLst>
          </p:cNvPr>
          <p:cNvSpPr/>
          <p:nvPr/>
        </p:nvSpPr>
        <p:spPr>
          <a:xfrm>
            <a:off x="9926015" y="6561646"/>
            <a:ext cx="45720" cy="45720"/>
          </a:xfrm>
          <a:prstGeom prst="ellipse">
            <a:avLst/>
          </a:prstGeom>
          <a:solidFill>
            <a:srgbClr val="C9962F"/>
          </a:solidFill>
          <a:ln/>
        </p:spPr>
      </p:sp>
      <p:sp>
        <p:nvSpPr>
          <p:cNvPr id="41" name="Shape 6">
            <a:extLst>
              <a:ext uri="{FF2B5EF4-FFF2-40B4-BE49-F238E27FC236}">
                <a16:creationId xmlns:a16="http://schemas.microsoft.com/office/drawing/2014/main" id="{005D4B9C-FE46-7A03-CA05-C495208D0F9A}"/>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F273275C-8D82-7A0B-002B-1C574AF37575}"/>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RÉSULTATS DES ANALYSES</a:t>
            </a:r>
            <a:endParaRPr lang="en-US" sz="3200" dirty="0"/>
          </a:p>
        </p:txBody>
      </p:sp>
      <p:sp>
        <p:nvSpPr>
          <p:cNvPr id="8" name="Text 1">
            <a:extLst>
              <a:ext uri="{FF2B5EF4-FFF2-40B4-BE49-F238E27FC236}">
                <a16:creationId xmlns:a16="http://schemas.microsoft.com/office/drawing/2014/main" id="{89BAF1FA-60E2-C023-ABFE-3EE67492D002}"/>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800" b="1" dirty="0">
                <a:solidFill>
                  <a:srgbClr val="082AF5"/>
                </a:solidFill>
                <a:latin typeface="Montserrat" pitchFamily="34" charset="0"/>
                <a:ea typeface="Montserrat" pitchFamily="34" charset="-122"/>
                <a:cs typeface="Montserrat" pitchFamily="34" charset="-120"/>
              </a:rPr>
              <a:t>Des parts de participations déclarées au-delà de 100 %</a:t>
            </a:r>
            <a:endParaRPr lang="fr-FR"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E09BA4A6-4818-8B49-0DAC-549224770B1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heel(1)">
                                      <p:cBhvr>
                                        <p:cTn id="7" dur="500"/>
                                        <p:tgtEl>
                                          <p:spTgt spid="41"/>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heel(1)">
                                      <p:cBhvr>
                                        <p:cTn id="11" dur="500"/>
                                        <p:tgtEl>
                                          <p:spTgt spid="40"/>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heel(1)">
                                      <p:cBhvr>
                                        <p:cTn id="1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Shape 7">
            <a:extLst>
              <a:ext uri="{FF2B5EF4-FFF2-40B4-BE49-F238E27FC236}">
                <a16:creationId xmlns:a16="http://schemas.microsoft.com/office/drawing/2014/main" id="{1866504C-DE1B-6258-0CD9-076EAB8CE0B3}"/>
              </a:ext>
            </a:extLst>
          </p:cNvPr>
          <p:cNvSpPr/>
          <p:nvPr/>
        </p:nvSpPr>
        <p:spPr>
          <a:xfrm>
            <a:off x="6748005" y="5249656"/>
            <a:ext cx="4824000" cy="1051560"/>
          </a:xfrm>
          <a:prstGeom prst="roundRect">
            <a:avLst>
              <a:gd name="adj" fmla="val 6957"/>
            </a:avLst>
          </a:prstGeom>
          <a:solidFill>
            <a:srgbClr val="E8ECF3"/>
          </a:solidFill>
          <a:ln/>
          <a:effectLst>
            <a:outerShdw blurRad="114300" dist="38100" dir="5400000" algn="bl" rotWithShape="0">
              <a:srgbClr val="1B2A4A">
                <a:alpha val="10000"/>
              </a:srgbClr>
            </a:outerShdw>
          </a:effectLst>
        </p:spPr>
      </p:sp>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13 / 21</a:t>
            </a:r>
            <a:endParaRPr lang="en-US" sz="900" dirty="0"/>
          </a:p>
        </p:txBody>
      </p:sp>
      <p:sp>
        <p:nvSpPr>
          <p:cNvPr id="10" name="Shape 7"/>
          <p:cNvSpPr/>
          <p:nvPr/>
        </p:nvSpPr>
        <p:spPr>
          <a:xfrm>
            <a:off x="566928" y="1737360"/>
            <a:ext cx="3246120" cy="1051560"/>
          </a:xfrm>
          <a:prstGeom prst="roundRect">
            <a:avLst>
              <a:gd name="adj" fmla="val 6957"/>
            </a:avLst>
          </a:prstGeom>
          <a:solidFill>
            <a:srgbClr val="E8ECF3"/>
          </a:solidFill>
          <a:ln/>
          <a:effectLst>
            <a:outerShdw blurRad="114300" dist="38100" dir="5400000" algn="bl" rotWithShape="0">
              <a:srgbClr val="1B2A4A">
                <a:alpha val="10000"/>
              </a:srgbClr>
            </a:outerShdw>
          </a:effectLst>
        </p:spPr>
      </p:sp>
      <p:sp>
        <p:nvSpPr>
          <p:cNvPr id="11" name="Text 8"/>
          <p:cNvSpPr/>
          <p:nvPr/>
        </p:nvSpPr>
        <p:spPr>
          <a:xfrm>
            <a:off x="795528" y="1828800"/>
            <a:ext cx="2788920" cy="256032"/>
          </a:xfrm>
          <a:prstGeom prst="rect">
            <a:avLst/>
          </a:prstGeom>
          <a:noFill/>
          <a:ln/>
        </p:spPr>
        <p:txBody>
          <a:bodyPr wrap="square" lIns="0" tIns="0" rIns="0" bIns="0" rtlCol="0" anchor="ctr"/>
          <a:lstStyle/>
          <a:p>
            <a:pPr marL="0" indent="0">
              <a:buNone/>
            </a:pPr>
            <a:r>
              <a:rPr lang="en-US" sz="950" b="1" kern="0" spc="80" dirty="0">
                <a:solidFill>
                  <a:srgbClr val="213559"/>
                </a:solidFill>
                <a:latin typeface="Calibri" pitchFamily="34" charset="0"/>
                <a:ea typeface="Calibri" pitchFamily="34" charset="-122"/>
                <a:cs typeface="Calibri" pitchFamily="34" charset="-120"/>
              </a:rPr>
              <a:t>TITRES MINIERS — LANDFOLIO</a:t>
            </a:r>
            <a:endParaRPr lang="en-US" sz="950" dirty="0"/>
          </a:p>
        </p:txBody>
      </p:sp>
      <p:sp>
        <p:nvSpPr>
          <p:cNvPr id="12" name="Text 9"/>
          <p:cNvSpPr/>
          <p:nvPr/>
        </p:nvSpPr>
        <p:spPr>
          <a:xfrm>
            <a:off x="795528" y="2084832"/>
            <a:ext cx="2788920" cy="365760"/>
          </a:xfrm>
          <a:prstGeom prst="rect">
            <a:avLst/>
          </a:prstGeom>
          <a:noFill/>
          <a:ln/>
        </p:spPr>
        <p:txBody>
          <a:bodyPr wrap="square" lIns="0" tIns="0" rIns="0" bIns="0" rtlCol="0" anchor="ctr"/>
          <a:lstStyle/>
          <a:p>
            <a:pPr marL="0" indent="0">
              <a:buNone/>
            </a:pPr>
            <a:r>
              <a:rPr lang="en-US" sz="1600" b="1" dirty="0">
                <a:solidFill>
                  <a:srgbClr val="1B2A4A"/>
                </a:solidFill>
                <a:latin typeface="Montserrat" pitchFamily="34" charset="0"/>
                <a:ea typeface="Montserrat" pitchFamily="34" charset="-122"/>
                <a:cs typeface="Montserrat" pitchFamily="34" charset="-120"/>
              </a:rPr>
              <a:t>555 titres</a:t>
            </a:r>
            <a:endParaRPr lang="en-US" sz="1600" dirty="0"/>
          </a:p>
        </p:txBody>
      </p:sp>
      <p:sp>
        <p:nvSpPr>
          <p:cNvPr id="13" name="Text 10"/>
          <p:cNvSpPr/>
          <p:nvPr/>
        </p:nvSpPr>
        <p:spPr>
          <a:xfrm>
            <a:off x="795528" y="2450592"/>
            <a:ext cx="2788920" cy="274320"/>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389 entreprises uniques</a:t>
            </a:r>
            <a:endParaRPr lang="en-US" sz="950" dirty="0"/>
          </a:p>
        </p:txBody>
      </p:sp>
      <p:sp>
        <p:nvSpPr>
          <p:cNvPr id="14" name="Shape 11"/>
          <p:cNvSpPr/>
          <p:nvPr/>
        </p:nvSpPr>
        <p:spPr>
          <a:xfrm>
            <a:off x="4123944" y="1737360"/>
            <a:ext cx="3246120" cy="1051560"/>
          </a:xfrm>
          <a:prstGeom prst="roundRect">
            <a:avLst>
              <a:gd name="adj" fmla="val 6957"/>
            </a:avLst>
          </a:prstGeom>
          <a:solidFill>
            <a:srgbClr val="E8ECF3"/>
          </a:solidFill>
          <a:ln/>
          <a:effectLst>
            <a:outerShdw blurRad="114300" dist="38100" dir="5400000" algn="bl" rotWithShape="0">
              <a:srgbClr val="1B2A4A">
                <a:alpha val="10000"/>
              </a:srgbClr>
            </a:outerShdw>
          </a:effectLst>
        </p:spPr>
      </p:sp>
      <p:sp>
        <p:nvSpPr>
          <p:cNvPr id="15" name="Text 12"/>
          <p:cNvSpPr/>
          <p:nvPr/>
        </p:nvSpPr>
        <p:spPr>
          <a:xfrm>
            <a:off x="4352544" y="1828800"/>
            <a:ext cx="2788920" cy="256032"/>
          </a:xfrm>
          <a:prstGeom prst="rect">
            <a:avLst/>
          </a:prstGeom>
          <a:noFill/>
          <a:ln/>
        </p:spPr>
        <p:txBody>
          <a:bodyPr wrap="square" lIns="0" tIns="0" rIns="0" bIns="0" rtlCol="0" anchor="ctr"/>
          <a:lstStyle/>
          <a:p>
            <a:pPr marL="0" indent="0">
              <a:buNone/>
            </a:pPr>
            <a:r>
              <a:rPr lang="en-US" sz="950" b="1" kern="0" spc="80" dirty="0">
                <a:solidFill>
                  <a:srgbClr val="213559"/>
                </a:solidFill>
                <a:latin typeface="Calibri" pitchFamily="34" charset="0"/>
                <a:ea typeface="Calibri" pitchFamily="34" charset="-122"/>
                <a:cs typeface="Calibri" pitchFamily="34" charset="-120"/>
              </a:rPr>
              <a:t>REGISTRE DES BÉNÉFICIAIRES EFFECTIFS</a:t>
            </a:r>
            <a:endParaRPr lang="en-US" sz="950" dirty="0"/>
          </a:p>
        </p:txBody>
      </p:sp>
      <p:sp>
        <p:nvSpPr>
          <p:cNvPr id="16" name="Text 13"/>
          <p:cNvSpPr/>
          <p:nvPr/>
        </p:nvSpPr>
        <p:spPr>
          <a:xfrm>
            <a:off x="4352544" y="2084832"/>
            <a:ext cx="2788920" cy="365760"/>
          </a:xfrm>
          <a:prstGeom prst="rect">
            <a:avLst/>
          </a:prstGeom>
          <a:noFill/>
          <a:ln/>
        </p:spPr>
        <p:txBody>
          <a:bodyPr wrap="square" lIns="0" tIns="0" rIns="0" bIns="0" rtlCol="0" anchor="ctr"/>
          <a:lstStyle/>
          <a:p>
            <a:pPr marL="0" indent="0">
              <a:buNone/>
            </a:pPr>
            <a:r>
              <a:rPr lang="en-US" sz="1600" b="1" dirty="0">
                <a:solidFill>
                  <a:srgbClr val="1B2A4A"/>
                </a:solidFill>
                <a:latin typeface="Montserrat" pitchFamily="34" charset="0"/>
                <a:ea typeface="Montserrat" pitchFamily="34" charset="-122"/>
                <a:cs typeface="Montserrat" pitchFamily="34" charset="-120"/>
              </a:rPr>
              <a:t>628 bénéficiaires</a:t>
            </a:r>
            <a:endParaRPr lang="en-US" sz="1600" dirty="0"/>
          </a:p>
        </p:txBody>
      </p:sp>
      <p:sp>
        <p:nvSpPr>
          <p:cNvPr id="17" name="Text 14"/>
          <p:cNvSpPr/>
          <p:nvPr/>
        </p:nvSpPr>
        <p:spPr>
          <a:xfrm>
            <a:off x="4352544" y="2450592"/>
            <a:ext cx="2788920" cy="274320"/>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317 entreprises déclarantes</a:t>
            </a:r>
            <a:endParaRPr lang="en-US" sz="950" dirty="0"/>
          </a:p>
        </p:txBody>
      </p:sp>
      <p:graphicFrame>
        <p:nvGraphicFramePr>
          <p:cNvPr id="22" name="Chart 0"/>
          <p:cNvGraphicFramePr/>
          <p:nvPr>
            <p:extLst>
              <p:ext uri="{D42A27DB-BD31-4B8C-83A1-F6EECF244321}">
                <p14:modId xmlns:p14="http://schemas.microsoft.com/office/powerpoint/2010/main" val="425750175"/>
              </p:ext>
            </p:extLst>
          </p:nvPr>
        </p:nvGraphicFramePr>
        <p:xfrm>
          <a:off x="566928" y="3017520"/>
          <a:ext cx="320040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23" name="Text 19"/>
          <p:cNvSpPr/>
          <p:nvPr/>
        </p:nvSpPr>
        <p:spPr>
          <a:xfrm>
            <a:off x="566928" y="4206240"/>
            <a:ext cx="3200400" cy="548640"/>
          </a:xfrm>
          <a:prstGeom prst="rect">
            <a:avLst/>
          </a:prstGeom>
          <a:noFill/>
          <a:ln/>
        </p:spPr>
        <p:txBody>
          <a:bodyPr wrap="square" lIns="0" tIns="0" rIns="0" bIns="0" rtlCol="0" anchor="ctr"/>
          <a:lstStyle/>
          <a:p>
            <a:pPr marL="0" indent="0" algn="ctr">
              <a:buNone/>
            </a:pPr>
            <a:r>
              <a:rPr lang="en-US" sz="2600" b="1" dirty="0">
                <a:solidFill>
                  <a:srgbClr val="1B2A4A"/>
                </a:solidFill>
                <a:latin typeface="Montserrat" pitchFamily="34" charset="0"/>
                <a:ea typeface="Montserrat" pitchFamily="34" charset="-122"/>
                <a:cs typeface="Montserrat" pitchFamily="34" charset="-120"/>
              </a:rPr>
              <a:t>29,6 %</a:t>
            </a:r>
            <a:endParaRPr lang="en-US" sz="2600" dirty="0"/>
          </a:p>
        </p:txBody>
      </p:sp>
      <p:sp>
        <p:nvSpPr>
          <p:cNvPr id="24" name="Text 20"/>
          <p:cNvSpPr/>
          <p:nvPr/>
        </p:nvSpPr>
        <p:spPr>
          <a:xfrm>
            <a:off x="566928" y="4727448"/>
            <a:ext cx="3200400" cy="274320"/>
          </a:xfrm>
          <a:prstGeom prst="rect">
            <a:avLst/>
          </a:prstGeom>
          <a:noFill/>
          <a:ln/>
        </p:spPr>
        <p:txBody>
          <a:bodyPr wrap="square" lIns="0" tIns="0" rIns="0" bIns="0" rtlCol="0" anchor="ctr"/>
          <a:lstStyle/>
          <a:p>
            <a:pPr marL="0" indent="0" algn="ctr">
              <a:buNone/>
            </a:pPr>
            <a:r>
              <a:rPr lang="en-US" sz="1100" dirty="0" err="1">
                <a:solidFill>
                  <a:srgbClr val="5B6472"/>
                </a:solidFill>
                <a:latin typeface="Calibri" pitchFamily="34" charset="0"/>
                <a:ea typeface="Calibri" pitchFamily="34" charset="-122"/>
                <a:cs typeface="Calibri" pitchFamily="34" charset="-120"/>
              </a:rPr>
              <a:t>conformité</a:t>
            </a:r>
            <a:endParaRPr lang="en-US" sz="1100" dirty="0"/>
          </a:p>
        </p:txBody>
      </p:sp>
      <p:sp>
        <p:nvSpPr>
          <p:cNvPr id="25" name="Shape 21"/>
          <p:cNvSpPr/>
          <p:nvPr/>
        </p:nvSpPr>
        <p:spPr>
          <a:xfrm>
            <a:off x="4224528" y="3291840"/>
            <a:ext cx="256032" cy="256032"/>
          </a:xfrm>
          <a:prstGeom prst="roundRect">
            <a:avLst>
              <a:gd name="adj" fmla="val 17857"/>
            </a:avLst>
          </a:prstGeom>
          <a:solidFill>
            <a:srgbClr val="2F7D6E"/>
          </a:solidFill>
          <a:ln/>
        </p:spPr>
      </p:sp>
      <p:sp>
        <p:nvSpPr>
          <p:cNvPr id="26" name="Text 22"/>
          <p:cNvSpPr/>
          <p:nvPr/>
        </p:nvSpPr>
        <p:spPr>
          <a:xfrm>
            <a:off x="4608576" y="3246120"/>
            <a:ext cx="4114800" cy="365760"/>
          </a:xfrm>
          <a:prstGeom prst="rect">
            <a:avLst/>
          </a:prstGeom>
          <a:noFill/>
          <a:ln/>
        </p:spPr>
        <p:txBody>
          <a:bodyPr wrap="square" lIns="0" tIns="0" rIns="0" bIns="0" rtlCol="0" anchor="ctr"/>
          <a:lstStyle/>
          <a:p>
            <a:pPr marL="0" indent="0">
              <a:buNone/>
            </a:pPr>
            <a:r>
              <a:rPr lang="en-US" sz="1250" dirty="0">
                <a:solidFill>
                  <a:srgbClr val="1E2532"/>
                </a:solidFill>
                <a:latin typeface="Calibri" pitchFamily="34" charset="0"/>
                <a:ea typeface="Calibri" pitchFamily="34" charset="-122"/>
                <a:cs typeface="Calibri" pitchFamily="34" charset="-120"/>
              </a:rPr>
              <a:t>115 entreprises déclarées (29,6 %)</a:t>
            </a:r>
            <a:endParaRPr lang="en-US" sz="1250" dirty="0"/>
          </a:p>
        </p:txBody>
      </p:sp>
      <p:sp>
        <p:nvSpPr>
          <p:cNvPr id="27" name="Shape 23"/>
          <p:cNvSpPr/>
          <p:nvPr/>
        </p:nvSpPr>
        <p:spPr>
          <a:xfrm>
            <a:off x="4224528" y="3749040"/>
            <a:ext cx="256032" cy="256032"/>
          </a:xfrm>
          <a:prstGeom prst="roundRect">
            <a:avLst>
              <a:gd name="adj" fmla="val 17857"/>
            </a:avLst>
          </a:prstGeom>
          <a:solidFill>
            <a:srgbClr val="FF0000"/>
          </a:solidFill>
          <a:ln/>
        </p:spPr>
      </p:sp>
      <p:sp>
        <p:nvSpPr>
          <p:cNvPr id="28" name="Text 24"/>
          <p:cNvSpPr/>
          <p:nvPr/>
        </p:nvSpPr>
        <p:spPr>
          <a:xfrm>
            <a:off x="4608576" y="3703320"/>
            <a:ext cx="4114800" cy="365760"/>
          </a:xfrm>
          <a:prstGeom prst="rect">
            <a:avLst/>
          </a:prstGeom>
          <a:noFill/>
          <a:ln/>
        </p:spPr>
        <p:txBody>
          <a:bodyPr wrap="square" lIns="0" tIns="0" rIns="0" bIns="0" rtlCol="0" anchor="ctr"/>
          <a:lstStyle/>
          <a:p>
            <a:pPr marL="0" indent="0">
              <a:buNone/>
            </a:pPr>
            <a:r>
              <a:rPr lang="en-US" sz="1250" dirty="0">
                <a:solidFill>
                  <a:srgbClr val="1E2532"/>
                </a:solidFill>
                <a:latin typeface="Calibri" pitchFamily="34" charset="0"/>
                <a:ea typeface="Calibri" pitchFamily="34" charset="-122"/>
                <a:cs typeface="Calibri" pitchFamily="34" charset="-120"/>
              </a:rPr>
              <a:t>274 entreprises non déclarées (70,4 %)</a:t>
            </a:r>
            <a:endParaRPr lang="en-US" sz="1250" dirty="0"/>
          </a:p>
        </p:txBody>
      </p:sp>
      <p:sp>
        <p:nvSpPr>
          <p:cNvPr id="29" name="Text 25"/>
          <p:cNvSpPr/>
          <p:nvPr/>
        </p:nvSpPr>
        <p:spPr>
          <a:xfrm>
            <a:off x="4224528" y="4434840"/>
            <a:ext cx="4572000" cy="822960"/>
          </a:xfrm>
          <a:prstGeom prst="rect">
            <a:avLst/>
          </a:prstGeom>
          <a:noFill/>
          <a:ln/>
        </p:spPr>
        <p:txBody>
          <a:bodyPr wrap="square" lIns="0" tIns="0" rIns="0" bIns="0" rtlCol="0" anchor="ctr"/>
          <a:lstStyle/>
          <a:p>
            <a:pPr marL="0" indent="0" algn="just">
              <a:lnSpc>
                <a:spcPct val="120000"/>
              </a:lnSpc>
              <a:buNone/>
            </a:pPr>
            <a:r>
              <a:rPr lang="en-US" sz="1150" i="1" dirty="0">
                <a:solidFill>
                  <a:srgbClr val="5B6472"/>
                </a:solidFill>
                <a:latin typeface="Calibri" pitchFamily="34" charset="0"/>
                <a:ea typeface="Calibri" pitchFamily="34" charset="-122"/>
                <a:cs typeface="Calibri" pitchFamily="34" charset="-120"/>
              </a:rPr>
              <a:t>En nombre de titres : 179 des 555 titres actifs sont rattachés à une déclaration RBE, soit un taux de 32,3 %.</a:t>
            </a:r>
            <a:endParaRPr lang="en-US" sz="1150" dirty="0"/>
          </a:p>
        </p:txBody>
      </p:sp>
      <p:sp>
        <p:nvSpPr>
          <p:cNvPr id="30" name="Text 26"/>
          <p:cNvSpPr/>
          <p:nvPr/>
        </p:nvSpPr>
        <p:spPr>
          <a:xfrm>
            <a:off x="6914561" y="5257800"/>
            <a:ext cx="4572000" cy="914400"/>
          </a:xfrm>
          <a:prstGeom prst="rect">
            <a:avLst/>
          </a:prstGeom>
          <a:noFill/>
          <a:ln/>
        </p:spPr>
        <p:txBody>
          <a:bodyPr wrap="square" lIns="0" tIns="0" rIns="0" bIns="0" rtlCol="0" anchor="ctr"/>
          <a:lstStyle/>
          <a:p>
            <a:pPr algn="just">
              <a:lnSpc>
                <a:spcPct val="120000"/>
              </a:lnSpc>
            </a:pPr>
            <a:r>
              <a:rPr lang="en-US" sz="1150" i="1" dirty="0">
                <a:latin typeface="Calibri" pitchFamily="34" charset="0"/>
                <a:ea typeface="Calibri" pitchFamily="34" charset="-122"/>
                <a:cs typeface="Calibri" pitchFamily="34" charset="-120"/>
              </a:rPr>
              <a:t>À titre de comparaison, le secteur des hydrocarbures affiche un taux de couverture de 66,7 %.</a:t>
            </a:r>
          </a:p>
        </p:txBody>
      </p:sp>
      <p:sp>
        <p:nvSpPr>
          <p:cNvPr id="31" name="Shape 4">
            <a:extLst>
              <a:ext uri="{FF2B5EF4-FFF2-40B4-BE49-F238E27FC236}">
                <a16:creationId xmlns:a16="http://schemas.microsoft.com/office/drawing/2014/main" id="{383A0B59-6DE4-DAA4-698B-15CB5410ACE7}"/>
              </a:ext>
            </a:extLst>
          </p:cNvPr>
          <p:cNvSpPr/>
          <p:nvPr/>
        </p:nvSpPr>
        <p:spPr>
          <a:xfrm>
            <a:off x="10044887" y="6561646"/>
            <a:ext cx="45720" cy="45720"/>
          </a:xfrm>
          <a:prstGeom prst="ellipse">
            <a:avLst/>
          </a:prstGeom>
          <a:solidFill>
            <a:srgbClr val="C9962F"/>
          </a:solidFill>
          <a:ln/>
        </p:spPr>
      </p:sp>
      <p:sp>
        <p:nvSpPr>
          <p:cNvPr id="32" name="Shape 5">
            <a:extLst>
              <a:ext uri="{FF2B5EF4-FFF2-40B4-BE49-F238E27FC236}">
                <a16:creationId xmlns:a16="http://schemas.microsoft.com/office/drawing/2014/main" id="{52440CE2-44D8-C8C3-C0B0-6DA9D926A0E4}"/>
              </a:ext>
            </a:extLst>
          </p:cNvPr>
          <p:cNvSpPr/>
          <p:nvPr/>
        </p:nvSpPr>
        <p:spPr>
          <a:xfrm>
            <a:off x="9926015" y="6561646"/>
            <a:ext cx="45720" cy="45720"/>
          </a:xfrm>
          <a:prstGeom prst="ellipse">
            <a:avLst/>
          </a:prstGeom>
          <a:solidFill>
            <a:srgbClr val="C9962F"/>
          </a:solidFill>
          <a:ln/>
        </p:spPr>
      </p:sp>
      <p:sp>
        <p:nvSpPr>
          <p:cNvPr id="33" name="Shape 6">
            <a:extLst>
              <a:ext uri="{FF2B5EF4-FFF2-40B4-BE49-F238E27FC236}">
                <a16:creationId xmlns:a16="http://schemas.microsoft.com/office/drawing/2014/main" id="{EC18A2F3-49D9-FE70-6041-0E6DB7243190}"/>
              </a:ext>
            </a:extLst>
          </p:cNvPr>
          <p:cNvSpPr/>
          <p:nvPr/>
        </p:nvSpPr>
        <p:spPr>
          <a:xfrm>
            <a:off x="9807143" y="6561646"/>
            <a:ext cx="45720" cy="45720"/>
          </a:xfrm>
          <a:prstGeom prst="ellipse">
            <a:avLst/>
          </a:prstGeom>
          <a:solidFill>
            <a:srgbClr val="C9962F"/>
          </a:solidFill>
          <a:ln/>
        </p:spPr>
      </p:sp>
      <p:sp>
        <p:nvSpPr>
          <p:cNvPr id="34" name="Text 0">
            <a:extLst>
              <a:ext uri="{FF2B5EF4-FFF2-40B4-BE49-F238E27FC236}">
                <a16:creationId xmlns:a16="http://schemas.microsoft.com/office/drawing/2014/main" id="{3550E246-7908-E773-F731-3340B62813E8}"/>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RÉSULTATS DES ANALYSES</a:t>
            </a:r>
            <a:endParaRPr lang="en-US" sz="3200" dirty="0"/>
          </a:p>
        </p:txBody>
      </p:sp>
      <p:pic>
        <p:nvPicPr>
          <p:cNvPr id="3" name="Graphique 2" descr="Ampoule et engrenage avec un remplissage uni">
            <a:extLst>
              <a:ext uri="{FF2B5EF4-FFF2-40B4-BE49-F238E27FC236}">
                <a16:creationId xmlns:a16="http://schemas.microsoft.com/office/drawing/2014/main" id="{5156038D-C672-8C1D-DF49-B04713889B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
        <p:nvSpPr>
          <p:cNvPr id="4" name="Text 1">
            <a:extLst>
              <a:ext uri="{FF2B5EF4-FFF2-40B4-BE49-F238E27FC236}">
                <a16:creationId xmlns:a16="http://schemas.microsoft.com/office/drawing/2014/main" id="{DD29B529-ECDA-93D6-727A-747D4A831D65}"/>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SN" sz="2800" b="1" dirty="0">
                <a:solidFill>
                  <a:srgbClr val="082AF5"/>
                </a:solidFill>
                <a:latin typeface="Montserrat" pitchFamily="34" charset="0"/>
                <a:ea typeface="Montserrat" pitchFamily="34" charset="-122"/>
                <a:cs typeface="Montserrat" pitchFamily="34" charset="-120"/>
              </a:rPr>
              <a:t>Analyse des déclarations des entreprises titulaires de titres</a:t>
            </a:r>
            <a:endParaRPr lang="fr-SN" sz="2800" dirty="0">
              <a:solidFill>
                <a:srgbClr val="082AF5"/>
              </a:solidFill>
            </a:endParaRPr>
          </a:p>
        </p:txBody>
      </p:sp>
    </p:spTree>
    <p:extLst>
      <p:ext uri="{BB962C8B-B14F-4D97-AF65-F5344CB8AC3E}">
        <p14:creationId xmlns:p14="http://schemas.microsoft.com/office/powerpoint/2010/main" val="4153431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heel(1)">
                                      <p:cBhvr>
                                        <p:cTn id="7" dur="500"/>
                                        <p:tgtEl>
                                          <p:spTgt spid="33"/>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heel(1)">
                                      <p:cBhvr>
                                        <p:cTn id="11" dur="500"/>
                                        <p:tgtEl>
                                          <p:spTgt spid="32"/>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heel(1)">
                                      <p:cBhvr>
                                        <p:cTn id="1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18 / 21</a:t>
            </a:r>
            <a:endParaRPr lang="en-US" sz="900" dirty="0"/>
          </a:p>
        </p:txBody>
      </p:sp>
      <p:sp>
        <p:nvSpPr>
          <p:cNvPr id="10" name="Shape 7"/>
          <p:cNvSpPr/>
          <p:nvPr/>
        </p:nvSpPr>
        <p:spPr>
          <a:xfrm>
            <a:off x="566928" y="1783080"/>
            <a:ext cx="4206240" cy="4251960"/>
          </a:xfrm>
          <a:prstGeom prst="roundRect">
            <a:avLst>
              <a:gd name="adj" fmla="val 1739"/>
            </a:avLst>
          </a:prstGeom>
          <a:solidFill>
            <a:srgbClr val="C9962F"/>
          </a:solidFill>
          <a:ln/>
          <a:effectLst>
            <a:outerShdw blurRad="114300" dist="38100" dir="5400000" algn="bl" rotWithShape="0">
              <a:srgbClr val="1B2A4A">
                <a:alpha val="10000"/>
              </a:srgbClr>
            </a:outerShdw>
          </a:effectLst>
        </p:spPr>
      </p:sp>
      <p:sp>
        <p:nvSpPr>
          <p:cNvPr id="11" name="Text 8"/>
          <p:cNvSpPr/>
          <p:nvPr/>
        </p:nvSpPr>
        <p:spPr>
          <a:xfrm>
            <a:off x="877824" y="2057400"/>
            <a:ext cx="3584448" cy="274320"/>
          </a:xfrm>
          <a:prstGeom prst="rect">
            <a:avLst/>
          </a:prstGeom>
          <a:noFill/>
          <a:ln/>
        </p:spPr>
        <p:txBody>
          <a:bodyPr wrap="square" lIns="0" tIns="0" rIns="0" bIns="0" rtlCol="0" anchor="ctr"/>
          <a:lstStyle/>
          <a:p>
            <a:pPr marL="0" indent="0">
              <a:buNone/>
            </a:pPr>
            <a:r>
              <a:rPr lang="en-US" sz="1100" b="1" kern="0" spc="180" dirty="0">
                <a:solidFill>
                  <a:srgbClr val="F4DEDE"/>
                </a:solidFill>
                <a:latin typeface="Calibri" pitchFamily="34" charset="0"/>
                <a:ea typeface="Calibri" pitchFamily="34" charset="-122"/>
                <a:cs typeface="Calibri" pitchFamily="34" charset="-120"/>
              </a:rPr>
              <a:t>TAUX DE CONFORMITÉ</a:t>
            </a:r>
            <a:endParaRPr lang="en-US" sz="1100" dirty="0"/>
          </a:p>
        </p:txBody>
      </p:sp>
      <p:sp>
        <p:nvSpPr>
          <p:cNvPr id="12" name="Text 9"/>
          <p:cNvSpPr/>
          <p:nvPr/>
        </p:nvSpPr>
        <p:spPr>
          <a:xfrm>
            <a:off x="841248" y="2377440"/>
            <a:ext cx="3657600" cy="1371600"/>
          </a:xfrm>
          <a:prstGeom prst="rect">
            <a:avLst/>
          </a:prstGeom>
          <a:noFill/>
          <a:ln/>
        </p:spPr>
        <p:txBody>
          <a:bodyPr wrap="square" lIns="0" tIns="0" rIns="0" bIns="0" rtlCol="0" anchor="ctr"/>
          <a:lstStyle/>
          <a:p>
            <a:pPr marL="0" indent="0">
              <a:buNone/>
            </a:pPr>
            <a:r>
              <a:rPr lang="en-US" sz="6400" b="1" dirty="0">
                <a:solidFill>
                  <a:srgbClr val="FFFFFF"/>
                </a:solidFill>
                <a:latin typeface="Montserrat" pitchFamily="34" charset="0"/>
                <a:ea typeface="Montserrat" pitchFamily="34" charset="-122"/>
                <a:cs typeface="Montserrat" pitchFamily="34" charset="-120"/>
              </a:rPr>
              <a:t>2,4 %</a:t>
            </a:r>
            <a:endParaRPr lang="en-US" sz="6400" dirty="0"/>
          </a:p>
        </p:txBody>
      </p:sp>
      <p:sp>
        <p:nvSpPr>
          <p:cNvPr id="13" name="Shape 10"/>
          <p:cNvSpPr/>
          <p:nvPr/>
        </p:nvSpPr>
        <p:spPr>
          <a:xfrm>
            <a:off x="877824" y="3886200"/>
            <a:ext cx="3584448" cy="0"/>
          </a:xfrm>
          <a:prstGeom prst="line">
            <a:avLst/>
          </a:prstGeom>
          <a:noFill/>
          <a:ln w="12700">
            <a:solidFill>
              <a:srgbClr val="FFFFFF"/>
            </a:solidFill>
            <a:prstDash val="solid"/>
          </a:ln>
        </p:spPr>
      </p:sp>
      <p:sp>
        <p:nvSpPr>
          <p:cNvPr id="14" name="Text 11"/>
          <p:cNvSpPr/>
          <p:nvPr/>
        </p:nvSpPr>
        <p:spPr>
          <a:xfrm>
            <a:off x="877824" y="4069080"/>
            <a:ext cx="3852000" cy="1371600"/>
          </a:xfrm>
          <a:prstGeom prst="rect">
            <a:avLst/>
          </a:prstGeom>
          <a:noFill/>
          <a:ln/>
        </p:spPr>
        <p:txBody>
          <a:bodyPr wrap="square" lIns="0" tIns="0" rIns="0" bIns="0" rtlCol="0" anchor="ctr"/>
          <a:lstStyle/>
          <a:p>
            <a:pPr marL="0" indent="0">
              <a:lnSpc>
                <a:spcPct val="130000"/>
              </a:lnSpc>
              <a:buNone/>
            </a:pPr>
            <a:r>
              <a:rPr lang="fr-SN" sz="2200" b="1" dirty="0">
                <a:solidFill>
                  <a:srgbClr val="FFFFFF"/>
                </a:solidFill>
                <a:latin typeface="Calibri" pitchFamily="34" charset="0"/>
                <a:ea typeface="Calibri" pitchFamily="34" charset="-122"/>
                <a:cs typeface="Calibri" pitchFamily="34" charset="-120"/>
              </a:rPr>
              <a:t>1 </a:t>
            </a:r>
            <a:r>
              <a:rPr lang="fr-SN" sz="1300" dirty="0">
                <a:solidFill>
                  <a:srgbClr val="FFFFFF"/>
                </a:solidFill>
                <a:latin typeface="Calibri" pitchFamily="34" charset="0"/>
                <a:ea typeface="Calibri" pitchFamily="34" charset="-122"/>
                <a:cs typeface="Calibri" pitchFamily="34" charset="-120"/>
              </a:rPr>
              <a:t>entreprise sous-traitante déclarée au RBE
</a:t>
            </a:r>
            <a:endParaRPr lang="fr-SN" sz="2200" dirty="0"/>
          </a:p>
          <a:p>
            <a:pPr marL="0" indent="0">
              <a:lnSpc>
                <a:spcPct val="130000"/>
              </a:lnSpc>
              <a:buNone/>
            </a:pPr>
            <a:r>
              <a:rPr lang="fr-SN" sz="2200" b="1" dirty="0">
                <a:solidFill>
                  <a:srgbClr val="FFFFFF"/>
                </a:solidFill>
                <a:latin typeface="Calibri" pitchFamily="34" charset="0"/>
                <a:ea typeface="Calibri" pitchFamily="34" charset="-122"/>
                <a:cs typeface="Calibri" pitchFamily="34" charset="-120"/>
              </a:rPr>
              <a:t>40 </a:t>
            </a:r>
            <a:r>
              <a:rPr lang="fr-SN" sz="1300" dirty="0">
                <a:solidFill>
                  <a:srgbClr val="FFFFFF"/>
                </a:solidFill>
                <a:latin typeface="Calibri" pitchFamily="34" charset="0"/>
                <a:ea typeface="Calibri" pitchFamily="34" charset="-122"/>
                <a:cs typeface="Calibri" pitchFamily="34" charset="-120"/>
              </a:rPr>
              <a:t>entreprises sous-traitantes sans aucune déclaration</a:t>
            </a:r>
            <a:endParaRPr lang="fr-SN" sz="2200" dirty="0"/>
          </a:p>
        </p:txBody>
      </p:sp>
      <p:sp>
        <p:nvSpPr>
          <p:cNvPr id="15" name="Text 12"/>
          <p:cNvSpPr/>
          <p:nvPr/>
        </p:nvSpPr>
        <p:spPr>
          <a:xfrm>
            <a:off x="877824" y="5532120"/>
            <a:ext cx="3584448" cy="457200"/>
          </a:xfrm>
          <a:prstGeom prst="rect">
            <a:avLst/>
          </a:prstGeom>
          <a:noFill/>
          <a:ln/>
        </p:spPr>
        <p:txBody>
          <a:bodyPr wrap="square" lIns="0" tIns="0" rIns="0" bIns="0" rtlCol="0" anchor="ctr"/>
          <a:lstStyle/>
          <a:p>
            <a:r>
              <a:rPr lang="fr-SN" sz="1050" i="1" dirty="0">
                <a:solidFill>
                  <a:srgbClr val="F4DEDE"/>
                </a:solidFill>
                <a:latin typeface="Calibri" pitchFamily="34" charset="0"/>
                <a:ea typeface="Calibri" pitchFamily="34" charset="-122"/>
                <a:cs typeface="Calibri" pitchFamily="34" charset="-120"/>
              </a:rPr>
              <a:t>Seule INTERNATIONAL DRILLING COMPANY SENEGAL SASU figure dans le registre et dans la liste des sous-traitants.</a:t>
            </a:r>
            <a:endParaRPr lang="fr-SN" sz="1050" dirty="0"/>
          </a:p>
        </p:txBody>
      </p:sp>
      <p:sp>
        <p:nvSpPr>
          <p:cNvPr id="16" name="Text 13"/>
          <p:cNvSpPr/>
          <p:nvPr/>
        </p:nvSpPr>
        <p:spPr>
          <a:xfrm>
            <a:off x="5276088" y="1783080"/>
            <a:ext cx="6348679" cy="320040"/>
          </a:xfrm>
          <a:prstGeom prst="rect">
            <a:avLst/>
          </a:prstGeom>
          <a:noFill/>
          <a:ln/>
        </p:spPr>
        <p:txBody>
          <a:bodyPr wrap="square" lIns="0" tIns="0" rIns="0" bIns="0" rtlCol="0" anchor="ctr"/>
          <a:lstStyle/>
          <a:p>
            <a:pPr marL="0" indent="0">
              <a:buNone/>
            </a:pPr>
            <a:r>
              <a:rPr lang="en-US" sz="1150" b="1" kern="0" spc="80" dirty="0">
                <a:solidFill>
                  <a:srgbClr val="1B2A4A"/>
                </a:solidFill>
                <a:latin typeface="Calibri" pitchFamily="34" charset="0"/>
                <a:ea typeface="Calibri" pitchFamily="34" charset="-122"/>
                <a:cs typeface="Calibri" pitchFamily="34" charset="-120"/>
              </a:rPr>
              <a:t>41 ENTREPRISES SOUS-TRAITANTES</a:t>
            </a:r>
            <a:endParaRPr lang="en-US" sz="1150" dirty="0"/>
          </a:p>
        </p:txBody>
      </p:sp>
      <p:sp>
        <p:nvSpPr>
          <p:cNvPr id="17" name="Shape 14"/>
          <p:cNvSpPr/>
          <p:nvPr/>
        </p:nvSpPr>
        <p:spPr>
          <a:xfrm>
            <a:off x="5213452" y="2286000"/>
            <a:ext cx="548640" cy="548640"/>
          </a:xfrm>
          <a:prstGeom prst="roundRect">
            <a:avLst>
              <a:gd name="adj" fmla="val 13333"/>
            </a:avLst>
          </a:prstGeom>
          <a:solidFill>
            <a:srgbClr val="C9962F"/>
          </a:solidFill>
          <a:ln/>
        </p:spPr>
      </p:sp>
      <p:sp>
        <p:nvSpPr>
          <p:cNvPr id="18" name="Shape 15"/>
          <p:cNvSpPr/>
          <p:nvPr/>
        </p:nvSpPr>
        <p:spPr>
          <a:xfrm>
            <a:off x="5871820" y="2286000"/>
            <a:ext cx="548640" cy="548640"/>
          </a:xfrm>
          <a:prstGeom prst="roundRect">
            <a:avLst>
              <a:gd name="adj" fmla="val 13333"/>
            </a:avLst>
          </a:prstGeom>
          <a:solidFill>
            <a:srgbClr val="E8ECF3"/>
          </a:solidFill>
          <a:ln/>
        </p:spPr>
      </p:sp>
      <p:sp>
        <p:nvSpPr>
          <p:cNvPr id="19" name="Shape 16"/>
          <p:cNvSpPr/>
          <p:nvPr/>
        </p:nvSpPr>
        <p:spPr>
          <a:xfrm>
            <a:off x="6530188" y="2286000"/>
            <a:ext cx="548640" cy="548640"/>
          </a:xfrm>
          <a:prstGeom prst="roundRect">
            <a:avLst>
              <a:gd name="adj" fmla="val 13333"/>
            </a:avLst>
          </a:prstGeom>
          <a:solidFill>
            <a:srgbClr val="E8ECF3"/>
          </a:solidFill>
          <a:ln/>
        </p:spPr>
      </p:sp>
      <p:sp>
        <p:nvSpPr>
          <p:cNvPr id="20" name="Shape 17"/>
          <p:cNvSpPr/>
          <p:nvPr/>
        </p:nvSpPr>
        <p:spPr>
          <a:xfrm>
            <a:off x="7188556" y="2286000"/>
            <a:ext cx="548640" cy="548640"/>
          </a:xfrm>
          <a:prstGeom prst="roundRect">
            <a:avLst>
              <a:gd name="adj" fmla="val 13333"/>
            </a:avLst>
          </a:prstGeom>
          <a:solidFill>
            <a:srgbClr val="E8ECF3"/>
          </a:solidFill>
          <a:ln/>
        </p:spPr>
      </p:sp>
      <p:sp>
        <p:nvSpPr>
          <p:cNvPr id="21" name="Shape 18"/>
          <p:cNvSpPr/>
          <p:nvPr/>
        </p:nvSpPr>
        <p:spPr>
          <a:xfrm>
            <a:off x="7846924" y="2286000"/>
            <a:ext cx="548640" cy="548640"/>
          </a:xfrm>
          <a:prstGeom prst="roundRect">
            <a:avLst>
              <a:gd name="adj" fmla="val 13333"/>
            </a:avLst>
          </a:prstGeom>
          <a:solidFill>
            <a:srgbClr val="E8ECF3"/>
          </a:solidFill>
          <a:ln/>
        </p:spPr>
      </p:sp>
      <p:sp>
        <p:nvSpPr>
          <p:cNvPr id="22" name="Shape 19"/>
          <p:cNvSpPr/>
          <p:nvPr/>
        </p:nvSpPr>
        <p:spPr>
          <a:xfrm>
            <a:off x="8505292" y="2286000"/>
            <a:ext cx="548640" cy="548640"/>
          </a:xfrm>
          <a:prstGeom prst="roundRect">
            <a:avLst>
              <a:gd name="adj" fmla="val 13333"/>
            </a:avLst>
          </a:prstGeom>
          <a:solidFill>
            <a:srgbClr val="E8ECF3"/>
          </a:solidFill>
          <a:ln/>
        </p:spPr>
      </p:sp>
      <p:sp>
        <p:nvSpPr>
          <p:cNvPr id="23" name="Shape 20"/>
          <p:cNvSpPr/>
          <p:nvPr/>
        </p:nvSpPr>
        <p:spPr>
          <a:xfrm>
            <a:off x="9163660" y="2286000"/>
            <a:ext cx="548640" cy="548640"/>
          </a:xfrm>
          <a:prstGeom prst="roundRect">
            <a:avLst>
              <a:gd name="adj" fmla="val 13333"/>
            </a:avLst>
          </a:prstGeom>
          <a:solidFill>
            <a:srgbClr val="E8ECF3"/>
          </a:solidFill>
          <a:ln/>
        </p:spPr>
      </p:sp>
      <p:sp>
        <p:nvSpPr>
          <p:cNvPr id="24" name="Shape 21"/>
          <p:cNvSpPr/>
          <p:nvPr/>
        </p:nvSpPr>
        <p:spPr>
          <a:xfrm>
            <a:off x="9822028" y="2286000"/>
            <a:ext cx="548640" cy="548640"/>
          </a:xfrm>
          <a:prstGeom prst="roundRect">
            <a:avLst>
              <a:gd name="adj" fmla="val 13333"/>
            </a:avLst>
          </a:prstGeom>
          <a:solidFill>
            <a:srgbClr val="E8ECF3"/>
          </a:solidFill>
          <a:ln/>
        </p:spPr>
      </p:sp>
      <p:sp>
        <p:nvSpPr>
          <p:cNvPr id="25" name="Shape 22"/>
          <p:cNvSpPr/>
          <p:nvPr/>
        </p:nvSpPr>
        <p:spPr>
          <a:xfrm>
            <a:off x="10480396" y="2286000"/>
            <a:ext cx="548640" cy="548640"/>
          </a:xfrm>
          <a:prstGeom prst="roundRect">
            <a:avLst>
              <a:gd name="adj" fmla="val 13333"/>
            </a:avLst>
          </a:prstGeom>
          <a:solidFill>
            <a:srgbClr val="E8ECF3"/>
          </a:solidFill>
          <a:ln/>
        </p:spPr>
      </p:sp>
      <p:sp>
        <p:nvSpPr>
          <p:cNvPr id="26" name="Shape 23"/>
          <p:cNvSpPr/>
          <p:nvPr/>
        </p:nvSpPr>
        <p:spPr>
          <a:xfrm>
            <a:off x="11138764" y="2286000"/>
            <a:ext cx="548640" cy="548640"/>
          </a:xfrm>
          <a:prstGeom prst="roundRect">
            <a:avLst>
              <a:gd name="adj" fmla="val 13333"/>
            </a:avLst>
          </a:prstGeom>
          <a:solidFill>
            <a:srgbClr val="E8ECF3"/>
          </a:solidFill>
          <a:ln/>
        </p:spPr>
      </p:sp>
      <p:sp>
        <p:nvSpPr>
          <p:cNvPr id="27" name="Shape 24"/>
          <p:cNvSpPr/>
          <p:nvPr/>
        </p:nvSpPr>
        <p:spPr>
          <a:xfrm>
            <a:off x="5213452" y="2944368"/>
            <a:ext cx="548640" cy="548640"/>
          </a:xfrm>
          <a:prstGeom prst="roundRect">
            <a:avLst>
              <a:gd name="adj" fmla="val 13333"/>
            </a:avLst>
          </a:prstGeom>
          <a:solidFill>
            <a:srgbClr val="E8ECF3"/>
          </a:solidFill>
          <a:ln/>
        </p:spPr>
      </p:sp>
      <p:sp>
        <p:nvSpPr>
          <p:cNvPr id="28" name="Shape 25"/>
          <p:cNvSpPr/>
          <p:nvPr/>
        </p:nvSpPr>
        <p:spPr>
          <a:xfrm>
            <a:off x="5871820" y="2944368"/>
            <a:ext cx="548640" cy="548640"/>
          </a:xfrm>
          <a:prstGeom prst="roundRect">
            <a:avLst>
              <a:gd name="adj" fmla="val 13333"/>
            </a:avLst>
          </a:prstGeom>
          <a:solidFill>
            <a:srgbClr val="E8ECF3"/>
          </a:solidFill>
          <a:ln/>
        </p:spPr>
      </p:sp>
      <p:sp>
        <p:nvSpPr>
          <p:cNvPr id="29" name="Shape 26"/>
          <p:cNvSpPr/>
          <p:nvPr/>
        </p:nvSpPr>
        <p:spPr>
          <a:xfrm>
            <a:off x="6530188" y="2944368"/>
            <a:ext cx="548640" cy="548640"/>
          </a:xfrm>
          <a:prstGeom prst="roundRect">
            <a:avLst>
              <a:gd name="adj" fmla="val 13333"/>
            </a:avLst>
          </a:prstGeom>
          <a:solidFill>
            <a:srgbClr val="E8ECF3"/>
          </a:solidFill>
          <a:ln/>
        </p:spPr>
      </p:sp>
      <p:sp>
        <p:nvSpPr>
          <p:cNvPr id="30" name="Shape 27"/>
          <p:cNvSpPr/>
          <p:nvPr/>
        </p:nvSpPr>
        <p:spPr>
          <a:xfrm>
            <a:off x="7188556" y="2944368"/>
            <a:ext cx="548640" cy="548640"/>
          </a:xfrm>
          <a:prstGeom prst="roundRect">
            <a:avLst>
              <a:gd name="adj" fmla="val 13333"/>
            </a:avLst>
          </a:prstGeom>
          <a:solidFill>
            <a:srgbClr val="E8ECF3"/>
          </a:solidFill>
          <a:ln/>
        </p:spPr>
      </p:sp>
      <p:sp>
        <p:nvSpPr>
          <p:cNvPr id="31" name="Shape 28"/>
          <p:cNvSpPr/>
          <p:nvPr/>
        </p:nvSpPr>
        <p:spPr>
          <a:xfrm>
            <a:off x="7846924" y="2944368"/>
            <a:ext cx="548640" cy="548640"/>
          </a:xfrm>
          <a:prstGeom prst="roundRect">
            <a:avLst>
              <a:gd name="adj" fmla="val 13333"/>
            </a:avLst>
          </a:prstGeom>
          <a:solidFill>
            <a:srgbClr val="E8ECF3"/>
          </a:solidFill>
          <a:ln/>
        </p:spPr>
      </p:sp>
      <p:sp>
        <p:nvSpPr>
          <p:cNvPr id="32" name="Shape 29"/>
          <p:cNvSpPr/>
          <p:nvPr/>
        </p:nvSpPr>
        <p:spPr>
          <a:xfrm>
            <a:off x="8505292" y="2944368"/>
            <a:ext cx="548640" cy="548640"/>
          </a:xfrm>
          <a:prstGeom prst="roundRect">
            <a:avLst>
              <a:gd name="adj" fmla="val 13333"/>
            </a:avLst>
          </a:prstGeom>
          <a:solidFill>
            <a:srgbClr val="E8ECF3"/>
          </a:solidFill>
          <a:ln/>
        </p:spPr>
      </p:sp>
      <p:sp>
        <p:nvSpPr>
          <p:cNvPr id="33" name="Shape 30"/>
          <p:cNvSpPr/>
          <p:nvPr/>
        </p:nvSpPr>
        <p:spPr>
          <a:xfrm>
            <a:off x="9163660" y="2944368"/>
            <a:ext cx="548640" cy="548640"/>
          </a:xfrm>
          <a:prstGeom prst="roundRect">
            <a:avLst>
              <a:gd name="adj" fmla="val 13333"/>
            </a:avLst>
          </a:prstGeom>
          <a:solidFill>
            <a:srgbClr val="E8ECF3"/>
          </a:solidFill>
          <a:ln/>
        </p:spPr>
      </p:sp>
      <p:sp>
        <p:nvSpPr>
          <p:cNvPr id="34" name="Shape 31"/>
          <p:cNvSpPr/>
          <p:nvPr/>
        </p:nvSpPr>
        <p:spPr>
          <a:xfrm>
            <a:off x="9822028" y="2944368"/>
            <a:ext cx="548640" cy="548640"/>
          </a:xfrm>
          <a:prstGeom prst="roundRect">
            <a:avLst>
              <a:gd name="adj" fmla="val 13333"/>
            </a:avLst>
          </a:prstGeom>
          <a:solidFill>
            <a:srgbClr val="E8ECF3"/>
          </a:solidFill>
          <a:ln/>
        </p:spPr>
      </p:sp>
      <p:sp>
        <p:nvSpPr>
          <p:cNvPr id="35" name="Shape 32"/>
          <p:cNvSpPr/>
          <p:nvPr/>
        </p:nvSpPr>
        <p:spPr>
          <a:xfrm>
            <a:off x="10480396" y="2944368"/>
            <a:ext cx="548640" cy="548640"/>
          </a:xfrm>
          <a:prstGeom prst="roundRect">
            <a:avLst>
              <a:gd name="adj" fmla="val 13333"/>
            </a:avLst>
          </a:prstGeom>
          <a:solidFill>
            <a:srgbClr val="E8ECF3"/>
          </a:solidFill>
          <a:ln/>
        </p:spPr>
      </p:sp>
      <p:sp>
        <p:nvSpPr>
          <p:cNvPr id="36" name="Shape 33"/>
          <p:cNvSpPr/>
          <p:nvPr/>
        </p:nvSpPr>
        <p:spPr>
          <a:xfrm>
            <a:off x="11138764" y="2944368"/>
            <a:ext cx="548640" cy="548640"/>
          </a:xfrm>
          <a:prstGeom prst="roundRect">
            <a:avLst>
              <a:gd name="adj" fmla="val 13333"/>
            </a:avLst>
          </a:prstGeom>
          <a:solidFill>
            <a:srgbClr val="E8ECF3"/>
          </a:solidFill>
          <a:ln/>
        </p:spPr>
      </p:sp>
      <p:sp>
        <p:nvSpPr>
          <p:cNvPr id="37" name="Shape 34"/>
          <p:cNvSpPr/>
          <p:nvPr/>
        </p:nvSpPr>
        <p:spPr>
          <a:xfrm>
            <a:off x="5213452" y="3602736"/>
            <a:ext cx="548640" cy="548640"/>
          </a:xfrm>
          <a:prstGeom prst="roundRect">
            <a:avLst>
              <a:gd name="adj" fmla="val 13333"/>
            </a:avLst>
          </a:prstGeom>
          <a:solidFill>
            <a:srgbClr val="E8ECF3"/>
          </a:solidFill>
          <a:ln/>
        </p:spPr>
      </p:sp>
      <p:sp>
        <p:nvSpPr>
          <p:cNvPr id="38" name="Shape 35"/>
          <p:cNvSpPr/>
          <p:nvPr/>
        </p:nvSpPr>
        <p:spPr>
          <a:xfrm>
            <a:off x="5871820" y="3602736"/>
            <a:ext cx="548640" cy="548640"/>
          </a:xfrm>
          <a:prstGeom prst="roundRect">
            <a:avLst>
              <a:gd name="adj" fmla="val 13333"/>
            </a:avLst>
          </a:prstGeom>
          <a:solidFill>
            <a:srgbClr val="E8ECF3"/>
          </a:solidFill>
          <a:ln/>
        </p:spPr>
      </p:sp>
      <p:sp>
        <p:nvSpPr>
          <p:cNvPr id="39" name="Shape 36"/>
          <p:cNvSpPr/>
          <p:nvPr/>
        </p:nvSpPr>
        <p:spPr>
          <a:xfrm>
            <a:off x="6530188" y="3602736"/>
            <a:ext cx="548640" cy="548640"/>
          </a:xfrm>
          <a:prstGeom prst="roundRect">
            <a:avLst>
              <a:gd name="adj" fmla="val 13333"/>
            </a:avLst>
          </a:prstGeom>
          <a:solidFill>
            <a:srgbClr val="E8ECF3"/>
          </a:solidFill>
          <a:ln/>
        </p:spPr>
      </p:sp>
      <p:sp>
        <p:nvSpPr>
          <p:cNvPr id="40" name="Shape 37"/>
          <p:cNvSpPr/>
          <p:nvPr/>
        </p:nvSpPr>
        <p:spPr>
          <a:xfrm>
            <a:off x="7188556" y="3602736"/>
            <a:ext cx="548640" cy="548640"/>
          </a:xfrm>
          <a:prstGeom prst="roundRect">
            <a:avLst>
              <a:gd name="adj" fmla="val 13333"/>
            </a:avLst>
          </a:prstGeom>
          <a:solidFill>
            <a:srgbClr val="E8ECF3"/>
          </a:solidFill>
          <a:ln/>
        </p:spPr>
      </p:sp>
      <p:sp>
        <p:nvSpPr>
          <p:cNvPr id="41" name="Shape 38"/>
          <p:cNvSpPr/>
          <p:nvPr/>
        </p:nvSpPr>
        <p:spPr>
          <a:xfrm>
            <a:off x="7846924" y="3602736"/>
            <a:ext cx="548640" cy="548640"/>
          </a:xfrm>
          <a:prstGeom prst="roundRect">
            <a:avLst>
              <a:gd name="adj" fmla="val 13333"/>
            </a:avLst>
          </a:prstGeom>
          <a:solidFill>
            <a:srgbClr val="E8ECF3"/>
          </a:solidFill>
          <a:ln/>
        </p:spPr>
      </p:sp>
      <p:sp>
        <p:nvSpPr>
          <p:cNvPr id="42" name="Shape 39"/>
          <p:cNvSpPr/>
          <p:nvPr/>
        </p:nvSpPr>
        <p:spPr>
          <a:xfrm>
            <a:off x="8505292" y="3602736"/>
            <a:ext cx="548640" cy="548640"/>
          </a:xfrm>
          <a:prstGeom prst="roundRect">
            <a:avLst>
              <a:gd name="adj" fmla="val 13333"/>
            </a:avLst>
          </a:prstGeom>
          <a:solidFill>
            <a:srgbClr val="E8ECF3"/>
          </a:solidFill>
          <a:ln/>
        </p:spPr>
      </p:sp>
      <p:sp>
        <p:nvSpPr>
          <p:cNvPr id="43" name="Shape 40"/>
          <p:cNvSpPr/>
          <p:nvPr/>
        </p:nvSpPr>
        <p:spPr>
          <a:xfrm>
            <a:off x="9163660" y="3602736"/>
            <a:ext cx="548640" cy="548640"/>
          </a:xfrm>
          <a:prstGeom prst="roundRect">
            <a:avLst>
              <a:gd name="adj" fmla="val 13333"/>
            </a:avLst>
          </a:prstGeom>
          <a:solidFill>
            <a:srgbClr val="E8ECF3"/>
          </a:solidFill>
          <a:ln/>
        </p:spPr>
      </p:sp>
      <p:sp>
        <p:nvSpPr>
          <p:cNvPr id="44" name="Shape 41"/>
          <p:cNvSpPr/>
          <p:nvPr/>
        </p:nvSpPr>
        <p:spPr>
          <a:xfrm>
            <a:off x="9822028" y="3602736"/>
            <a:ext cx="548640" cy="548640"/>
          </a:xfrm>
          <a:prstGeom prst="roundRect">
            <a:avLst>
              <a:gd name="adj" fmla="val 13333"/>
            </a:avLst>
          </a:prstGeom>
          <a:solidFill>
            <a:srgbClr val="E8ECF3"/>
          </a:solidFill>
          <a:ln/>
        </p:spPr>
      </p:sp>
      <p:sp>
        <p:nvSpPr>
          <p:cNvPr id="45" name="Shape 42"/>
          <p:cNvSpPr/>
          <p:nvPr/>
        </p:nvSpPr>
        <p:spPr>
          <a:xfrm>
            <a:off x="10480396" y="3602736"/>
            <a:ext cx="548640" cy="548640"/>
          </a:xfrm>
          <a:prstGeom prst="roundRect">
            <a:avLst>
              <a:gd name="adj" fmla="val 13333"/>
            </a:avLst>
          </a:prstGeom>
          <a:solidFill>
            <a:srgbClr val="E8ECF3"/>
          </a:solidFill>
          <a:ln/>
        </p:spPr>
      </p:sp>
      <p:sp>
        <p:nvSpPr>
          <p:cNvPr id="46" name="Shape 43"/>
          <p:cNvSpPr/>
          <p:nvPr/>
        </p:nvSpPr>
        <p:spPr>
          <a:xfrm>
            <a:off x="11138764" y="3602736"/>
            <a:ext cx="548640" cy="548640"/>
          </a:xfrm>
          <a:prstGeom prst="roundRect">
            <a:avLst>
              <a:gd name="adj" fmla="val 13333"/>
            </a:avLst>
          </a:prstGeom>
          <a:solidFill>
            <a:srgbClr val="E8ECF3"/>
          </a:solidFill>
          <a:ln/>
        </p:spPr>
      </p:sp>
      <p:sp>
        <p:nvSpPr>
          <p:cNvPr id="47" name="Shape 44"/>
          <p:cNvSpPr/>
          <p:nvPr/>
        </p:nvSpPr>
        <p:spPr>
          <a:xfrm>
            <a:off x="5213452" y="4261104"/>
            <a:ext cx="548640" cy="548640"/>
          </a:xfrm>
          <a:prstGeom prst="roundRect">
            <a:avLst>
              <a:gd name="adj" fmla="val 13333"/>
            </a:avLst>
          </a:prstGeom>
          <a:solidFill>
            <a:srgbClr val="E8ECF3"/>
          </a:solidFill>
          <a:ln/>
        </p:spPr>
      </p:sp>
      <p:sp>
        <p:nvSpPr>
          <p:cNvPr id="48" name="Shape 45"/>
          <p:cNvSpPr/>
          <p:nvPr/>
        </p:nvSpPr>
        <p:spPr>
          <a:xfrm>
            <a:off x="5871820" y="4261104"/>
            <a:ext cx="548640" cy="548640"/>
          </a:xfrm>
          <a:prstGeom prst="roundRect">
            <a:avLst>
              <a:gd name="adj" fmla="val 13333"/>
            </a:avLst>
          </a:prstGeom>
          <a:solidFill>
            <a:srgbClr val="E8ECF3"/>
          </a:solidFill>
          <a:ln/>
        </p:spPr>
      </p:sp>
      <p:sp>
        <p:nvSpPr>
          <p:cNvPr id="49" name="Shape 46"/>
          <p:cNvSpPr/>
          <p:nvPr/>
        </p:nvSpPr>
        <p:spPr>
          <a:xfrm>
            <a:off x="6530188" y="4261104"/>
            <a:ext cx="548640" cy="548640"/>
          </a:xfrm>
          <a:prstGeom prst="roundRect">
            <a:avLst>
              <a:gd name="adj" fmla="val 13333"/>
            </a:avLst>
          </a:prstGeom>
          <a:solidFill>
            <a:srgbClr val="E8ECF3"/>
          </a:solidFill>
          <a:ln/>
        </p:spPr>
      </p:sp>
      <p:sp>
        <p:nvSpPr>
          <p:cNvPr id="50" name="Shape 47"/>
          <p:cNvSpPr/>
          <p:nvPr/>
        </p:nvSpPr>
        <p:spPr>
          <a:xfrm>
            <a:off x="7188556" y="4261104"/>
            <a:ext cx="548640" cy="548640"/>
          </a:xfrm>
          <a:prstGeom prst="roundRect">
            <a:avLst>
              <a:gd name="adj" fmla="val 13333"/>
            </a:avLst>
          </a:prstGeom>
          <a:solidFill>
            <a:srgbClr val="E8ECF3"/>
          </a:solidFill>
          <a:ln/>
        </p:spPr>
      </p:sp>
      <p:sp>
        <p:nvSpPr>
          <p:cNvPr id="51" name="Shape 48"/>
          <p:cNvSpPr/>
          <p:nvPr/>
        </p:nvSpPr>
        <p:spPr>
          <a:xfrm>
            <a:off x="7846924" y="4261104"/>
            <a:ext cx="548640" cy="548640"/>
          </a:xfrm>
          <a:prstGeom prst="roundRect">
            <a:avLst>
              <a:gd name="adj" fmla="val 13333"/>
            </a:avLst>
          </a:prstGeom>
          <a:solidFill>
            <a:srgbClr val="E8ECF3"/>
          </a:solidFill>
          <a:ln/>
        </p:spPr>
      </p:sp>
      <p:sp>
        <p:nvSpPr>
          <p:cNvPr id="52" name="Shape 49"/>
          <p:cNvSpPr/>
          <p:nvPr/>
        </p:nvSpPr>
        <p:spPr>
          <a:xfrm>
            <a:off x="8505292" y="4261104"/>
            <a:ext cx="548640" cy="548640"/>
          </a:xfrm>
          <a:prstGeom prst="roundRect">
            <a:avLst>
              <a:gd name="adj" fmla="val 13333"/>
            </a:avLst>
          </a:prstGeom>
          <a:solidFill>
            <a:srgbClr val="E8ECF3"/>
          </a:solidFill>
          <a:ln/>
        </p:spPr>
      </p:sp>
      <p:sp>
        <p:nvSpPr>
          <p:cNvPr id="53" name="Shape 50"/>
          <p:cNvSpPr/>
          <p:nvPr/>
        </p:nvSpPr>
        <p:spPr>
          <a:xfrm>
            <a:off x="9163660" y="4261104"/>
            <a:ext cx="548640" cy="548640"/>
          </a:xfrm>
          <a:prstGeom prst="roundRect">
            <a:avLst>
              <a:gd name="adj" fmla="val 13333"/>
            </a:avLst>
          </a:prstGeom>
          <a:solidFill>
            <a:srgbClr val="E8ECF3"/>
          </a:solidFill>
          <a:ln/>
        </p:spPr>
      </p:sp>
      <p:sp>
        <p:nvSpPr>
          <p:cNvPr id="54" name="Shape 51"/>
          <p:cNvSpPr/>
          <p:nvPr/>
        </p:nvSpPr>
        <p:spPr>
          <a:xfrm>
            <a:off x="9822028" y="4261104"/>
            <a:ext cx="548640" cy="548640"/>
          </a:xfrm>
          <a:prstGeom prst="roundRect">
            <a:avLst>
              <a:gd name="adj" fmla="val 13333"/>
            </a:avLst>
          </a:prstGeom>
          <a:solidFill>
            <a:srgbClr val="E8ECF3"/>
          </a:solidFill>
          <a:ln/>
        </p:spPr>
      </p:sp>
      <p:sp>
        <p:nvSpPr>
          <p:cNvPr id="55" name="Shape 52"/>
          <p:cNvSpPr/>
          <p:nvPr/>
        </p:nvSpPr>
        <p:spPr>
          <a:xfrm>
            <a:off x="10480396" y="4261104"/>
            <a:ext cx="548640" cy="548640"/>
          </a:xfrm>
          <a:prstGeom prst="roundRect">
            <a:avLst>
              <a:gd name="adj" fmla="val 13333"/>
            </a:avLst>
          </a:prstGeom>
          <a:solidFill>
            <a:srgbClr val="E8ECF3"/>
          </a:solidFill>
          <a:ln/>
        </p:spPr>
      </p:sp>
      <p:sp>
        <p:nvSpPr>
          <p:cNvPr id="56" name="Shape 53"/>
          <p:cNvSpPr/>
          <p:nvPr/>
        </p:nvSpPr>
        <p:spPr>
          <a:xfrm>
            <a:off x="11138764" y="4261104"/>
            <a:ext cx="548640" cy="548640"/>
          </a:xfrm>
          <a:prstGeom prst="roundRect">
            <a:avLst>
              <a:gd name="adj" fmla="val 13333"/>
            </a:avLst>
          </a:prstGeom>
          <a:solidFill>
            <a:srgbClr val="E8ECF3"/>
          </a:solidFill>
          <a:ln/>
        </p:spPr>
      </p:sp>
      <p:sp>
        <p:nvSpPr>
          <p:cNvPr id="57" name="Shape 54"/>
          <p:cNvSpPr/>
          <p:nvPr/>
        </p:nvSpPr>
        <p:spPr>
          <a:xfrm>
            <a:off x="5213452" y="4919472"/>
            <a:ext cx="548640" cy="548640"/>
          </a:xfrm>
          <a:prstGeom prst="roundRect">
            <a:avLst>
              <a:gd name="adj" fmla="val 13333"/>
            </a:avLst>
          </a:prstGeom>
          <a:solidFill>
            <a:srgbClr val="E8ECF3"/>
          </a:solidFill>
          <a:ln/>
        </p:spPr>
      </p:sp>
      <p:sp>
        <p:nvSpPr>
          <p:cNvPr id="58" name="Shape 55"/>
          <p:cNvSpPr/>
          <p:nvPr/>
        </p:nvSpPr>
        <p:spPr>
          <a:xfrm>
            <a:off x="5213452" y="5715000"/>
            <a:ext cx="274320" cy="274320"/>
          </a:xfrm>
          <a:prstGeom prst="roundRect">
            <a:avLst>
              <a:gd name="adj" fmla="val 16667"/>
            </a:avLst>
          </a:prstGeom>
          <a:solidFill>
            <a:srgbClr val="C9962F"/>
          </a:solidFill>
          <a:ln/>
        </p:spPr>
      </p:sp>
      <p:sp>
        <p:nvSpPr>
          <p:cNvPr id="59" name="Text 56"/>
          <p:cNvSpPr/>
          <p:nvPr/>
        </p:nvSpPr>
        <p:spPr>
          <a:xfrm>
            <a:off x="5597500" y="5696712"/>
            <a:ext cx="2377440" cy="310896"/>
          </a:xfrm>
          <a:prstGeom prst="rect">
            <a:avLst/>
          </a:prstGeom>
          <a:noFill/>
          <a:ln/>
        </p:spPr>
        <p:txBody>
          <a:bodyPr wrap="square" lIns="0" tIns="0" rIns="0" bIns="0" rtlCol="0" anchor="ctr"/>
          <a:lstStyle/>
          <a:p>
            <a:pPr marL="0" indent="0">
              <a:buNone/>
            </a:pPr>
            <a:r>
              <a:rPr lang="en-US" sz="1150" dirty="0">
                <a:solidFill>
                  <a:srgbClr val="1E2532"/>
                </a:solidFill>
                <a:latin typeface="Calibri" pitchFamily="34" charset="0"/>
                <a:ea typeface="Calibri" pitchFamily="34" charset="-122"/>
                <a:cs typeface="Calibri" pitchFamily="34" charset="-120"/>
              </a:rPr>
              <a:t>1 </a:t>
            </a:r>
            <a:r>
              <a:rPr lang="en-US" sz="1150" dirty="0" err="1">
                <a:solidFill>
                  <a:srgbClr val="1E2532"/>
                </a:solidFill>
                <a:latin typeface="Calibri" pitchFamily="34" charset="0"/>
                <a:ea typeface="Calibri" pitchFamily="34" charset="-122"/>
                <a:cs typeface="Calibri" pitchFamily="34" charset="-120"/>
              </a:rPr>
              <a:t>entreprise</a:t>
            </a:r>
            <a:r>
              <a:rPr lang="en-US" sz="1150" dirty="0">
                <a:solidFill>
                  <a:srgbClr val="1E2532"/>
                </a:solidFill>
                <a:latin typeface="Calibri" pitchFamily="34" charset="0"/>
                <a:ea typeface="Calibri" pitchFamily="34" charset="-122"/>
                <a:cs typeface="Calibri" pitchFamily="34" charset="-120"/>
              </a:rPr>
              <a:t> sous-</a:t>
            </a:r>
            <a:r>
              <a:rPr lang="en-US" sz="1150" dirty="0" err="1">
                <a:solidFill>
                  <a:srgbClr val="1E2532"/>
                </a:solidFill>
                <a:latin typeface="Calibri" pitchFamily="34" charset="0"/>
                <a:ea typeface="Calibri" pitchFamily="34" charset="-122"/>
                <a:cs typeface="Calibri" pitchFamily="34" charset="-120"/>
              </a:rPr>
              <a:t>traitante</a:t>
            </a:r>
            <a:r>
              <a:rPr lang="en-US" sz="1150" dirty="0">
                <a:solidFill>
                  <a:srgbClr val="1E2532"/>
                </a:solidFill>
                <a:latin typeface="Calibri" pitchFamily="34" charset="0"/>
                <a:ea typeface="Calibri" pitchFamily="34" charset="-122"/>
                <a:cs typeface="Calibri" pitchFamily="34" charset="-120"/>
              </a:rPr>
              <a:t> déclarée</a:t>
            </a:r>
            <a:endParaRPr lang="en-US" sz="1150" dirty="0"/>
          </a:p>
        </p:txBody>
      </p:sp>
      <p:sp>
        <p:nvSpPr>
          <p:cNvPr id="60" name="Shape 57"/>
          <p:cNvSpPr/>
          <p:nvPr/>
        </p:nvSpPr>
        <p:spPr>
          <a:xfrm>
            <a:off x="8048092" y="5715000"/>
            <a:ext cx="274320" cy="274320"/>
          </a:xfrm>
          <a:prstGeom prst="roundRect">
            <a:avLst>
              <a:gd name="adj" fmla="val 16667"/>
            </a:avLst>
          </a:prstGeom>
          <a:solidFill>
            <a:srgbClr val="E8ECF3"/>
          </a:solidFill>
          <a:ln/>
        </p:spPr>
      </p:sp>
      <p:sp>
        <p:nvSpPr>
          <p:cNvPr id="61" name="Text 58"/>
          <p:cNvSpPr/>
          <p:nvPr/>
        </p:nvSpPr>
        <p:spPr>
          <a:xfrm>
            <a:off x="8432140" y="5696712"/>
            <a:ext cx="2743200" cy="310896"/>
          </a:xfrm>
          <a:prstGeom prst="rect">
            <a:avLst/>
          </a:prstGeom>
          <a:noFill/>
          <a:ln/>
        </p:spPr>
        <p:txBody>
          <a:bodyPr wrap="square" lIns="0" tIns="0" rIns="0" bIns="0" rtlCol="0" anchor="ctr"/>
          <a:lstStyle/>
          <a:p>
            <a:pPr marL="0" indent="0">
              <a:buNone/>
            </a:pPr>
            <a:r>
              <a:rPr lang="en-US" sz="1150" dirty="0">
                <a:solidFill>
                  <a:srgbClr val="1E2532"/>
                </a:solidFill>
                <a:latin typeface="Calibri" pitchFamily="34" charset="0"/>
                <a:ea typeface="Calibri" pitchFamily="34" charset="-122"/>
                <a:cs typeface="Calibri" pitchFamily="34" charset="-120"/>
              </a:rPr>
              <a:t>40 </a:t>
            </a:r>
            <a:r>
              <a:rPr lang="en-US" sz="1150" dirty="0" err="1">
                <a:solidFill>
                  <a:srgbClr val="1E2532"/>
                </a:solidFill>
                <a:latin typeface="Calibri" pitchFamily="34" charset="0"/>
                <a:ea typeface="Calibri" pitchFamily="34" charset="-122"/>
                <a:cs typeface="Calibri" pitchFamily="34" charset="-120"/>
              </a:rPr>
              <a:t>entreprises</a:t>
            </a:r>
            <a:r>
              <a:rPr lang="en-US" sz="1150" dirty="0">
                <a:solidFill>
                  <a:srgbClr val="1E2532"/>
                </a:solidFill>
                <a:latin typeface="Calibri" pitchFamily="34" charset="0"/>
                <a:ea typeface="Calibri" pitchFamily="34" charset="-122"/>
                <a:cs typeface="Calibri" pitchFamily="34" charset="-120"/>
              </a:rPr>
              <a:t> sous-</a:t>
            </a:r>
            <a:r>
              <a:rPr lang="en-US" sz="1150" dirty="0" err="1">
                <a:solidFill>
                  <a:srgbClr val="1E2532"/>
                </a:solidFill>
                <a:latin typeface="Calibri" pitchFamily="34" charset="0"/>
                <a:ea typeface="Calibri" pitchFamily="34" charset="-122"/>
                <a:cs typeface="Calibri" pitchFamily="34" charset="-120"/>
              </a:rPr>
              <a:t>traitantes</a:t>
            </a:r>
            <a:r>
              <a:rPr lang="en-US" sz="1150" dirty="0">
                <a:solidFill>
                  <a:srgbClr val="1E2532"/>
                </a:solidFill>
                <a:latin typeface="Calibri" pitchFamily="34" charset="0"/>
                <a:ea typeface="Calibri" pitchFamily="34" charset="-122"/>
                <a:cs typeface="Calibri" pitchFamily="34" charset="-120"/>
              </a:rPr>
              <a:t> non déclarées</a:t>
            </a:r>
            <a:endParaRPr lang="en-US" sz="1150" dirty="0"/>
          </a:p>
        </p:txBody>
      </p:sp>
      <p:sp>
        <p:nvSpPr>
          <p:cNvPr id="62" name="Text 59"/>
          <p:cNvSpPr/>
          <p:nvPr/>
        </p:nvSpPr>
        <p:spPr>
          <a:xfrm>
            <a:off x="5276088" y="6217920"/>
            <a:ext cx="6348679" cy="457200"/>
          </a:xfrm>
          <a:prstGeom prst="rect">
            <a:avLst/>
          </a:prstGeom>
          <a:noFill/>
          <a:ln/>
        </p:spPr>
        <p:txBody>
          <a:bodyPr wrap="square" lIns="0" tIns="0" rIns="0" bIns="0" rtlCol="0" anchor="ctr"/>
          <a:lstStyle/>
          <a:p>
            <a:pPr marL="0" indent="0">
              <a:buNone/>
            </a:pPr>
            <a:r>
              <a:rPr lang="en-US" sz="1100" i="1" dirty="0">
                <a:solidFill>
                  <a:srgbClr val="5B6472"/>
                </a:solidFill>
                <a:latin typeface="Calibri" pitchFamily="34" charset="0"/>
                <a:ea typeface="Calibri" pitchFamily="34" charset="-122"/>
                <a:cs typeface="Calibri" pitchFamily="34" charset="-120"/>
              </a:rPr>
              <a:t>L'obligation de déclaration au RBE s'applique aux sous-traitants miniers au même titre qu'aux titulaires de titres.</a:t>
            </a:r>
            <a:endParaRPr lang="en-US" sz="1100" dirty="0"/>
          </a:p>
        </p:txBody>
      </p:sp>
      <p:sp>
        <p:nvSpPr>
          <p:cNvPr id="63" name="Shape 4">
            <a:extLst>
              <a:ext uri="{FF2B5EF4-FFF2-40B4-BE49-F238E27FC236}">
                <a16:creationId xmlns:a16="http://schemas.microsoft.com/office/drawing/2014/main" id="{7517BE2D-AF14-D59E-D127-A526D82968C8}"/>
              </a:ext>
            </a:extLst>
          </p:cNvPr>
          <p:cNvSpPr/>
          <p:nvPr/>
        </p:nvSpPr>
        <p:spPr>
          <a:xfrm>
            <a:off x="10044887" y="6561646"/>
            <a:ext cx="45720" cy="45720"/>
          </a:xfrm>
          <a:prstGeom prst="ellipse">
            <a:avLst/>
          </a:prstGeom>
          <a:solidFill>
            <a:srgbClr val="C9962F"/>
          </a:solidFill>
          <a:ln/>
        </p:spPr>
      </p:sp>
      <p:sp>
        <p:nvSpPr>
          <p:cNvPr id="64" name="Shape 5">
            <a:extLst>
              <a:ext uri="{FF2B5EF4-FFF2-40B4-BE49-F238E27FC236}">
                <a16:creationId xmlns:a16="http://schemas.microsoft.com/office/drawing/2014/main" id="{58176C40-F9B2-FC76-EF5B-81EF6BB4FDCF}"/>
              </a:ext>
            </a:extLst>
          </p:cNvPr>
          <p:cNvSpPr/>
          <p:nvPr/>
        </p:nvSpPr>
        <p:spPr>
          <a:xfrm>
            <a:off x="9926015" y="6561646"/>
            <a:ext cx="45720" cy="45720"/>
          </a:xfrm>
          <a:prstGeom prst="ellipse">
            <a:avLst/>
          </a:prstGeom>
          <a:solidFill>
            <a:srgbClr val="C9962F"/>
          </a:solidFill>
          <a:ln/>
        </p:spPr>
      </p:sp>
      <p:sp>
        <p:nvSpPr>
          <p:cNvPr id="65" name="Shape 6">
            <a:extLst>
              <a:ext uri="{FF2B5EF4-FFF2-40B4-BE49-F238E27FC236}">
                <a16:creationId xmlns:a16="http://schemas.microsoft.com/office/drawing/2014/main" id="{98646197-88DC-AF2D-8DD5-B7780C3C9886}"/>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F66C1EC4-9237-1DD3-D76D-05FCED673519}"/>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RÉSULTATS DES ANALYSES</a:t>
            </a:r>
            <a:endParaRPr lang="en-US" sz="3200" dirty="0"/>
          </a:p>
        </p:txBody>
      </p:sp>
      <p:sp>
        <p:nvSpPr>
          <p:cNvPr id="8" name="Text 1">
            <a:extLst>
              <a:ext uri="{FF2B5EF4-FFF2-40B4-BE49-F238E27FC236}">
                <a16:creationId xmlns:a16="http://schemas.microsoft.com/office/drawing/2014/main" id="{7D2434AD-98F8-C692-11D1-473640539BDD}"/>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SN" sz="2800" b="1" dirty="0">
                <a:solidFill>
                  <a:srgbClr val="082AF5"/>
                </a:solidFill>
                <a:latin typeface="Montserrat" pitchFamily="34" charset="0"/>
                <a:ea typeface="Montserrat" pitchFamily="34" charset="-122"/>
                <a:cs typeface="Montserrat" pitchFamily="34" charset="-120"/>
              </a:rPr>
              <a:t>Analyse des déclarations des entreprises sous-traitantes</a:t>
            </a:r>
            <a:endParaRPr lang="fr-SN"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64C93C33-5871-1060-4D0A-BABBF4B15FE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wheel(1)">
                                      <p:cBhvr>
                                        <p:cTn id="7" dur="500"/>
                                        <p:tgtEl>
                                          <p:spTgt spid="65"/>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wheel(1)">
                                      <p:cBhvr>
                                        <p:cTn id="11" dur="500"/>
                                        <p:tgtEl>
                                          <p:spTgt spid="64"/>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wheel(1)">
                                      <p:cBhvr>
                                        <p:cTn id="15"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4" name="Text 1"/>
          <p:cNvSpPr/>
          <p:nvPr/>
        </p:nvSpPr>
        <p:spPr>
          <a:xfrm>
            <a:off x="566928" y="640080"/>
            <a:ext cx="10424160" cy="713232"/>
          </a:xfrm>
          <a:prstGeom prst="rect">
            <a:avLst/>
          </a:prstGeom>
          <a:noFill/>
          <a:ln/>
        </p:spPr>
        <p:txBody>
          <a:bodyPr wrap="square" lIns="0" tIns="0" rIns="0" bIns="0" rtlCol="0" anchor="t"/>
          <a:lstStyle/>
          <a:p>
            <a:pPr marL="0" indent="0" algn="l">
              <a:buNone/>
            </a:pPr>
            <a:endParaRPr lang="en-US" sz="2600" dirty="0">
              <a:solidFill>
                <a:srgbClr val="082AF5"/>
              </a:solidFill>
            </a:endParaRPr>
          </a:p>
        </p:txBody>
      </p:sp>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14 / 21</a:t>
            </a:r>
            <a:endParaRPr lang="en-US" sz="900" dirty="0"/>
          </a:p>
        </p:txBody>
      </p:sp>
      <p:graphicFrame>
        <p:nvGraphicFramePr>
          <p:cNvPr id="10" name="Chart 0"/>
          <p:cNvGraphicFramePr/>
          <p:nvPr>
            <p:extLst>
              <p:ext uri="{D42A27DB-BD31-4B8C-83A1-F6EECF244321}">
                <p14:modId xmlns:p14="http://schemas.microsoft.com/office/powerpoint/2010/main" val="1142846045"/>
              </p:ext>
            </p:extLst>
          </p:nvPr>
        </p:nvGraphicFramePr>
        <p:xfrm>
          <a:off x="566928" y="1691640"/>
          <a:ext cx="10058400" cy="43434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p:nvPr/>
        </p:nvSpPr>
        <p:spPr>
          <a:xfrm>
            <a:off x="566928" y="6053328"/>
            <a:ext cx="10058400" cy="411480"/>
          </a:xfrm>
          <a:prstGeom prst="rect">
            <a:avLst/>
          </a:prstGeom>
          <a:noFill/>
          <a:ln/>
        </p:spPr>
        <p:txBody>
          <a:bodyPr wrap="square" lIns="0" tIns="0" rIns="0" bIns="0" rtlCol="0" anchor="ctr"/>
          <a:lstStyle/>
          <a:p>
            <a:pPr marL="0" indent="0">
              <a:lnSpc>
                <a:spcPct val="110000"/>
              </a:lnSpc>
              <a:buNone/>
            </a:pPr>
            <a:r>
              <a:rPr lang="en-US" sz="800" dirty="0">
                <a:solidFill>
                  <a:srgbClr val="5B6472"/>
                </a:solidFill>
                <a:latin typeface="Calibri" pitchFamily="34" charset="0"/>
                <a:ea typeface="Calibri" pitchFamily="34" charset="-122"/>
                <a:cs typeface="Calibri" pitchFamily="34" charset="-120"/>
              </a:rPr>
              <a:t>AEPM = Autorisation d'Exploitation de Petites Mines · PR = Permis de Recherche · CM = Concession Minière · PE = Permis d'Exploitation · AESM = Autorisation d'Exploitation Semi-mécanisée · AECPT = Autorisation d'Exploitation de Carrières Privées Temporaires · AP = Autorisation de Prospection · AEHTR = Autorisation d'Exploitation en Haldes, Terrils et Rejets · AECPP = Autorisation d'Exploitation de Carrières Privées Permanentes</a:t>
            </a:r>
            <a:endParaRPr lang="en-US" sz="800" dirty="0"/>
          </a:p>
        </p:txBody>
      </p:sp>
      <p:sp>
        <p:nvSpPr>
          <p:cNvPr id="12" name="Shape 4">
            <a:extLst>
              <a:ext uri="{FF2B5EF4-FFF2-40B4-BE49-F238E27FC236}">
                <a16:creationId xmlns:a16="http://schemas.microsoft.com/office/drawing/2014/main" id="{2BE4EC75-BF66-CEED-2D31-EAE86707BF6B}"/>
              </a:ext>
            </a:extLst>
          </p:cNvPr>
          <p:cNvSpPr/>
          <p:nvPr/>
        </p:nvSpPr>
        <p:spPr>
          <a:xfrm>
            <a:off x="10044887" y="6561646"/>
            <a:ext cx="45720" cy="45720"/>
          </a:xfrm>
          <a:prstGeom prst="ellipse">
            <a:avLst/>
          </a:prstGeom>
          <a:solidFill>
            <a:srgbClr val="C9962F"/>
          </a:solidFill>
          <a:ln/>
        </p:spPr>
      </p:sp>
      <p:sp>
        <p:nvSpPr>
          <p:cNvPr id="13" name="Shape 5">
            <a:extLst>
              <a:ext uri="{FF2B5EF4-FFF2-40B4-BE49-F238E27FC236}">
                <a16:creationId xmlns:a16="http://schemas.microsoft.com/office/drawing/2014/main" id="{3846B688-07F8-6902-7054-B5F5741DC739}"/>
              </a:ext>
            </a:extLst>
          </p:cNvPr>
          <p:cNvSpPr/>
          <p:nvPr/>
        </p:nvSpPr>
        <p:spPr>
          <a:xfrm>
            <a:off x="9926015" y="6561646"/>
            <a:ext cx="45720" cy="45720"/>
          </a:xfrm>
          <a:prstGeom prst="ellipse">
            <a:avLst/>
          </a:prstGeom>
          <a:solidFill>
            <a:srgbClr val="C9962F"/>
          </a:solidFill>
          <a:ln/>
        </p:spPr>
      </p:sp>
      <p:sp>
        <p:nvSpPr>
          <p:cNvPr id="14" name="Shape 6">
            <a:extLst>
              <a:ext uri="{FF2B5EF4-FFF2-40B4-BE49-F238E27FC236}">
                <a16:creationId xmlns:a16="http://schemas.microsoft.com/office/drawing/2014/main" id="{35891E1B-BBFC-027F-D235-DEB8595060D5}"/>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3E757354-08EF-75F1-7AEA-7ED7DBBE9CE8}"/>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RÉSULTATS DES ANALYSES</a:t>
            </a:r>
            <a:endParaRPr lang="en-US" sz="3200" dirty="0"/>
          </a:p>
        </p:txBody>
      </p:sp>
      <p:sp>
        <p:nvSpPr>
          <p:cNvPr id="8" name="Text 1">
            <a:extLst>
              <a:ext uri="{FF2B5EF4-FFF2-40B4-BE49-F238E27FC236}">
                <a16:creationId xmlns:a16="http://schemas.microsoft.com/office/drawing/2014/main" id="{14004FD1-C078-BFB4-4129-616B08CA2456}"/>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SN" sz="2800" b="1" dirty="0">
                <a:solidFill>
                  <a:srgbClr val="082AF5"/>
                </a:solidFill>
                <a:latin typeface="Montserrat" pitchFamily="34" charset="0"/>
                <a:ea typeface="Montserrat" pitchFamily="34" charset="-122"/>
                <a:cs typeface="Montserrat" pitchFamily="34" charset="-120"/>
              </a:rPr>
              <a:t>Analyse des déclarations selon la nature de titre minier</a:t>
            </a:r>
            <a:endParaRPr lang="fr-SN"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0F94A2DC-2F49-2C7A-586A-A042D86AA35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heel(1)">
                                      <p:cBhvr>
                                        <p:cTn id="7" dur="500"/>
                                        <p:tgtEl>
                                          <p:spTgt spid="14"/>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heel(1)">
                                      <p:cBhvr>
                                        <p:cTn id="11" dur="500"/>
                                        <p:tgtEl>
                                          <p:spTgt spid="13"/>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heel(1)">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15 / 21</a:t>
            </a:r>
            <a:endParaRPr lang="en-US" sz="900" dirty="0"/>
          </a:p>
        </p:txBody>
      </p:sp>
      <p:sp>
        <p:nvSpPr>
          <p:cNvPr id="11" name="Shape 7"/>
          <p:cNvSpPr/>
          <p:nvPr/>
        </p:nvSpPr>
        <p:spPr>
          <a:xfrm>
            <a:off x="566928" y="5623560"/>
            <a:ext cx="4846320" cy="566928"/>
          </a:xfrm>
          <a:prstGeom prst="roundRect">
            <a:avLst>
              <a:gd name="adj" fmla="val 9677"/>
            </a:avLst>
          </a:prstGeom>
          <a:solidFill>
            <a:srgbClr val="E8ECF3"/>
          </a:solidFill>
          <a:ln/>
        </p:spPr>
      </p:sp>
      <p:sp>
        <p:nvSpPr>
          <p:cNvPr id="12" name="Text 8"/>
          <p:cNvSpPr/>
          <p:nvPr/>
        </p:nvSpPr>
        <p:spPr>
          <a:xfrm>
            <a:off x="749808" y="5623560"/>
            <a:ext cx="4480560" cy="566928"/>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2023  </a:t>
            </a:r>
            <a:r>
              <a:rPr lang="en-US" sz="1150" dirty="0">
                <a:solidFill>
                  <a:srgbClr val="5B6472"/>
                </a:solidFill>
                <a:latin typeface="Calibri" pitchFamily="34" charset="0"/>
                <a:ea typeface="Calibri" pitchFamily="34" charset="-122"/>
                <a:cs typeface="Calibri" pitchFamily="34" charset="-120"/>
              </a:rPr>
              <a:t>Volume le plus élevé : 114 entreprises titulaires, pour un taux de 40,4 %.</a:t>
            </a:r>
            <a:endParaRPr lang="en-US" sz="1150" dirty="0"/>
          </a:p>
        </p:txBody>
      </p:sp>
      <p:sp>
        <p:nvSpPr>
          <p:cNvPr id="13" name="Shape 9"/>
          <p:cNvSpPr/>
          <p:nvPr/>
        </p:nvSpPr>
        <p:spPr>
          <a:xfrm>
            <a:off x="5779008" y="5623560"/>
            <a:ext cx="4846320" cy="566928"/>
          </a:xfrm>
          <a:prstGeom prst="roundRect">
            <a:avLst>
              <a:gd name="adj" fmla="val 9677"/>
            </a:avLst>
          </a:prstGeom>
          <a:solidFill>
            <a:srgbClr val="E8ECF3"/>
          </a:solidFill>
          <a:ln/>
        </p:spPr>
      </p:sp>
      <p:sp>
        <p:nvSpPr>
          <p:cNvPr id="14" name="Text 10"/>
          <p:cNvSpPr/>
          <p:nvPr/>
        </p:nvSpPr>
        <p:spPr>
          <a:xfrm>
            <a:off x="5961888" y="5623560"/>
            <a:ext cx="4480560" cy="566928"/>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2025  </a:t>
            </a:r>
            <a:r>
              <a:rPr lang="en-US" sz="1150" dirty="0">
                <a:solidFill>
                  <a:srgbClr val="5B6472"/>
                </a:solidFill>
                <a:latin typeface="Calibri" pitchFamily="34" charset="0"/>
                <a:ea typeface="Calibri" pitchFamily="34" charset="-122"/>
                <a:cs typeface="Calibri" pitchFamily="34" charset="-120"/>
              </a:rPr>
              <a:t>Meilleur taux de la période récente : 45 % (18 déclarations sur 40).</a:t>
            </a:r>
            <a:endParaRPr lang="en-US" sz="1150" dirty="0"/>
          </a:p>
        </p:txBody>
      </p:sp>
      <p:sp>
        <p:nvSpPr>
          <p:cNvPr id="10" name="Shape 4">
            <a:extLst>
              <a:ext uri="{FF2B5EF4-FFF2-40B4-BE49-F238E27FC236}">
                <a16:creationId xmlns:a16="http://schemas.microsoft.com/office/drawing/2014/main" id="{F6776BA2-CE57-DEB7-033A-5EC8CDD0A1FC}"/>
              </a:ext>
            </a:extLst>
          </p:cNvPr>
          <p:cNvSpPr/>
          <p:nvPr/>
        </p:nvSpPr>
        <p:spPr>
          <a:xfrm>
            <a:off x="10044887" y="6561646"/>
            <a:ext cx="45720" cy="45720"/>
          </a:xfrm>
          <a:prstGeom prst="ellipse">
            <a:avLst/>
          </a:prstGeom>
          <a:solidFill>
            <a:srgbClr val="C9962F"/>
          </a:solidFill>
          <a:ln/>
        </p:spPr>
      </p:sp>
      <p:sp>
        <p:nvSpPr>
          <p:cNvPr id="16" name="Shape 5">
            <a:extLst>
              <a:ext uri="{FF2B5EF4-FFF2-40B4-BE49-F238E27FC236}">
                <a16:creationId xmlns:a16="http://schemas.microsoft.com/office/drawing/2014/main" id="{9DF1FDC4-2815-A743-6F82-FD60AEF91599}"/>
              </a:ext>
            </a:extLst>
          </p:cNvPr>
          <p:cNvSpPr/>
          <p:nvPr/>
        </p:nvSpPr>
        <p:spPr>
          <a:xfrm>
            <a:off x="9926015" y="6561646"/>
            <a:ext cx="45720" cy="45720"/>
          </a:xfrm>
          <a:prstGeom prst="ellipse">
            <a:avLst/>
          </a:prstGeom>
          <a:solidFill>
            <a:srgbClr val="C9962F"/>
          </a:solidFill>
          <a:ln/>
        </p:spPr>
      </p:sp>
      <p:sp>
        <p:nvSpPr>
          <p:cNvPr id="17" name="Shape 6">
            <a:extLst>
              <a:ext uri="{FF2B5EF4-FFF2-40B4-BE49-F238E27FC236}">
                <a16:creationId xmlns:a16="http://schemas.microsoft.com/office/drawing/2014/main" id="{161ACDF0-9889-0895-0CBF-B1B29D9CA710}"/>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99B925C5-9873-0C18-3DB2-7D8FCB3B774B}"/>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RÉSULTATS DES ANALYSES</a:t>
            </a:r>
            <a:endParaRPr lang="en-US" sz="3200" dirty="0"/>
          </a:p>
        </p:txBody>
      </p:sp>
      <p:graphicFrame>
        <p:nvGraphicFramePr>
          <p:cNvPr id="8" name="Tableau 7">
            <a:extLst>
              <a:ext uri="{FF2B5EF4-FFF2-40B4-BE49-F238E27FC236}">
                <a16:creationId xmlns:a16="http://schemas.microsoft.com/office/drawing/2014/main" id="{AF7BBFEE-8B9A-A454-3A1B-65ACE9422E12}"/>
              </a:ext>
            </a:extLst>
          </p:cNvPr>
          <p:cNvGraphicFramePr>
            <a:graphicFrameLocks noGrp="1"/>
          </p:cNvGraphicFramePr>
          <p:nvPr>
            <p:extLst>
              <p:ext uri="{D42A27DB-BD31-4B8C-83A1-F6EECF244321}">
                <p14:modId xmlns:p14="http://schemas.microsoft.com/office/powerpoint/2010/main" val="400509483"/>
              </p:ext>
            </p:extLst>
          </p:nvPr>
        </p:nvGraphicFramePr>
        <p:xfrm>
          <a:off x="1502015" y="1684846"/>
          <a:ext cx="8027037" cy="3398076"/>
        </p:xfrm>
        <a:graphic>
          <a:graphicData uri="http://schemas.openxmlformats.org/drawingml/2006/table">
            <a:tbl>
              <a:tblPr firstRow="1" firstCol="1" bandRow="1">
                <a:tableStyleId>{69012ECD-51FC-41F1-AA8D-1B2483CD663E}</a:tableStyleId>
              </a:tblPr>
              <a:tblGrid>
                <a:gridCol w="1076960">
                  <a:extLst>
                    <a:ext uri="{9D8B030D-6E8A-4147-A177-3AD203B41FA5}">
                      <a16:colId xmlns:a16="http://schemas.microsoft.com/office/drawing/2014/main" val="2158387282"/>
                    </a:ext>
                  </a:extLst>
                </a:gridCol>
                <a:gridCol w="1486592">
                  <a:extLst>
                    <a:ext uri="{9D8B030D-6E8A-4147-A177-3AD203B41FA5}">
                      <a16:colId xmlns:a16="http://schemas.microsoft.com/office/drawing/2014/main" val="3840813649"/>
                    </a:ext>
                  </a:extLst>
                </a:gridCol>
                <a:gridCol w="1622425">
                  <a:extLst>
                    <a:ext uri="{9D8B030D-6E8A-4147-A177-3AD203B41FA5}">
                      <a16:colId xmlns:a16="http://schemas.microsoft.com/office/drawing/2014/main" val="2869464004"/>
                    </a:ext>
                  </a:extLst>
                </a:gridCol>
                <a:gridCol w="2107150">
                  <a:extLst>
                    <a:ext uri="{9D8B030D-6E8A-4147-A177-3AD203B41FA5}">
                      <a16:colId xmlns:a16="http://schemas.microsoft.com/office/drawing/2014/main" val="334388926"/>
                    </a:ext>
                  </a:extLst>
                </a:gridCol>
                <a:gridCol w="1733910">
                  <a:extLst>
                    <a:ext uri="{9D8B030D-6E8A-4147-A177-3AD203B41FA5}">
                      <a16:colId xmlns:a16="http://schemas.microsoft.com/office/drawing/2014/main" val="3258894617"/>
                    </a:ext>
                  </a:extLst>
                </a:gridCol>
              </a:tblGrid>
              <a:tr h="212725">
                <a:tc>
                  <a:txBody>
                    <a:bodyPr/>
                    <a:lstStyle/>
                    <a:p>
                      <a:pPr marL="0" indent="0" algn="l">
                        <a:lnSpc>
                          <a:spcPct val="150000"/>
                        </a:lnSpc>
                        <a:spcAft>
                          <a:spcPts val="1000"/>
                        </a:spcAft>
                      </a:pPr>
                      <a:r>
                        <a:rPr lang="fr-SN" sz="950" noProof="0" dirty="0">
                          <a:effectLst/>
                        </a:rPr>
                        <a:t>      Année d’octroi</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Entreprises détentrices de titres</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Entreprises ayant déclaré</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Entreprises n’ayant pas déclaré</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Taux  de déclaration (%)</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55333830"/>
                  </a:ext>
                </a:extLst>
              </a:tr>
              <a:tr h="212725">
                <a:tc>
                  <a:txBody>
                    <a:bodyPr/>
                    <a:lstStyle/>
                    <a:p>
                      <a:pPr indent="180340" algn="l">
                        <a:lnSpc>
                          <a:spcPct val="150000"/>
                        </a:lnSpc>
                        <a:spcAft>
                          <a:spcPts val="1000"/>
                        </a:spcAft>
                      </a:pPr>
                      <a:r>
                        <a:rPr lang="fr-SN" sz="950" noProof="0" dirty="0">
                          <a:solidFill>
                            <a:schemeClr val="tx1"/>
                          </a:solidFill>
                          <a:effectLst/>
                        </a:rPr>
                        <a:t>Avant 2014</a:t>
                      </a:r>
                      <a:endParaRPr lang="fr-SN" sz="1200" noProof="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43</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17</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26</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39,5 %</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80776793"/>
                  </a:ext>
                </a:extLst>
              </a:tr>
              <a:tr h="212725">
                <a:tc>
                  <a:txBody>
                    <a:bodyPr/>
                    <a:lstStyle/>
                    <a:p>
                      <a:pPr indent="180340" algn="l">
                        <a:lnSpc>
                          <a:spcPct val="150000"/>
                        </a:lnSpc>
                        <a:spcAft>
                          <a:spcPts val="1000"/>
                        </a:spcAft>
                      </a:pPr>
                      <a:r>
                        <a:rPr lang="fr-SN" sz="950" noProof="0" dirty="0">
                          <a:solidFill>
                            <a:schemeClr val="tx1"/>
                          </a:solidFill>
                          <a:effectLst/>
                        </a:rPr>
                        <a:t>2014</a:t>
                      </a:r>
                      <a:endParaRPr lang="fr-SN" sz="1200" noProof="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2</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50 %</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00968905"/>
                  </a:ext>
                </a:extLst>
              </a:tr>
              <a:tr h="212725">
                <a:tc>
                  <a:txBody>
                    <a:bodyPr/>
                    <a:lstStyle/>
                    <a:p>
                      <a:pPr indent="180340" algn="l">
                        <a:lnSpc>
                          <a:spcPct val="150000"/>
                        </a:lnSpc>
                        <a:spcAft>
                          <a:spcPts val="1000"/>
                        </a:spcAft>
                      </a:pPr>
                      <a:r>
                        <a:rPr lang="fr-SN" sz="950" noProof="0" dirty="0">
                          <a:solidFill>
                            <a:schemeClr val="tx1"/>
                          </a:solidFill>
                          <a:effectLst/>
                        </a:rPr>
                        <a:t>2015</a:t>
                      </a:r>
                      <a:endParaRPr lang="fr-SN" sz="1200" noProof="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8</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7</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12,5 %</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64315107"/>
                  </a:ext>
                </a:extLst>
              </a:tr>
              <a:tr h="205740">
                <a:tc>
                  <a:txBody>
                    <a:bodyPr/>
                    <a:lstStyle/>
                    <a:p>
                      <a:pPr indent="180340" algn="l">
                        <a:lnSpc>
                          <a:spcPct val="150000"/>
                        </a:lnSpc>
                        <a:spcAft>
                          <a:spcPts val="1000"/>
                        </a:spcAft>
                      </a:pPr>
                      <a:r>
                        <a:rPr lang="fr-SN" sz="950" noProof="0" dirty="0">
                          <a:solidFill>
                            <a:schemeClr val="tx1"/>
                          </a:solidFill>
                          <a:effectLst/>
                        </a:rPr>
                        <a:t>2016</a:t>
                      </a:r>
                      <a:endParaRPr lang="fr-SN" sz="1200" noProof="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13</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12</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7,7 %</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45639992"/>
                  </a:ext>
                </a:extLst>
              </a:tr>
              <a:tr h="212725">
                <a:tc>
                  <a:txBody>
                    <a:bodyPr/>
                    <a:lstStyle/>
                    <a:p>
                      <a:pPr indent="180340" algn="l">
                        <a:lnSpc>
                          <a:spcPct val="150000"/>
                        </a:lnSpc>
                        <a:spcAft>
                          <a:spcPts val="1000"/>
                        </a:spcAft>
                      </a:pPr>
                      <a:r>
                        <a:rPr lang="fr-SN" sz="950" noProof="0" dirty="0">
                          <a:solidFill>
                            <a:schemeClr val="tx1"/>
                          </a:solidFill>
                          <a:effectLst/>
                        </a:rPr>
                        <a:t>2017</a:t>
                      </a:r>
                      <a:endParaRPr lang="fr-SN" sz="1200" noProof="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9</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2</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7</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22,2 %</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67739768"/>
                  </a:ext>
                </a:extLst>
              </a:tr>
              <a:tr h="212725">
                <a:tc>
                  <a:txBody>
                    <a:bodyPr/>
                    <a:lstStyle/>
                    <a:p>
                      <a:pPr indent="180340" algn="l">
                        <a:lnSpc>
                          <a:spcPct val="150000"/>
                        </a:lnSpc>
                        <a:spcAft>
                          <a:spcPts val="1000"/>
                        </a:spcAft>
                      </a:pPr>
                      <a:r>
                        <a:rPr lang="fr-SN" sz="950" noProof="0" dirty="0">
                          <a:solidFill>
                            <a:schemeClr val="tx1"/>
                          </a:solidFill>
                          <a:effectLst/>
                        </a:rPr>
                        <a:t>2018</a:t>
                      </a:r>
                      <a:endParaRPr lang="fr-SN" sz="1200" noProof="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35</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10</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25</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28,6 %</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78582442"/>
                  </a:ext>
                </a:extLst>
              </a:tr>
              <a:tr h="212725">
                <a:tc>
                  <a:txBody>
                    <a:bodyPr/>
                    <a:lstStyle/>
                    <a:p>
                      <a:pPr indent="180340" algn="l">
                        <a:lnSpc>
                          <a:spcPct val="150000"/>
                        </a:lnSpc>
                        <a:spcAft>
                          <a:spcPts val="1000"/>
                        </a:spcAft>
                      </a:pPr>
                      <a:r>
                        <a:rPr lang="fr-SN" sz="950" noProof="0" dirty="0">
                          <a:solidFill>
                            <a:schemeClr val="tx1"/>
                          </a:solidFill>
                          <a:effectLst/>
                        </a:rPr>
                        <a:t>2019</a:t>
                      </a:r>
                      <a:endParaRPr lang="fr-SN" sz="1200" noProof="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19</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6</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13</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31,6 %</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49079734"/>
                  </a:ext>
                </a:extLst>
              </a:tr>
              <a:tr h="212725">
                <a:tc>
                  <a:txBody>
                    <a:bodyPr/>
                    <a:lstStyle/>
                    <a:p>
                      <a:pPr indent="180340" algn="l">
                        <a:lnSpc>
                          <a:spcPct val="150000"/>
                        </a:lnSpc>
                        <a:spcAft>
                          <a:spcPts val="1000"/>
                        </a:spcAft>
                      </a:pPr>
                      <a:r>
                        <a:rPr lang="fr-SN" sz="950" noProof="0" dirty="0">
                          <a:solidFill>
                            <a:schemeClr val="tx1"/>
                          </a:solidFill>
                          <a:effectLst/>
                        </a:rPr>
                        <a:t>2020</a:t>
                      </a:r>
                      <a:endParaRPr lang="fr-SN" sz="1200" noProof="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17</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3</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14</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17,6 %</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52630956"/>
                  </a:ext>
                </a:extLst>
              </a:tr>
              <a:tr h="212725">
                <a:tc>
                  <a:txBody>
                    <a:bodyPr/>
                    <a:lstStyle/>
                    <a:p>
                      <a:pPr indent="180340" algn="l">
                        <a:lnSpc>
                          <a:spcPct val="150000"/>
                        </a:lnSpc>
                        <a:spcAft>
                          <a:spcPts val="1000"/>
                        </a:spcAft>
                      </a:pPr>
                      <a:r>
                        <a:rPr lang="fr-SN" sz="950" noProof="0" dirty="0">
                          <a:solidFill>
                            <a:schemeClr val="tx1"/>
                          </a:solidFill>
                          <a:effectLst/>
                        </a:rPr>
                        <a:t>2021</a:t>
                      </a:r>
                      <a:endParaRPr lang="fr-SN" sz="1200" noProof="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40</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12</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28</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30, %</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76192939"/>
                  </a:ext>
                </a:extLst>
              </a:tr>
              <a:tr h="212725">
                <a:tc>
                  <a:txBody>
                    <a:bodyPr/>
                    <a:lstStyle/>
                    <a:p>
                      <a:pPr indent="180340" algn="l">
                        <a:lnSpc>
                          <a:spcPct val="150000"/>
                        </a:lnSpc>
                        <a:spcAft>
                          <a:spcPts val="1000"/>
                        </a:spcAft>
                      </a:pPr>
                      <a:r>
                        <a:rPr lang="fr-SN" sz="950" noProof="0" dirty="0">
                          <a:solidFill>
                            <a:schemeClr val="tx1"/>
                          </a:solidFill>
                          <a:effectLst/>
                        </a:rPr>
                        <a:t>2022</a:t>
                      </a:r>
                      <a:endParaRPr lang="fr-SN" sz="1200" noProof="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87</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35</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52</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40,2 %</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13266643"/>
                  </a:ext>
                </a:extLst>
              </a:tr>
              <a:tr h="212725">
                <a:tc>
                  <a:txBody>
                    <a:bodyPr/>
                    <a:lstStyle/>
                    <a:p>
                      <a:pPr indent="180340" algn="l">
                        <a:lnSpc>
                          <a:spcPct val="150000"/>
                        </a:lnSpc>
                        <a:spcAft>
                          <a:spcPts val="1000"/>
                        </a:spcAft>
                      </a:pPr>
                      <a:r>
                        <a:rPr lang="fr-SN" sz="950" noProof="0" dirty="0">
                          <a:solidFill>
                            <a:schemeClr val="tx1"/>
                          </a:solidFill>
                          <a:effectLst/>
                        </a:rPr>
                        <a:t>2023</a:t>
                      </a:r>
                      <a:endParaRPr lang="fr-SN" sz="1200" noProof="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114</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46</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68</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40,4 %</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39213190"/>
                  </a:ext>
                </a:extLst>
              </a:tr>
              <a:tr h="212725">
                <a:tc>
                  <a:txBody>
                    <a:bodyPr/>
                    <a:lstStyle/>
                    <a:p>
                      <a:pPr indent="180340" algn="l">
                        <a:lnSpc>
                          <a:spcPct val="150000"/>
                        </a:lnSpc>
                        <a:spcAft>
                          <a:spcPts val="1000"/>
                        </a:spcAft>
                      </a:pPr>
                      <a:r>
                        <a:rPr lang="fr-SN" sz="950" noProof="0" dirty="0">
                          <a:solidFill>
                            <a:schemeClr val="tx1"/>
                          </a:solidFill>
                          <a:effectLst/>
                        </a:rPr>
                        <a:t>2024</a:t>
                      </a:r>
                      <a:endParaRPr lang="fr-SN" sz="1200" noProof="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81</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32</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49</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39,5 %</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63322897"/>
                  </a:ext>
                </a:extLst>
              </a:tr>
              <a:tr h="205740">
                <a:tc>
                  <a:txBody>
                    <a:bodyPr/>
                    <a:lstStyle/>
                    <a:p>
                      <a:pPr indent="180340" algn="l">
                        <a:lnSpc>
                          <a:spcPct val="150000"/>
                        </a:lnSpc>
                        <a:spcAft>
                          <a:spcPts val="1000"/>
                        </a:spcAft>
                      </a:pPr>
                      <a:r>
                        <a:rPr lang="fr-SN" sz="950" noProof="0" dirty="0">
                          <a:solidFill>
                            <a:schemeClr val="tx1"/>
                          </a:solidFill>
                          <a:effectLst/>
                        </a:rPr>
                        <a:t>2025</a:t>
                      </a:r>
                      <a:endParaRPr lang="fr-SN" sz="1200" noProof="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40</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18</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22</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45 %</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31006978"/>
                  </a:ext>
                </a:extLst>
              </a:tr>
              <a:tr h="236220">
                <a:tc>
                  <a:txBody>
                    <a:bodyPr/>
                    <a:lstStyle/>
                    <a:p>
                      <a:pPr indent="180340" algn="l">
                        <a:lnSpc>
                          <a:spcPct val="150000"/>
                        </a:lnSpc>
                        <a:spcAft>
                          <a:spcPts val="1000"/>
                        </a:spcAft>
                      </a:pPr>
                      <a:r>
                        <a:rPr lang="fr-SN" sz="950" noProof="0" dirty="0">
                          <a:solidFill>
                            <a:schemeClr val="tx1"/>
                          </a:solidFill>
                          <a:effectLst/>
                        </a:rPr>
                        <a:t>2026</a:t>
                      </a:r>
                      <a:endParaRPr lang="fr-SN" sz="1200" noProof="0" dirty="0">
                        <a:solidFill>
                          <a:schemeClr val="tx1"/>
                        </a:solidFill>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3</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1</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2</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tc>
                  <a:txBody>
                    <a:bodyPr/>
                    <a:lstStyle/>
                    <a:p>
                      <a:pPr indent="180340" algn="ctr">
                        <a:lnSpc>
                          <a:spcPct val="150000"/>
                        </a:lnSpc>
                        <a:spcAft>
                          <a:spcPts val="1000"/>
                        </a:spcAft>
                      </a:pPr>
                      <a:r>
                        <a:rPr lang="fr-SN" sz="950" noProof="0" dirty="0">
                          <a:effectLst/>
                        </a:rPr>
                        <a:t>33,3 %</a:t>
                      </a:r>
                      <a:endParaRPr lang="fr-SN" sz="1200" noProof="0" dirty="0">
                        <a:effectLst/>
                        <a:latin typeface="Tahoma" panose="020B0604030504040204" pitchFamily="34"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59300136"/>
                  </a:ext>
                </a:extLst>
              </a:tr>
            </a:tbl>
          </a:graphicData>
        </a:graphic>
      </p:graphicFrame>
      <p:sp>
        <p:nvSpPr>
          <p:cNvPr id="9" name="Text 1">
            <a:extLst>
              <a:ext uri="{FF2B5EF4-FFF2-40B4-BE49-F238E27FC236}">
                <a16:creationId xmlns:a16="http://schemas.microsoft.com/office/drawing/2014/main" id="{D5CA8FA0-EB04-CDFD-4CFE-DF573B38B56F}"/>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800" b="1" dirty="0">
                <a:solidFill>
                  <a:srgbClr val="082AF5"/>
                </a:solidFill>
                <a:latin typeface="Montserrat" pitchFamily="34" charset="0"/>
                <a:ea typeface="Montserrat" pitchFamily="34" charset="-122"/>
                <a:cs typeface="Montserrat" pitchFamily="34" charset="-120"/>
              </a:rPr>
              <a:t>Analyse des déclarations par année d’octroi de titre minier</a:t>
            </a:r>
            <a:endParaRPr lang="en-US"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3F4745E7-7833-64AF-34D6-A4DB168AE2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heel(1)">
                                      <p:cBhvr>
                                        <p:cTn id="7" dur="500"/>
                                        <p:tgtEl>
                                          <p:spTgt spid="17"/>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heel(1)">
                                      <p:cBhvr>
                                        <p:cTn id="11" dur="500"/>
                                        <p:tgtEl>
                                          <p:spTgt spid="16"/>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16 / 21</a:t>
            </a:r>
            <a:endParaRPr lang="en-US" sz="900" dirty="0"/>
          </a:p>
        </p:txBody>
      </p:sp>
      <p:graphicFrame>
        <p:nvGraphicFramePr>
          <p:cNvPr id="10" name="Chart 0"/>
          <p:cNvGraphicFramePr/>
          <p:nvPr>
            <p:extLst>
              <p:ext uri="{D42A27DB-BD31-4B8C-83A1-F6EECF244321}">
                <p14:modId xmlns:p14="http://schemas.microsoft.com/office/powerpoint/2010/main" val="1697216853"/>
              </p:ext>
            </p:extLst>
          </p:nvPr>
        </p:nvGraphicFramePr>
        <p:xfrm>
          <a:off x="566928" y="1691640"/>
          <a:ext cx="7040880" cy="4526280"/>
        </p:xfrm>
        <a:graphic>
          <a:graphicData uri="http://schemas.openxmlformats.org/drawingml/2006/chart">
            <c:chart xmlns:c="http://schemas.openxmlformats.org/drawingml/2006/chart" xmlns:r="http://schemas.openxmlformats.org/officeDocument/2006/relationships" r:id="rId4"/>
          </a:graphicData>
        </a:graphic>
      </p:graphicFrame>
      <p:sp>
        <p:nvSpPr>
          <p:cNvPr id="14" name="Shape 10"/>
          <p:cNvSpPr/>
          <p:nvPr/>
        </p:nvSpPr>
        <p:spPr>
          <a:xfrm>
            <a:off x="7790688" y="2116937"/>
            <a:ext cx="3834079" cy="2194560"/>
          </a:xfrm>
          <a:prstGeom prst="roundRect">
            <a:avLst>
              <a:gd name="adj" fmla="val 3333"/>
            </a:avLst>
          </a:prstGeom>
          <a:solidFill>
            <a:srgbClr val="F1E3C2"/>
          </a:solidFill>
          <a:ln/>
          <a:effectLst>
            <a:outerShdw blurRad="114300" dist="38100" dir="5400000" algn="bl" rotWithShape="0">
              <a:srgbClr val="1B2A4A">
                <a:alpha val="10000"/>
              </a:srgbClr>
            </a:outerShdw>
          </a:effectLst>
        </p:spPr>
        <p:txBody>
          <a:bodyPr/>
          <a:lstStyle/>
          <a:p>
            <a:endParaRPr lang="fr-SN" dirty="0"/>
          </a:p>
        </p:txBody>
      </p:sp>
      <p:sp>
        <p:nvSpPr>
          <p:cNvPr id="16" name="Text 12"/>
          <p:cNvSpPr/>
          <p:nvPr/>
        </p:nvSpPr>
        <p:spPr>
          <a:xfrm>
            <a:off x="8046720" y="2704921"/>
            <a:ext cx="3322015" cy="1554480"/>
          </a:xfrm>
          <a:prstGeom prst="rect">
            <a:avLst/>
          </a:prstGeom>
          <a:noFill/>
          <a:ln/>
        </p:spPr>
        <p:txBody>
          <a:bodyPr wrap="square" lIns="0" tIns="0" rIns="0" bIns="0" rtlCol="0" anchor="ctr"/>
          <a:lstStyle/>
          <a:p>
            <a:pPr marL="0" indent="0" algn="just">
              <a:lnSpc>
                <a:spcPct val="120000"/>
              </a:lnSpc>
              <a:buNone/>
            </a:pPr>
            <a:r>
              <a:rPr lang="en-US" sz="1200" dirty="0">
                <a:solidFill>
                  <a:srgbClr val="1E2532"/>
                </a:solidFill>
                <a:latin typeface="Calibri" pitchFamily="34" charset="0"/>
                <a:ea typeface="Calibri" pitchFamily="34" charset="-122"/>
                <a:cs typeface="Calibri" pitchFamily="34" charset="-120"/>
              </a:rPr>
              <a:t>Saint-Louis, Louga, Sédhiou et Ziguinchor n'enregistrent aucune déclaration RBE parmi leurs entreprises titulaires de titres miniers.</a:t>
            </a:r>
            <a:endParaRPr lang="en-US" sz="1200" dirty="0"/>
          </a:p>
        </p:txBody>
      </p:sp>
      <p:sp>
        <p:nvSpPr>
          <p:cNvPr id="17" name="Shape 4">
            <a:extLst>
              <a:ext uri="{FF2B5EF4-FFF2-40B4-BE49-F238E27FC236}">
                <a16:creationId xmlns:a16="http://schemas.microsoft.com/office/drawing/2014/main" id="{C5B17A19-058D-2F44-E70F-B1C60525CDAE}"/>
              </a:ext>
            </a:extLst>
          </p:cNvPr>
          <p:cNvSpPr/>
          <p:nvPr/>
        </p:nvSpPr>
        <p:spPr>
          <a:xfrm>
            <a:off x="10044887" y="6561646"/>
            <a:ext cx="45720" cy="45720"/>
          </a:xfrm>
          <a:prstGeom prst="ellipse">
            <a:avLst/>
          </a:prstGeom>
          <a:solidFill>
            <a:srgbClr val="C9962F"/>
          </a:solidFill>
          <a:ln/>
        </p:spPr>
      </p:sp>
      <p:sp>
        <p:nvSpPr>
          <p:cNvPr id="18" name="Shape 5">
            <a:extLst>
              <a:ext uri="{FF2B5EF4-FFF2-40B4-BE49-F238E27FC236}">
                <a16:creationId xmlns:a16="http://schemas.microsoft.com/office/drawing/2014/main" id="{671E10B2-F4D0-1035-1DF0-4F67F265BEF0}"/>
              </a:ext>
            </a:extLst>
          </p:cNvPr>
          <p:cNvSpPr/>
          <p:nvPr/>
        </p:nvSpPr>
        <p:spPr>
          <a:xfrm>
            <a:off x="9926015" y="6561646"/>
            <a:ext cx="45720" cy="45720"/>
          </a:xfrm>
          <a:prstGeom prst="ellipse">
            <a:avLst/>
          </a:prstGeom>
          <a:solidFill>
            <a:srgbClr val="C9962F"/>
          </a:solidFill>
          <a:ln/>
        </p:spPr>
      </p:sp>
      <p:sp>
        <p:nvSpPr>
          <p:cNvPr id="19" name="Shape 6">
            <a:extLst>
              <a:ext uri="{FF2B5EF4-FFF2-40B4-BE49-F238E27FC236}">
                <a16:creationId xmlns:a16="http://schemas.microsoft.com/office/drawing/2014/main" id="{98207D21-A440-9010-EDF8-A45024DDDF41}"/>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D572C725-F6AB-4ADE-9DA3-6189FF674ABB}"/>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RÉSULTATS DES ANALYSES</a:t>
            </a:r>
            <a:endParaRPr lang="en-US" sz="3200" dirty="0"/>
          </a:p>
        </p:txBody>
      </p:sp>
      <p:sp>
        <p:nvSpPr>
          <p:cNvPr id="8" name="Text 1">
            <a:extLst>
              <a:ext uri="{FF2B5EF4-FFF2-40B4-BE49-F238E27FC236}">
                <a16:creationId xmlns:a16="http://schemas.microsoft.com/office/drawing/2014/main" id="{AA448FB2-BF49-4C0E-A5A3-C7B0364780FF}"/>
              </a:ext>
            </a:extLst>
          </p:cNvPr>
          <p:cNvSpPr/>
          <p:nvPr/>
        </p:nvSpPr>
        <p:spPr>
          <a:xfrm>
            <a:off x="8147957" y="4699963"/>
            <a:ext cx="3632920" cy="274320"/>
          </a:xfrm>
          <a:prstGeom prst="rect">
            <a:avLst/>
          </a:prstGeom>
          <a:noFill/>
          <a:ln/>
        </p:spPr>
        <p:txBody>
          <a:bodyPr wrap="square" lIns="0" tIns="0" rIns="0" bIns="0" rtlCol="0" anchor="t"/>
          <a:lstStyle/>
          <a:p>
            <a:pPr marL="0" indent="0" algn="l">
              <a:buNone/>
            </a:pPr>
            <a:r>
              <a:rPr lang="fr-SN" sz="1150" dirty="0">
                <a:solidFill>
                  <a:srgbClr val="5B6472"/>
                </a:solidFill>
                <a:latin typeface="Calibri" pitchFamily="34" charset="0"/>
                <a:ea typeface="Calibri" pitchFamily="34" charset="-122"/>
                <a:cs typeface="Calibri" pitchFamily="34" charset="-120"/>
              </a:rPr>
              <a:t>Tambacounda en tête et quatre régions à zéro déclaration</a:t>
            </a:r>
          </a:p>
        </p:txBody>
      </p:sp>
      <p:pic>
        <p:nvPicPr>
          <p:cNvPr id="3" name="Graphique 2" descr="Ampoule et engrenage avec un remplissage uni">
            <a:extLst>
              <a:ext uri="{FF2B5EF4-FFF2-40B4-BE49-F238E27FC236}">
                <a16:creationId xmlns:a16="http://schemas.microsoft.com/office/drawing/2014/main" id="{1B0EF1DC-17A2-819F-3F04-D57072709BF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
        <p:nvSpPr>
          <p:cNvPr id="13" name="Text 9"/>
          <p:cNvSpPr/>
          <p:nvPr/>
        </p:nvSpPr>
        <p:spPr>
          <a:xfrm>
            <a:off x="8065008" y="2142464"/>
            <a:ext cx="3285439" cy="1143000"/>
          </a:xfrm>
          <a:prstGeom prst="rect">
            <a:avLst/>
          </a:prstGeom>
          <a:noFill/>
          <a:ln/>
        </p:spPr>
        <p:txBody>
          <a:bodyPr wrap="square" lIns="0" tIns="0" rIns="0" bIns="0" rtlCol="0" anchor="ctr"/>
          <a:lstStyle/>
          <a:p>
            <a:pPr marL="0" indent="0" algn="just">
              <a:lnSpc>
                <a:spcPct val="120000"/>
              </a:lnSpc>
              <a:buNone/>
            </a:pPr>
            <a:r>
              <a:rPr lang="en-US" sz="1200" dirty="0">
                <a:latin typeface="Calibri" pitchFamily="34" charset="0"/>
                <a:ea typeface="Calibri" pitchFamily="34" charset="-122"/>
                <a:cs typeface="Calibri" pitchFamily="34" charset="-120"/>
              </a:rPr>
              <a:t>90,1% des entreprises titulaires du pays sont concentrées dans seulement deux régions : Thiès (190) et Kédougou (147).</a:t>
            </a:r>
            <a:endParaRPr lang="en-US" sz="1200" dirty="0"/>
          </a:p>
        </p:txBody>
      </p:sp>
      <p:sp>
        <p:nvSpPr>
          <p:cNvPr id="9" name="Text 1">
            <a:extLst>
              <a:ext uri="{FF2B5EF4-FFF2-40B4-BE49-F238E27FC236}">
                <a16:creationId xmlns:a16="http://schemas.microsoft.com/office/drawing/2014/main" id="{008B2F70-2CA9-ED1D-3CEC-5B4B7F32058F}"/>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FR" sz="2800" b="1" dirty="0">
                <a:solidFill>
                  <a:srgbClr val="082AF5"/>
                </a:solidFill>
                <a:latin typeface="Montserrat" pitchFamily="34" charset="0"/>
                <a:ea typeface="Montserrat" pitchFamily="34" charset="-122"/>
                <a:cs typeface="Montserrat" pitchFamily="34" charset="-120"/>
              </a:rPr>
              <a:t>Analyse des déclarations des titulaires de titre minier par région </a:t>
            </a:r>
            <a:endParaRPr lang="en-US" sz="2800" dirty="0">
              <a:solidFill>
                <a:srgbClr val="082AF5"/>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heel(1)">
                                      <p:cBhvr>
                                        <p:cTn id="7" dur="500"/>
                                        <p:tgtEl>
                                          <p:spTgt spid="19"/>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heel(1)">
                                      <p:cBhvr>
                                        <p:cTn id="11" dur="500"/>
                                        <p:tgtEl>
                                          <p:spTgt spid="18"/>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heel(1)">
                                      <p:cBhvr>
                                        <p:cTn id="1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17 / 21</a:t>
            </a:r>
            <a:endParaRPr lang="en-US" sz="900" dirty="0"/>
          </a:p>
        </p:txBody>
      </p:sp>
      <p:graphicFrame>
        <p:nvGraphicFramePr>
          <p:cNvPr id="10" name="Chart 0"/>
          <p:cNvGraphicFramePr/>
          <p:nvPr>
            <p:extLst>
              <p:ext uri="{D42A27DB-BD31-4B8C-83A1-F6EECF244321}">
                <p14:modId xmlns:p14="http://schemas.microsoft.com/office/powerpoint/2010/main" val="457351709"/>
              </p:ext>
            </p:extLst>
          </p:nvPr>
        </p:nvGraphicFramePr>
        <p:xfrm>
          <a:off x="566928" y="1691640"/>
          <a:ext cx="10058400" cy="43434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p:nvPr/>
        </p:nvSpPr>
        <p:spPr>
          <a:xfrm>
            <a:off x="566928" y="6108192"/>
            <a:ext cx="10058400" cy="365760"/>
          </a:xfrm>
          <a:prstGeom prst="rect">
            <a:avLst/>
          </a:prstGeom>
          <a:noFill/>
          <a:ln/>
        </p:spPr>
        <p:txBody>
          <a:bodyPr wrap="square" lIns="0" tIns="0" rIns="0" bIns="0" rtlCol="0" anchor="ctr"/>
          <a:lstStyle/>
          <a:p>
            <a:pPr marL="0" indent="0">
              <a:buNone/>
            </a:pPr>
            <a:r>
              <a:rPr lang="en-US" sz="1050" i="1" dirty="0">
                <a:solidFill>
                  <a:srgbClr val="5B6472"/>
                </a:solidFill>
                <a:latin typeface="Calibri" pitchFamily="34" charset="0"/>
                <a:ea typeface="Calibri" pitchFamily="34" charset="-122"/>
                <a:cs typeface="Calibri" pitchFamily="34" charset="-120"/>
              </a:rPr>
              <a:t>L'or (Au), première substance par volume avec 127 entreprises titulaires, n'atteint que 44,1 % de </a:t>
            </a:r>
            <a:r>
              <a:rPr lang="en-US" sz="1050" i="1" dirty="0" err="1">
                <a:solidFill>
                  <a:srgbClr val="5B6472"/>
                </a:solidFill>
                <a:latin typeface="Calibri" pitchFamily="34" charset="0"/>
                <a:ea typeface="Calibri" pitchFamily="34" charset="-122"/>
                <a:cs typeface="Calibri" pitchFamily="34" charset="-120"/>
              </a:rPr>
              <a:t>conformité</a:t>
            </a:r>
            <a:r>
              <a:rPr lang="en-US" sz="1050" i="1" dirty="0">
                <a:solidFill>
                  <a:srgbClr val="5B6472"/>
                </a:solidFill>
                <a:latin typeface="Calibri" pitchFamily="34" charset="0"/>
                <a:ea typeface="Calibri" pitchFamily="34" charset="-122"/>
                <a:cs typeface="Calibri" pitchFamily="34" charset="-120"/>
              </a:rPr>
              <a:t> — un enjeu de taille pour la transparence du sous-secteur aurifère.</a:t>
            </a:r>
            <a:endParaRPr lang="en-US" sz="1050" dirty="0"/>
          </a:p>
        </p:txBody>
      </p:sp>
      <p:sp>
        <p:nvSpPr>
          <p:cNvPr id="12" name="Shape 4">
            <a:extLst>
              <a:ext uri="{FF2B5EF4-FFF2-40B4-BE49-F238E27FC236}">
                <a16:creationId xmlns:a16="http://schemas.microsoft.com/office/drawing/2014/main" id="{E706D568-D921-2ADB-726B-FB2B5B98DA48}"/>
              </a:ext>
            </a:extLst>
          </p:cNvPr>
          <p:cNvSpPr/>
          <p:nvPr/>
        </p:nvSpPr>
        <p:spPr>
          <a:xfrm>
            <a:off x="10044887" y="6561646"/>
            <a:ext cx="45720" cy="45720"/>
          </a:xfrm>
          <a:prstGeom prst="ellipse">
            <a:avLst/>
          </a:prstGeom>
          <a:solidFill>
            <a:srgbClr val="C9962F"/>
          </a:solidFill>
          <a:ln/>
        </p:spPr>
      </p:sp>
      <p:sp>
        <p:nvSpPr>
          <p:cNvPr id="13" name="Shape 5">
            <a:extLst>
              <a:ext uri="{FF2B5EF4-FFF2-40B4-BE49-F238E27FC236}">
                <a16:creationId xmlns:a16="http://schemas.microsoft.com/office/drawing/2014/main" id="{73DCEBE6-9D2F-B3FB-E1D0-8CC6D1E4208D}"/>
              </a:ext>
            </a:extLst>
          </p:cNvPr>
          <p:cNvSpPr/>
          <p:nvPr/>
        </p:nvSpPr>
        <p:spPr>
          <a:xfrm>
            <a:off x="9926015" y="6561646"/>
            <a:ext cx="45720" cy="45720"/>
          </a:xfrm>
          <a:prstGeom prst="ellipse">
            <a:avLst/>
          </a:prstGeom>
          <a:solidFill>
            <a:srgbClr val="C9962F"/>
          </a:solidFill>
          <a:ln/>
        </p:spPr>
      </p:sp>
      <p:sp>
        <p:nvSpPr>
          <p:cNvPr id="14" name="Shape 6">
            <a:extLst>
              <a:ext uri="{FF2B5EF4-FFF2-40B4-BE49-F238E27FC236}">
                <a16:creationId xmlns:a16="http://schemas.microsoft.com/office/drawing/2014/main" id="{3C9C0A44-F828-7CAB-BF17-48913B5FEAC7}"/>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F2AC79D9-9164-6BC8-162E-C54C3A2D677F}"/>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RÉSULTATS DES ANALYSES</a:t>
            </a:r>
            <a:endParaRPr lang="en-US" sz="3200" dirty="0"/>
          </a:p>
        </p:txBody>
      </p:sp>
      <p:sp>
        <p:nvSpPr>
          <p:cNvPr id="8" name="Text 1">
            <a:extLst>
              <a:ext uri="{FF2B5EF4-FFF2-40B4-BE49-F238E27FC236}">
                <a16:creationId xmlns:a16="http://schemas.microsoft.com/office/drawing/2014/main" id="{40F35D5B-53FE-81DC-569B-49CE5DA01B45}"/>
              </a:ext>
            </a:extLst>
          </p:cNvPr>
          <p:cNvSpPr/>
          <p:nvPr/>
        </p:nvSpPr>
        <p:spPr>
          <a:xfrm>
            <a:off x="566927" y="797814"/>
            <a:ext cx="11624767" cy="713232"/>
          </a:xfrm>
          <a:prstGeom prst="rect">
            <a:avLst/>
          </a:prstGeom>
          <a:noFill/>
          <a:ln/>
        </p:spPr>
        <p:txBody>
          <a:bodyPr wrap="square" lIns="0" tIns="0" rIns="0" bIns="0" rtlCol="0" anchor="t"/>
          <a:lstStyle/>
          <a:p>
            <a:r>
              <a:rPr lang="fr-FR" sz="2800" b="1" dirty="0">
                <a:solidFill>
                  <a:srgbClr val="082AF5"/>
                </a:solidFill>
                <a:latin typeface="Montserrat" pitchFamily="34" charset="0"/>
                <a:ea typeface="Montserrat" pitchFamily="34" charset="-122"/>
                <a:cs typeface="Montserrat" pitchFamily="34" charset="-120"/>
              </a:rPr>
              <a:t>Analyse des déclarations des titulaires de titre minier selon la substance </a:t>
            </a:r>
            <a:endParaRPr lang="en-US"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8D43FF5C-B0C7-F0F6-9C16-767BB8070D0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heel(1)">
                                      <p:cBhvr>
                                        <p:cTn id="7" dur="500"/>
                                        <p:tgtEl>
                                          <p:spTgt spid="14"/>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heel(1)">
                                      <p:cBhvr>
                                        <p:cTn id="11" dur="500"/>
                                        <p:tgtEl>
                                          <p:spTgt spid="13"/>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heel(1)">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19 / 21</a:t>
            </a:r>
            <a:endParaRPr lang="en-US" sz="900" dirty="0"/>
          </a:p>
        </p:txBody>
      </p:sp>
      <p:sp>
        <p:nvSpPr>
          <p:cNvPr id="11" name="Shape 7"/>
          <p:cNvSpPr/>
          <p:nvPr/>
        </p:nvSpPr>
        <p:spPr>
          <a:xfrm>
            <a:off x="7744968" y="1783080"/>
            <a:ext cx="3879799" cy="2011680"/>
          </a:xfrm>
          <a:prstGeom prst="roundRect">
            <a:avLst>
              <a:gd name="adj" fmla="val 3636"/>
            </a:avLst>
          </a:prstGeom>
          <a:solidFill>
            <a:srgbClr val="F1E3C2"/>
          </a:solidFill>
          <a:ln/>
          <a:effectLst>
            <a:outerShdw blurRad="114300" dist="38100" dir="5400000" algn="bl" rotWithShape="0">
              <a:srgbClr val="1B2A4A">
                <a:alpha val="10000"/>
              </a:srgbClr>
            </a:outerShdw>
          </a:effectLst>
        </p:spPr>
      </p:sp>
      <p:sp>
        <p:nvSpPr>
          <p:cNvPr id="12" name="Text 8"/>
          <p:cNvSpPr/>
          <p:nvPr/>
        </p:nvSpPr>
        <p:spPr>
          <a:xfrm>
            <a:off x="8019288" y="1965960"/>
            <a:ext cx="3331159" cy="777240"/>
          </a:xfrm>
          <a:prstGeom prst="rect">
            <a:avLst/>
          </a:prstGeom>
          <a:noFill/>
          <a:ln/>
        </p:spPr>
        <p:txBody>
          <a:bodyPr wrap="square" lIns="0" tIns="0" rIns="0" bIns="0" rtlCol="0" anchor="ctr"/>
          <a:lstStyle/>
          <a:p>
            <a:r>
              <a:rPr lang="en-US" sz="2600" b="1" dirty="0">
                <a:solidFill>
                  <a:srgbClr val="1B2A4A"/>
                </a:solidFill>
                <a:latin typeface="Montserrat" pitchFamily="34" charset="0"/>
              </a:rPr>
              <a:t>192</a:t>
            </a:r>
          </a:p>
        </p:txBody>
      </p:sp>
      <p:sp>
        <p:nvSpPr>
          <p:cNvPr id="13" name="Text 9"/>
          <p:cNvSpPr/>
          <p:nvPr/>
        </p:nvSpPr>
        <p:spPr>
          <a:xfrm>
            <a:off x="8019288" y="2788920"/>
            <a:ext cx="3331159" cy="960120"/>
          </a:xfrm>
          <a:prstGeom prst="rect">
            <a:avLst/>
          </a:prstGeom>
          <a:noFill/>
          <a:ln/>
        </p:spPr>
        <p:txBody>
          <a:bodyPr wrap="square" lIns="0" tIns="0" rIns="0" bIns="0" rtlCol="0" anchor="ctr"/>
          <a:lstStyle/>
          <a:p>
            <a:pPr>
              <a:lnSpc>
                <a:spcPct val="120000"/>
              </a:lnSpc>
            </a:pPr>
            <a:r>
              <a:rPr lang="en-US" sz="1150" dirty="0">
                <a:solidFill>
                  <a:srgbClr val="1E2532"/>
                </a:solidFill>
                <a:latin typeface="Calibri" pitchFamily="34" charset="0"/>
                <a:ea typeface="Calibri" pitchFamily="34" charset="-122"/>
                <a:cs typeface="Calibri" pitchFamily="34" charset="-120"/>
              </a:rPr>
              <a:t>entreprises présentes uniquement dans le RBE, sans titre minier, pétrolier ou statut de sous-traitant actif au 31/12/2025</a:t>
            </a:r>
          </a:p>
        </p:txBody>
      </p:sp>
      <p:sp>
        <p:nvSpPr>
          <p:cNvPr id="14" name="Shape 10"/>
          <p:cNvSpPr/>
          <p:nvPr/>
        </p:nvSpPr>
        <p:spPr>
          <a:xfrm>
            <a:off x="7744968" y="4023360"/>
            <a:ext cx="3879799" cy="1965960"/>
          </a:xfrm>
          <a:prstGeom prst="roundRect">
            <a:avLst>
              <a:gd name="adj" fmla="val 3721"/>
            </a:avLst>
          </a:prstGeom>
          <a:solidFill>
            <a:srgbClr val="F1E3C2"/>
          </a:solidFill>
          <a:ln/>
          <a:effectLst>
            <a:outerShdw blurRad="114300" dist="38100" dir="5400000" algn="bl" rotWithShape="0">
              <a:srgbClr val="1B2A4A">
                <a:alpha val="10000"/>
              </a:srgbClr>
            </a:outerShdw>
          </a:effectLst>
        </p:spPr>
      </p:sp>
      <p:sp>
        <p:nvSpPr>
          <p:cNvPr id="15" name="Text 11"/>
          <p:cNvSpPr/>
          <p:nvPr/>
        </p:nvSpPr>
        <p:spPr>
          <a:xfrm>
            <a:off x="8019288" y="4206240"/>
            <a:ext cx="3331159" cy="594360"/>
          </a:xfrm>
          <a:prstGeom prst="rect">
            <a:avLst/>
          </a:prstGeom>
          <a:noFill/>
          <a:ln/>
        </p:spPr>
        <p:txBody>
          <a:bodyPr wrap="square" lIns="0" tIns="0" rIns="0" bIns="0" rtlCol="0" anchor="ctr"/>
          <a:lstStyle/>
          <a:p>
            <a:pPr marL="0" indent="0">
              <a:buNone/>
            </a:pPr>
            <a:r>
              <a:rPr lang="en-US" sz="2600" b="1" dirty="0">
                <a:solidFill>
                  <a:srgbClr val="1B2A4A"/>
                </a:solidFill>
                <a:latin typeface="Montserrat" pitchFamily="34" charset="0"/>
                <a:ea typeface="Montserrat" pitchFamily="34" charset="-122"/>
                <a:cs typeface="Montserrat" pitchFamily="34" charset="-120"/>
              </a:rPr>
              <a:t>73,95 %</a:t>
            </a:r>
            <a:endParaRPr lang="en-US" sz="2600" dirty="0"/>
          </a:p>
        </p:txBody>
      </p:sp>
      <p:sp>
        <p:nvSpPr>
          <p:cNvPr id="16" name="Text 12"/>
          <p:cNvSpPr/>
          <p:nvPr/>
        </p:nvSpPr>
        <p:spPr>
          <a:xfrm>
            <a:off x="8019288" y="4800600"/>
            <a:ext cx="3331159" cy="1097280"/>
          </a:xfrm>
          <a:prstGeom prst="rect">
            <a:avLst/>
          </a:prstGeom>
          <a:noFill/>
          <a:ln/>
        </p:spPr>
        <p:txBody>
          <a:bodyPr wrap="square" lIns="0" tIns="0" rIns="0" bIns="0" rtlCol="0" anchor="ctr"/>
          <a:lstStyle/>
          <a:p>
            <a:pPr marL="0" indent="0">
              <a:lnSpc>
                <a:spcPct val="120000"/>
              </a:lnSpc>
              <a:buNone/>
            </a:pPr>
            <a:r>
              <a:rPr lang="en-US" sz="1150" dirty="0">
                <a:solidFill>
                  <a:srgbClr val="1E2532"/>
                </a:solidFill>
                <a:latin typeface="Calibri" pitchFamily="34" charset="0"/>
                <a:ea typeface="Calibri" pitchFamily="34" charset="-122"/>
                <a:cs typeface="Calibri" pitchFamily="34" charset="-120"/>
              </a:rPr>
              <a:t>de ces entreprises sont localisées à Dakar (142 sur 192) — une concentration cohérente avec le poids économique de la capitale.</a:t>
            </a:r>
            <a:endParaRPr lang="en-US" sz="1150" dirty="0"/>
          </a:p>
        </p:txBody>
      </p:sp>
      <p:graphicFrame>
        <p:nvGraphicFramePr>
          <p:cNvPr id="17" name="Chart 0">
            <a:extLst>
              <a:ext uri="{FF2B5EF4-FFF2-40B4-BE49-F238E27FC236}">
                <a16:creationId xmlns:a16="http://schemas.microsoft.com/office/drawing/2014/main" id="{8CF2B89A-ECCB-79D1-C07E-4C97BFFA81AC}"/>
              </a:ext>
            </a:extLst>
          </p:cNvPr>
          <p:cNvGraphicFramePr/>
          <p:nvPr>
            <p:extLst>
              <p:ext uri="{D42A27DB-BD31-4B8C-83A1-F6EECF244321}">
                <p14:modId xmlns:p14="http://schemas.microsoft.com/office/powerpoint/2010/main" val="1245522124"/>
              </p:ext>
            </p:extLst>
          </p:nvPr>
        </p:nvGraphicFramePr>
        <p:xfrm>
          <a:off x="566928" y="1783080"/>
          <a:ext cx="6949440" cy="420624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4">
            <a:extLst>
              <a:ext uri="{FF2B5EF4-FFF2-40B4-BE49-F238E27FC236}">
                <a16:creationId xmlns:a16="http://schemas.microsoft.com/office/drawing/2014/main" id="{9C225397-F2D5-7129-8D37-D8E6451158C8}"/>
              </a:ext>
            </a:extLst>
          </p:cNvPr>
          <p:cNvSpPr/>
          <p:nvPr/>
        </p:nvSpPr>
        <p:spPr>
          <a:xfrm>
            <a:off x="10044887" y="6561646"/>
            <a:ext cx="45720" cy="45720"/>
          </a:xfrm>
          <a:prstGeom prst="ellipse">
            <a:avLst/>
          </a:prstGeom>
          <a:solidFill>
            <a:srgbClr val="C9962F"/>
          </a:solidFill>
          <a:ln/>
        </p:spPr>
      </p:sp>
      <p:sp>
        <p:nvSpPr>
          <p:cNvPr id="18" name="Shape 5">
            <a:extLst>
              <a:ext uri="{FF2B5EF4-FFF2-40B4-BE49-F238E27FC236}">
                <a16:creationId xmlns:a16="http://schemas.microsoft.com/office/drawing/2014/main" id="{47C74C3F-F0F3-A7AD-F8BA-75E740D6345D}"/>
              </a:ext>
            </a:extLst>
          </p:cNvPr>
          <p:cNvSpPr/>
          <p:nvPr/>
        </p:nvSpPr>
        <p:spPr>
          <a:xfrm>
            <a:off x="9926015" y="6561646"/>
            <a:ext cx="45720" cy="45720"/>
          </a:xfrm>
          <a:prstGeom prst="ellipse">
            <a:avLst/>
          </a:prstGeom>
          <a:solidFill>
            <a:srgbClr val="C9962F"/>
          </a:solidFill>
          <a:ln/>
        </p:spPr>
      </p:sp>
      <p:sp>
        <p:nvSpPr>
          <p:cNvPr id="19" name="Shape 6">
            <a:extLst>
              <a:ext uri="{FF2B5EF4-FFF2-40B4-BE49-F238E27FC236}">
                <a16:creationId xmlns:a16="http://schemas.microsoft.com/office/drawing/2014/main" id="{FDEE208B-B167-66BD-27C6-C2EABED98853}"/>
              </a:ext>
            </a:extLst>
          </p:cNvPr>
          <p:cNvSpPr/>
          <p:nvPr/>
        </p:nvSpPr>
        <p:spPr>
          <a:xfrm>
            <a:off x="9807143" y="6561646"/>
            <a:ext cx="45720" cy="45720"/>
          </a:xfrm>
          <a:prstGeom prst="ellipse">
            <a:avLst/>
          </a:prstGeom>
          <a:solidFill>
            <a:srgbClr val="C9962F"/>
          </a:solidFill>
          <a:ln/>
        </p:spPr>
      </p:sp>
      <p:sp>
        <p:nvSpPr>
          <p:cNvPr id="7" name="Text 0">
            <a:extLst>
              <a:ext uri="{FF2B5EF4-FFF2-40B4-BE49-F238E27FC236}">
                <a16:creationId xmlns:a16="http://schemas.microsoft.com/office/drawing/2014/main" id="{BD968501-A5E8-065F-F044-AB3C16483597}"/>
              </a:ext>
            </a:extLst>
          </p:cNvPr>
          <p:cNvSpPr/>
          <p:nvPr/>
        </p:nvSpPr>
        <p:spPr>
          <a:xfrm>
            <a:off x="566928" y="384048"/>
            <a:ext cx="7812000" cy="28800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SECTION 3 | RÉSULTATS DES ANALYSES</a:t>
            </a:r>
            <a:endParaRPr lang="en-US" sz="3200" dirty="0"/>
          </a:p>
        </p:txBody>
      </p:sp>
      <p:sp>
        <p:nvSpPr>
          <p:cNvPr id="8" name="Text 1">
            <a:extLst>
              <a:ext uri="{FF2B5EF4-FFF2-40B4-BE49-F238E27FC236}">
                <a16:creationId xmlns:a16="http://schemas.microsoft.com/office/drawing/2014/main" id="{691CE74B-FD8D-9796-8130-491BBB25D6DF}"/>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en-US" sz="2800" b="1" dirty="0">
                <a:solidFill>
                  <a:srgbClr val="082AF5"/>
                </a:solidFill>
                <a:latin typeface="Montserrat" pitchFamily="34" charset="0"/>
                <a:ea typeface="Montserrat" pitchFamily="34" charset="-122"/>
                <a:cs typeface="Montserrat" pitchFamily="34" charset="-120"/>
              </a:rPr>
              <a:t>192 </a:t>
            </a:r>
            <a:r>
              <a:rPr lang="fr-FR" sz="2800" b="1" dirty="0">
                <a:solidFill>
                  <a:srgbClr val="082AF5"/>
                </a:solidFill>
                <a:latin typeface="Montserrat" pitchFamily="34" charset="0"/>
                <a:ea typeface="Montserrat" pitchFamily="34" charset="-122"/>
                <a:cs typeface="Montserrat" pitchFamily="34" charset="-120"/>
              </a:rPr>
              <a:t>entreprises</a:t>
            </a:r>
            <a:r>
              <a:rPr lang="en-US" sz="2800" b="1" dirty="0">
                <a:solidFill>
                  <a:srgbClr val="082AF5"/>
                </a:solidFill>
                <a:latin typeface="Montserrat" pitchFamily="34" charset="0"/>
                <a:ea typeface="Montserrat" pitchFamily="34" charset="-122"/>
                <a:cs typeface="Montserrat" pitchFamily="34" charset="-120"/>
              </a:rPr>
              <a:t> </a:t>
            </a:r>
            <a:r>
              <a:rPr lang="fr-FR" sz="2800" b="1" dirty="0">
                <a:solidFill>
                  <a:srgbClr val="082AF5"/>
                </a:solidFill>
                <a:latin typeface="Montserrat" pitchFamily="34" charset="0"/>
                <a:ea typeface="Montserrat" pitchFamily="34" charset="-122"/>
                <a:cs typeface="Montserrat" pitchFamily="34" charset="-120"/>
              </a:rPr>
              <a:t>absentes des bases mobilisées pour un rapprochement</a:t>
            </a:r>
            <a:endParaRPr lang="en-US" sz="2800" dirty="0">
              <a:solidFill>
                <a:srgbClr val="082AF5"/>
              </a:solidFill>
            </a:endParaRPr>
          </a:p>
        </p:txBody>
      </p:sp>
      <p:pic>
        <p:nvPicPr>
          <p:cNvPr id="3" name="Graphique 2" descr="Ampoule et engrenage avec un remplissage uni">
            <a:extLst>
              <a:ext uri="{FF2B5EF4-FFF2-40B4-BE49-F238E27FC236}">
                <a16:creationId xmlns:a16="http://schemas.microsoft.com/office/drawing/2014/main" id="{BE93F121-6B15-1C16-4DC3-583EF4B3E5C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heel(1)">
                                      <p:cBhvr>
                                        <p:cTn id="7" dur="500"/>
                                        <p:tgtEl>
                                          <p:spTgt spid="19"/>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heel(1)">
                                      <p:cBhvr>
                                        <p:cTn id="11" dur="500"/>
                                        <p:tgtEl>
                                          <p:spTgt spid="18"/>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3" name="Text 0"/>
          <p:cNvSpPr/>
          <p:nvPr/>
        </p:nvSpPr>
        <p:spPr>
          <a:xfrm>
            <a:off x="566928" y="384048"/>
            <a:ext cx="7315200" cy="274320"/>
          </a:xfrm>
          <a:prstGeom prst="rect">
            <a:avLst/>
          </a:prstGeom>
          <a:noFill/>
          <a:ln/>
        </p:spPr>
        <p:txBody>
          <a:bodyPr wrap="square" lIns="0" tIns="0" rIns="0" bIns="0" rtlCol="0" anchor="ctr"/>
          <a:lstStyle/>
          <a:p>
            <a:r>
              <a:rPr lang="en-US" sz="3200" b="1" kern="0" spc="220" dirty="0">
                <a:latin typeface="Calibri" pitchFamily="34" charset="0"/>
                <a:ea typeface="Calibri" pitchFamily="34" charset="-122"/>
                <a:cs typeface="Calibri" pitchFamily="34" charset="-120"/>
              </a:rPr>
              <a:t>CONCLUSION</a:t>
            </a:r>
          </a:p>
        </p:txBody>
      </p:sp>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20 / 21</a:t>
            </a:r>
            <a:endParaRPr lang="en-US" sz="900" dirty="0"/>
          </a:p>
        </p:txBody>
      </p:sp>
      <p:sp>
        <p:nvSpPr>
          <p:cNvPr id="10" name="Shape 7"/>
          <p:cNvSpPr/>
          <p:nvPr/>
        </p:nvSpPr>
        <p:spPr>
          <a:xfrm>
            <a:off x="566928" y="1346200"/>
            <a:ext cx="11057839" cy="841248"/>
          </a:xfrm>
          <a:prstGeom prst="roundRect">
            <a:avLst>
              <a:gd name="adj" fmla="val 8696"/>
            </a:avLst>
          </a:prstGeom>
          <a:solidFill>
            <a:srgbClr val="FFFFFF"/>
          </a:solidFill>
          <a:ln/>
          <a:effectLst>
            <a:outerShdw blurRad="114300" dist="38100" dir="5400000" algn="bl" rotWithShape="0">
              <a:srgbClr val="1B2A4A">
                <a:alpha val="10000"/>
              </a:srgbClr>
            </a:outerShdw>
          </a:effectLst>
        </p:spPr>
      </p:sp>
      <p:sp>
        <p:nvSpPr>
          <p:cNvPr id="11" name="Shape 8"/>
          <p:cNvSpPr/>
          <p:nvPr/>
        </p:nvSpPr>
        <p:spPr>
          <a:xfrm>
            <a:off x="768096" y="1510792"/>
            <a:ext cx="512064" cy="512064"/>
          </a:xfrm>
          <a:prstGeom prst="ellipse">
            <a:avLst/>
          </a:prstGeom>
          <a:solidFill>
            <a:srgbClr val="B33A3A"/>
          </a:solidFill>
          <a:ln/>
        </p:spPr>
      </p:sp>
      <p:pic>
        <p:nvPicPr>
          <p:cNvPr id="12" name="Image 1" descr="/home/claude/work/assets/icons/exclamationCircle_white.png"/>
          <p:cNvPicPr>
            <a:picLocks noChangeAspect="1"/>
          </p:cNvPicPr>
          <p:nvPr/>
        </p:nvPicPr>
        <p:blipFill>
          <a:blip r:embed="rId4"/>
          <a:stretch>
            <a:fillRect/>
          </a:stretch>
        </p:blipFill>
        <p:spPr>
          <a:xfrm>
            <a:off x="896112" y="1638808"/>
            <a:ext cx="256032" cy="256032"/>
          </a:xfrm>
          <a:prstGeom prst="rect">
            <a:avLst/>
          </a:prstGeom>
        </p:spPr>
      </p:pic>
      <p:sp>
        <p:nvSpPr>
          <p:cNvPr id="13" name="Text 9"/>
          <p:cNvSpPr/>
          <p:nvPr/>
        </p:nvSpPr>
        <p:spPr>
          <a:xfrm>
            <a:off x="1527048" y="1437640"/>
            <a:ext cx="3383280" cy="658368"/>
          </a:xfrm>
          <a:prstGeom prst="rect">
            <a:avLst/>
          </a:prstGeom>
          <a:noFill/>
          <a:ln/>
        </p:spPr>
        <p:txBody>
          <a:bodyPr wrap="square" lIns="0" tIns="0" rIns="0" bIns="0" rtlCol="0" anchor="ctr"/>
          <a:lstStyle/>
          <a:p>
            <a:pPr marL="0" indent="0">
              <a:buNone/>
            </a:pPr>
            <a:r>
              <a:rPr lang="en-US" sz="1450" b="1" dirty="0">
                <a:solidFill>
                  <a:srgbClr val="1B2A4A"/>
                </a:solidFill>
                <a:latin typeface="Montserrat" pitchFamily="34" charset="0"/>
                <a:ea typeface="Montserrat" pitchFamily="34" charset="-122"/>
                <a:cs typeface="Montserrat" pitchFamily="34" charset="-120"/>
              </a:rPr>
              <a:t>Données manquantes dans la base</a:t>
            </a:r>
            <a:endParaRPr lang="en-US" sz="1450" dirty="0"/>
          </a:p>
        </p:txBody>
      </p:sp>
      <p:sp>
        <p:nvSpPr>
          <p:cNvPr id="14" name="Shape 10"/>
          <p:cNvSpPr/>
          <p:nvPr/>
        </p:nvSpPr>
        <p:spPr>
          <a:xfrm>
            <a:off x="5001768" y="1474216"/>
            <a:ext cx="0" cy="0"/>
          </a:xfrm>
          <a:prstGeom prst="line">
            <a:avLst/>
          </a:prstGeom>
          <a:noFill/>
          <a:ln w="12700">
            <a:solidFill>
              <a:srgbClr val="DDE2EA"/>
            </a:solidFill>
            <a:prstDash val="solid"/>
          </a:ln>
        </p:spPr>
      </p:sp>
      <p:sp>
        <p:nvSpPr>
          <p:cNvPr id="15" name="Shape 11"/>
          <p:cNvSpPr/>
          <p:nvPr/>
        </p:nvSpPr>
        <p:spPr>
          <a:xfrm>
            <a:off x="5001768" y="1474216"/>
            <a:ext cx="0" cy="585216"/>
          </a:xfrm>
          <a:prstGeom prst="line">
            <a:avLst/>
          </a:prstGeom>
          <a:noFill/>
          <a:ln w="12700">
            <a:solidFill>
              <a:srgbClr val="DDE2EA"/>
            </a:solidFill>
            <a:prstDash val="solid"/>
          </a:ln>
        </p:spPr>
      </p:sp>
      <p:sp>
        <p:nvSpPr>
          <p:cNvPr id="16" name="Text 12"/>
          <p:cNvSpPr/>
          <p:nvPr/>
        </p:nvSpPr>
        <p:spPr>
          <a:xfrm>
            <a:off x="5276088" y="1437640"/>
            <a:ext cx="6092647" cy="658368"/>
          </a:xfrm>
          <a:prstGeom prst="rect">
            <a:avLst/>
          </a:prstGeom>
          <a:noFill/>
          <a:ln/>
        </p:spPr>
        <p:txBody>
          <a:bodyPr wrap="square" lIns="0" tIns="0" rIns="0" bIns="0" rtlCol="0" anchor="ctr"/>
          <a:lstStyle/>
          <a:p>
            <a:pPr marL="0" indent="0">
              <a:lnSpc>
                <a:spcPct val="110000"/>
              </a:lnSpc>
              <a:buNone/>
            </a:pPr>
            <a:r>
              <a:rPr lang="en-US" sz="1200" dirty="0">
                <a:solidFill>
                  <a:srgbClr val="5B6472"/>
                </a:solidFill>
                <a:latin typeface="Calibri" pitchFamily="34" charset="0"/>
                <a:ea typeface="Calibri" pitchFamily="34" charset="-122"/>
                <a:cs typeface="Calibri" pitchFamily="34" charset="-120"/>
              </a:rPr>
              <a:t>23 % de valeurs manquantes en moyenne sur les 12 variables analysées, avec de fortes disparités régionales.</a:t>
            </a:r>
            <a:endParaRPr lang="en-US" sz="1200" dirty="0"/>
          </a:p>
        </p:txBody>
      </p:sp>
      <p:sp>
        <p:nvSpPr>
          <p:cNvPr id="17" name="Shape 13"/>
          <p:cNvSpPr/>
          <p:nvPr/>
        </p:nvSpPr>
        <p:spPr>
          <a:xfrm>
            <a:off x="566928" y="2278888"/>
            <a:ext cx="11057839" cy="841248"/>
          </a:xfrm>
          <a:prstGeom prst="roundRect">
            <a:avLst>
              <a:gd name="adj" fmla="val 8696"/>
            </a:avLst>
          </a:prstGeom>
          <a:solidFill>
            <a:srgbClr val="FFFFFF"/>
          </a:solidFill>
          <a:ln/>
          <a:effectLst>
            <a:outerShdw blurRad="114300" dist="38100" dir="5400000" algn="bl" rotWithShape="0">
              <a:srgbClr val="1B2A4A">
                <a:alpha val="10000"/>
              </a:srgbClr>
            </a:outerShdw>
          </a:effectLst>
        </p:spPr>
      </p:sp>
      <p:sp>
        <p:nvSpPr>
          <p:cNvPr id="18" name="Shape 14"/>
          <p:cNvSpPr/>
          <p:nvPr/>
        </p:nvSpPr>
        <p:spPr>
          <a:xfrm>
            <a:off x="768096" y="2443480"/>
            <a:ext cx="512064" cy="512064"/>
          </a:xfrm>
          <a:prstGeom prst="ellipse">
            <a:avLst/>
          </a:prstGeom>
          <a:solidFill>
            <a:srgbClr val="B33A3A"/>
          </a:solidFill>
          <a:ln/>
        </p:spPr>
      </p:sp>
      <p:pic>
        <p:nvPicPr>
          <p:cNvPr id="19" name="Image 2" descr="/home/claude/work/assets/icons/idBadge_white.png"/>
          <p:cNvPicPr>
            <a:picLocks noChangeAspect="1"/>
          </p:cNvPicPr>
          <p:nvPr/>
        </p:nvPicPr>
        <p:blipFill>
          <a:blip r:embed="rId5"/>
          <a:stretch>
            <a:fillRect/>
          </a:stretch>
        </p:blipFill>
        <p:spPr>
          <a:xfrm>
            <a:off x="896112" y="2571496"/>
            <a:ext cx="256032" cy="256032"/>
          </a:xfrm>
          <a:prstGeom prst="rect">
            <a:avLst/>
          </a:prstGeom>
        </p:spPr>
      </p:pic>
      <p:sp>
        <p:nvSpPr>
          <p:cNvPr id="20" name="Text 15"/>
          <p:cNvSpPr/>
          <p:nvPr/>
        </p:nvSpPr>
        <p:spPr>
          <a:xfrm>
            <a:off x="1527048" y="2370328"/>
            <a:ext cx="3383280" cy="658368"/>
          </a:xfrm>
          <a:prstGeom prst="rect">
            <a:avLst/>
          </a:prstGeom>
          <a:noFill/>
          <a:ln/>
        </p:spPr>
        <p:txBody>
          <a:bodyPr wrap="square" lIns="0" tIns="0" rIns="0" bIns="0" rtlCol="0" anchor="ctr"/>
          <a:lstStyle/>
          <a:p>
            <a:pPr marL="0" indent="0">
              <a:buNone/>
            </a:pPr>
            <a:r>
              <a:rPr lang="en-US" sz="1450" b="1" dirty="0">
                <a:solidFill>
                  <a:srgbClr val="1B2A4A"/>
                </a:solidFill>
                <a:latin typeface="Montserrat" pitchFamily="34" charset="0"/>
                <a:ea typeface="Montserrat" pitchFamily="34" charset="-122"/>
                <a:cs typeface="Montserrat" pitchFamily="34" charset="-120"/>
              </a:rPr>
              <a:t>Données manquantes pour les variables sur PPE</a:t>
            </a:r>
            <a:endParaRPr lang="en-US" sz="1450" dirty="0"/>
          </a:p>
        </p:txBody>
      </p:sp>
      <p:sp>
        <p:nvSpPr>
          <p:cNvPr id="21" name="Shape 16"/>
          <p:cNvSpPr/>
          <p:nvPr/>
        </p:nvSpPr>
        <p:spPr>
          <a:xfrm>
            <a:off x="5001768" y="2406904"/>
            <a:ext cx="0" cy="0"/>
          </a:xfrm>
          <a:prstGeom prst="line">
            <a:avLst/>
          </a:prstGeom>
          <a:noFill/>
          <a:ln w="12700">
            <a:solidFill>
              <a:srgbClr val="DDE2EA"/>
            </a:solidFill>
            <a:prstDash val="solid"/>
          </a:ln>
        </p:spPr>
      </p:sp>
      <p:sp>
        <p:nvSpPr>
          <p:cNvPr id="22" name="Shape 17"/>
          <p:cNvSpPr/>
          <p:nvPr/>
        </p:nvSpPr>
        <p:spPr>
          <a:xfrm>
            <a:off x="5001768" y="2406904"/>
            <a:ext cx="0" cy="585216"/>
          </a:xfrm>
          <a:prstGeom prst="line">
            <a:avLst/>
          </a:prstGeom>
          <a:noFill/>
          <a:ln w="12700">
            <a:solidFill>
              <a:srgbClr val="DDE2EA"/>
            </a:solidFill>
            <a:prstDash val="solid"/>
          </a:ln>
        </p:spPr>
      </p:sp>
      <p:sp>
        <p:nvSpPr>
          <p:cNvPr id="23" name="Text 18"/>
          <p:cNvSpPr/>
          <p:nvPr/>
        </p:nvSpPr>
        <p:spPr>
          <a:xfrm>
            <a:off x="5276088" y="2370328"/>
            <a:ext cx="6092647" cy="658368"/>
          </a:xfrm>
          <a:prstGeom prst="rect">
            <a:avLst/>
          </a:prstGeom>
          <a:noFill/>
          <a:ln/>
        </p:spPr>
        <p:txBody>
          <a:bodyPr wrap="square" lIns="0" tIns="0" rIns="0" bIns="0" rtlCol="0" anchor="ctr"/>
          <a:lstStyle/>
          <a:p>
            <a:pPr marL="0" indent="0">
              <a:lnSpc>
                <a:spcPct val="110000"/>
              </a:lnSpc>
              <a:buNone/>
            </a:pPr>
            <a:r>
              <a:rPr lang="fr-FR" sz="1200" dirty="0">
                <a:solidFill>
                  <a:srgbClr val="5B6472"/>
                </a:solidFill>
                <a:latin typeface="Calibri" pitchFamily="34" charset="0"/>
                <a:ea typeface="Calibri" pitchFamily="34" charset="-122"/>
                <a:cs typeface="Calibri" pitchFamily="34" charset="-120"/>
              </a:rPr>
              <a:t>Le champ « Nom PPE » est vide dans 97,1 % des enregistrements, limitant fortement l'analyse du risque PPE</a:t>
            </a:r>
            <a:endParaRPr lang="en-US" sz="1200" dirty="0"/>
          </a:p>
        </p:txBody>
      </p:sp>
      <p:sp>
        <p:nvSpPr>
          <p:cNvPr id="24" name="Shape 19"/>
          <p:cNvSpPr/>
          <p:nvPr/>
        </p:nvSpPr>
        <p:spPr>
          <a:xfrm>
            <a:off x="566928" y="3211576"/>
            <a:ext cx="11057839" cy="841248"/>
          </a:xfrm>
          <a:prstGeom prst="roundRect">
            <a:avLst>
              <a:gd name="adj" fmla="val 8696"/>
            </a:avLst>
          </a:prstGeom>
          <a:solidFill>
            <a:srgbClr val="FFFFFF"/>
          </a:solidFill>
          <a:ln/>
          <a:effectLst>
            <a:outerShdw blurRad="114300" dist="38100" dir="5400000" algn="bl" rotWithShape="0">
              <a:srgbClr val="1B2A4A">
                <a:alpha val="10000"/>
              </a:srgbClr>
            </a:outerShdw>
          </a:effectLst>
        </p:spPr>
      </p:sp>
      <p:sp>
        <p:nvSpPr>
          <p:cNvPr id="25" name="Shape 20"/>
          <p:cNvSpPr/>
          <p:nvPr/>
        </p:nvSpPr>
        <p:spPr>
          <a:xfrm>
            <a:off x="768096" y="3376168"/>
            <a:ext cx="512064" cy="512064"/>
          </a:xfrm>
          <a:prstGeom prst="ellipse">
            <a:avLst/>
          </a:prstGeom>
          <a:solidFill>
            <a:srgbClr val="C9962F"/>
          </a:solidFill>
          <a:ln/>
        </p:spPr>
      </p:sp>
      <p:pic>
        <p:nvPicPr>
          <p:cNvPr id="26" name="Image 3" descr="/home/claude/work/assets/icons/keyboard_white.png"/>
          <p:cNvPicPr>
            <a:picLocks noChangeAspect="1"/>
          </p:cNvPicPr>
          <p:nvPr/>
        </p:nvPicPr>
        <p:blipFill>
          <a:blip r:embed="rId6"/>
          <a:stretch>
            <a:fillRect/>
          </a:stretch>
        </p:blipFill>
        <p:spPr>
          <a:xfrm>
            <a:off x="896112" y="3504184"/>
            <a:ext cx="256032" cy="256032"/>
          </a:xfrm>
          <a:prstGeom prst="rect">
            <a:avLst/>
          </a:prstGeom>
        </p:spPr>
      </p:pic>
      <p:sp>
        <p:nvSpPr>
          <p:cNvPr id="27" name="Text 21"/>
          <p:cNvSpPr/>
          <p:nvPr/>
        </p:nvSpPr>
        <p:spPr>
          <a:xfrm>
            <a:off x="1527048" y="3303016"/>
            <a:ext cx="3383280" cy="658368"/>
          </a:xfrm>
          <a:prstGeom prst="rect">
            <a:avLst/>
          </a:prstGeom>
          <a:noFill/>
          <a:ln/>
        </p:spPr>
        <p:txBody>
          <a:bodyPr wrap="square" lIns="0" tIns="0" rIns="0" bIns="0" rtlCol="0" anchor="ctr"/>
          <a:lstStyle/>
          <a:p>
            <a:pPr marL="0" indent="0">
              <a:buNone/>
            </a:pPr>
            <a:r>
              <a:rPr lang="en-US" sz="1450" b="1" dirty="0">
                <a:solidFill>
                  <a:srgbClr val="1B2A4A"/>
                </a:solidFill>
                <a:latin typeface="Montserrat" pitchFamily="34" charset="0"/>
                <a:ea typeface="Montserrat" pitchFamily="34" charset="-122"/>
                <a:cs typeface="Montserrat" pitchFamily="34" charset="-120"/>
              </a:rPr>
              <a:t>Erreurs récurrentes de saisie</a:t>
            </a:r>
            <a:endParaRPr lang="en-US" sz="1450" dirty="0"/>
          </a:p>
        </p:txBody>
      </p:sp>
      <p:sp>
        <p:nvSpPr>
          <p:cNvPr id="28" name="Shape 22"/>
          <p:cNvSpPr/>
          <p:nvPr/>
        </p:nvSpPr>
        <p:spPr>
          <a:xfrm>
            <a:off x="5001768" y="3339592"/>
            <a:ext cx="0" cy="0"/>
          </a:xfrm>
          <a:prstGeom prst="line">
            <a:avLst/>
          </a:prstGeom>
          <a:noFill/>
          <a:ln w="12700">
            <a:solidFill>
              <a:srgbClr val="DDE2EA"/>
            </a:solidFill>
            <a:prstDash val="solid"/>
          </a:ln>
        </p:spPr>
      </p:sp>
      <p:sp>
        <p:nvSpPr>
          <p:cNvPr id="29" name="Shape 23"/>
          <p:cNvSpPr/>
          <p:nvPr/>
        </p:nvSpPr>
        <p:spPr>
          <a:xfrm>
            <a:off x="5001768" y="3339592"/>
            <a:ext cx="0" cy="585216"/>
          </a:xfrm>
          <a:prstGeom prst="line">
            <a:avLst/>
          </a:prstGeom>
          <a:noFill/>
          <a:ln w="12700">
            <a:solidFill>
              <a:srgbClr val="DDE2EA"/>
            </a:solidFill>
            <a:prstDash val="solid"/>
          </a:ln>
        </p:spPr>
      </p:sp>
      <p:sp>
        <p:nvSpPr>
          <p:cNvPr id="30" name="Text 24"/>
          <p:cNvSpPr/>
          <p:nvPr/>
        </p:nvSpPr>
        <p:spPr>
          <a:xfrm>
            <a:off x="5276088" y="3303016"/>
            <a:ext cx="6092647" cy="658368"/>
          </a:xfrm>
          <a:prstGeom prst="rect">
            <a:avLst/>
          </a:prstGeom>
          <a:noFill/>
          <a:ln/>
        </p:spPr>
        <p:txBody>
          <a:bodyPr wrap="square" lIns="0" tIns="0" rIns="0" bIns="0" rtlCol="0" anchor="ctr"/>
          <a:lstStyle/>
          <a:p>
            <a:pPr>
              <a:lnSpc>
                <a:spcPct val="110000"/>
              </a:lnSpc>
            </a:pPr>
            <a:r>
              <a:rPr lang="en-US" sz="1200" dirty="0">
                <a:solidFill>
                  <a:srgbClr val="5B6472"/>
                </a:solidFill>
                <a:latin typeface="Calibri" pitchFamily="34" charset="0"/>
                <a:ea typeface="Calibri" pitchFamily="34" charset="-122"/>
                <a:cs typeface="Calibri" pitchFamily="34" charset="-120"/>
              </a:rPr>
              <a:t>563 enregistrements affectés par des confusions de champs  </a:t>
            </a:r>
            <a:endParaRPr lang="en-US" sz="1200" dirty="0"/>
          </a:p>
        </p:txBody>
      </p:sp>
      <p:sp>
        <p:nvSpPr>
          <p:cNvPr id="31" name="Shape 25"/>
          <p:cNvSpPr/>
          <p:nvPr/>
        </p:nvSpPr>
        <p:spPr>
          <a:xfrm>
            <a:off x="566928" y="4144264"/>
            <a:ext cx="11057839" cy="841248"/>
          </a:xfrm>
          <a:prstGeom prst="roundRect">
            <a:avLst>
              <a:gd name="adj" fmla="val 8696"/>
            </a:avLst>
          </a:prstGeom>
          <a:solidFill>
            <a:srgbClr val="FFFFFF"/>
          </a:solidFill>
          <a:ln/>
          <a:effectLst>
            <a:outerShdw blurRad="114300" dist="38100" dir="5400000" algn="bl" rotWithShape="0">
              <a:srgbClr val="1B2A4A">
                <a:alpha val="10000"/>
              </a:srgbClr>
            </a:outerShdw>
          </a:effectLst>
        </p:spPr>
      </p:sp>
      <p:sp>
        <p:nvSpPr>
          <p:cNvPr id="32" name="Shape 26"/>
          <p:cNvSpPr/>
          <p:nvPr/>
        </p:nvSpPr>
        <p:spPr>
          <a:xfrm>
            <a:off x="768096" y="4308856"/>
            <a:ext cx="512064" cy="512064"/>
          </a:xfrm>
          <a:prstGeom prst="ellipse">
            <a:avLst/>
          </a:prstGeom>
          <a:solidFill>
            <a:srgbClr val="B33A3A"/>
          </a:solidFill>
          <a:ln/>
        </p:spPr>
      </p:sp>
      <p:pic>
        <p:nvPicPr>
          <p:cNvPr id="33" name="Image 4" descr="/home/claude/work/assets/icons/gavel_white.png"/>
          <p:cNvPicPr>
            <a:picLocks noChangeAspect="1"/>
          </p:cNvPicPr>
          <p:nvPr/>
        </p:nvPicPr>
        <p:blipFill>
          <a:blip r:embed="rId7"/>
          <a:stretch>
            <a:fillRect/>
          </a:stretch>
        </p:blipFill>
        <p:spPr>
          <a:xfrm>
            <a:off x="896112" y="4436872"/>
            <a:ext cx="256032" cy="256032"/>
          </a:xfrm>
          <a:prstGeom prst="rect">
            <a:avLst/>
          </a:prstGeom>
        </p:spPr>
      </p:pic>
      <p:sp>
        <p:nvSpPr>
          <p:cNvPr id="34" name="Text 27"/>
          <p:cNvSpPr/>
          <p:nvPr/>
        </p:nvSpPr>
        <p:spPr>
          <a:xfrm>
            <a:off x="1527048" y="4235704"/>
            <a:ext cx="3383280" cy="658368"/>
          </a:xfrm>
          <a:prstGeom prst="rect">
            <a:avLst/>
          </a:prstGeom>
          <a:noFill/>
          <a:ln/>
        </p:spPr>
        <p:txBody>
          <a:bodyPr wrap="square" lIns="0" tIns="0" rIns="0" bIns="0" rtlCol="0" anchor="ctr"/>
          <a:lstStyle/>
          <a:p>
            <a:pPr marL="0" indent="0">
              <a:buNone/>
            </a:pPr>
            <a:r>
              <a:rPr lang="en-US" sz="1450" b="1" dirty="0">
                <a:solidFill>
                  <a:srgbClr val="1B2A4A"/>
                </a:solidFill>
                <a:latin typeface="Montserrat" pitchFamily="34" charset="0"/>
                <a:ea typeface="Montserrat" pitchFamily="34" charset="-122"/>
                <a:cs typeface="Montserrat" pitchFamily="34" charset="-120"/>
              </a:rPr>
              <a:t>Conformité déclarative</a:t>
            </a:r>
            <a:endParaRPr lang="en-US" sz="1450" dirty="0"/>
          </a:p>
        </p:txBody>
      </p:sp>
      <p:sp>
        <p:nvSpPr>
          <p:cNvPr id="35" name="Shape 28"/>
          <p:cNvSpPr/>
          <p:nvPr/>
        </p:nvSpPr>
        <p:spPr>
          <a:xfrm>
            <a:off x="5001768" y="4272280"/>
            <a:ext cx="0" cy="0"/>
          </a:xfrm>
          <a:prstGeom prst="line">
            <a:avLst/>
          </a:prstGeom>
          <a:noFill/>
          <a:ln w="12700">
            <a:solidFill>
              <a:srgbClr val="DDE2EA"/>
            </a:solidFill>
            <a:prstDash val="solid"/>
          </a:ln>
        </p:spPr>
      </p:sp>
      <p:sp>
        <p:nvSpPr>
          <p:cNvPr id="36" name="Shape 29"/>
          <p:cNvSpPr/>
          <p:nvPr/>
        </p:nvSpPr>
        <p:spPr>
          <a:xfrm>
            <a:off x="5001768" y="4272280"/>
            <a:ext cx="0" cy="585216"/>
          </a:xfrm>
          <a:prstGeom prst="line">
            <a:avLst/>
          </a:prstGeom>
          <a:noFill/>
          <a:ln w="12700">
            <a:solidFill>
              <a:srgbClr val="DDE2EA"/>
            </a:solidFill>
            <a:prstDash val="solid"/>
          </a:ln>
        </p:spPr>
      </p:sp>
      <p:sp>
        <p:nvSpPr>
          <p:cNvPr id="37" name="Text 30"/>
          <p:cNvSpPr/>
          <p:nvPr/>
        </p:nvSpPr>
        <p:spPr>
          <a:xfrm>
            <a:off x="5276088" y="4235704"/>
            <a:ext cx="6092647" cy="658368"/>
          </a:xfrm>
          <a:prstGeom prst="rect">
            <a:avLst/>
          </a:prstGeom>
          <a:noFill/>
          <a:ln/>
        </p:spPr>
        <p:txBody>
          <a:bodyPr wrap="square" lIns="0" tIns="0" rIns="0" bIns="0" rtlCol="0" anchor="ctr"/>
          <a:lstStyle/>
          <a:p>
            <a:pPr marL="0" indent="0">
              <a:lnSpc>
                <a:spcPct val="110000"/>
              </a:lnSpc>
              <a:buNone/>
            </a:pPr>
            <a:r>
              <a:rPr lang="en-US" sz="1200" dirty="0">
                <a:solidFill>
                  <a:srgbClr val="5B6472"/>
                </a:solidFill>
                <a:latin typeface="Calibri" pitchFamily="34" charset="0"/>
                <a:ea typeface="Calibri" pitchFamily="34" charset="-122"/>
                <a:cs typeface="Calibri" pitchFamily="34" charset="-120"/>
              </a:rPr>
              <a:t>29,6 % des titulaires de titres miniers et seulement 2,4 % des </a:t>
            </a:r>
            <a:r>
              <a:rPr lang="fr-SN" sz="1200" dirty="0">
                <a:solidFill>
                  <a:srgbClr val="5B6472"/>
                </a:solidFill>
                <a:latin typeface="Calibri" pitchFamily="34" charset="0"/>
                <a:ea typeface="Calibri" pitchFamily="34" charset="-122"/>
                <a:cs typeface="Calibri" pitchFamily="34" charset="-120"/>
              </a:rPr>
              <a:t>sous-traitants</a:t>
            </a:r>
            <a:r>
              <a:rPr lang="en-US" sz="1200" dirty="0">
                <a:solidFill>
                  <a:srgbClr val="5B6472"/>
                </a:solidFill>
                <a:latin typeface="Calibri" pitchFamily="34" charset="0"/>
                <a:ea typeface="Calibri" pitchFamily="34" charset="-122"/>
                <a:cs typeface="Calibri" pitchFamily="34" charset="-120"/>
              </a:rPr>
              <a:t> ont effectué une déclaration au RBE.</a:t>
            </a:r>
            <a:endParaRPr lang="en-US" sz="1200" dirty="0"/>
          </a:p>
        </p:txBody>
      </p:sp>
      <p:sp>
        <p:nvSpPr>
          <p:cNvPr id="38" name="Shape 31"/>
          <p:cNvSpPr/>
          <p:nvPr/>
        </p:nvSpPr>
        <p:spPr>
          <a:xfrm>
            <a:off x="566928" y="5076952"/>
            <a:ext cx="11057839" cy="841248"/>
          </a:xfrm>
          <a:prstGeom prst="roundRect">
            <a:avLst>
              <a:gd name="adj" fmla="val 8696"/>
            </a:avLst>
          </a:prstGeom>
          <a:solidFill>
            <a:srgbClr val="FFFFFF"/>
          </a:solidFill>
          <a:ln/>
          <a:effectLst>
            <a:outerShdw blurRad="114300" dist="38100" dir="5400000" algn="bl" rotWithShape="0">
              <a:srgbClr val="1B2A4A">
                <a:alpha val="10000"/>
              </a:srgbClr>
            </a:outerShdw>
          </a:effectLst>
        </p:spPr>
      </p:sp>
      <p:sp>
        <p:nvSpPr>
          <p:cNvPr id="39" name="Shape 32"/>
          <p:cNvSpPr/>
          <p:nvPr/>
        </p:nvSpPr>
        <p:spPr>
          <a:xfrm>
            <a:off x="768096" y="5241544"/>
            <a:ext cx="512064" cy="512064"/>
          </a:xfrm>
          <a:prstGeom prst="ellipse">
            <a:avLst/>
          </a:prstGeom>
          <a:solidFill>
            <a:srgbClr val="213559"/>
          </a:solidFill>
          <a:ln/>
        </p:spPr>
      </p:sp>
      <p:pic>
        <p:nvPicPr>
          <p:cNvPr id="40" name="Image 5" descr="/home/claude/work/assets/icons/network_white.png"/>
          <p:cNvPicPr>
            <a:picLocks noChangeAspect="1"/>
          </p:cNvPicPr>
          <p:nvPr/>
        </p:nvPicPr>
        <p:blipFill>
          <a:blip r:embed="rId8"/>
          <a:stretch>
            <a:fillRect/>
          </a:stretch>
        </p:blipFill>
        <p:spPr>
          <a:xfrm>
            <a:off x="896112" y="5369560"/>
            <a:ext cx="256032" cy="256032"/>
          </a:xfrm>
          <a:prstGeom prst="rect">
            <a:avLst/>
          </a:prstGeom>
        </p:spPr>
      </p:pic>
      <p:sp>
        <p:nvSpPr>
          <p:cNvPr id="41" name="Text 33"/>
          <p:cNvSpPr/>
          <p:nvPr/>
        </p:nvSpPr>
        <p:spPr>
          <a:xfrm>
            <a:off x="1527048" y="5168392"/>
            <a:ext cx="3383280" cy="658368"/>
          </a:xfrm>
          <a:prstGeom prst="rect">
            <a:avLst/>
          </a:prstGeom>
          <a:noFill/>
          <a:ln/>
        </p:spPr>
        <p:txBody>
          <a:bodyPr wrap="square" lIns="0" tIns="0" rIns="0" bIns="0" rtlCol="0" anchor="ctr"/>
          <a:lstStyle/>
          <a:p>
            <a:pPr marL="0" indent="0">
              <a:buNone/>
            </a:pPr>
            <a:r>
              <a:rPr lang="en-US" sz="1450" b="1" dirty="0">
                <a:solidFill>
                  <a:srgbClr val="1B2A4A"/>
                </a:solidFill>
                <a:latin typeface="Montserrat" pitchFamily="34" charset="0"/>
                <a:ea typeface="Montserrat" pitchFamily="34" charset="-122"/>
                <a:cs typeface="Montserrat" pitchFamily="34" charset="-120"/>
              </a:rPr>
              <a:t>Difficultés d'interopérabilité des bases</a:t>
            </a:r>
            <a:endParaRPr lang="en-US" sz="1450" dirty="0"/>
          </a:p>
        </p:txBody>
      </p:sp>
      <p:sp>
        <p:nvSpPr>
          <p:cNvPr id="42" name="Shape 34"/>
          <p:cNvSpPr/>
          <p:nvPr/>
        </p:nvSpPr>
        <p:spPr>
          <a:xfrm>
            <a:off x="5001768" y="5204968"/>
            <a:ext cx="0" cy="0"/>
          </a:xfrm>
          <a:prstGeom prst="line">
            <a:avLst/>
          </a:prstGeom>
          <a:noFill/>
          <a:ln w="12700">
            <a:solidFill>
              <a:srgbClr val="DDE2EA"/>
            </a:solidFill>
            <a:prstDash val="solid"/>
          </a:ln>
        </p:spPr>
      </p:sp>
      <p:sp>
        <p:nvSpPr>
          <p:cNvPr id="43" name="Shape 35"/>
          <p:cNvSpPr/>
          <p:nvPr/>
        </p:nvSpPr>
        <p:spPr>
          <a:xfrm>
            <a:off x="5001768" y="5204968"/>
            <a:ext cx="0" cy="585216"/>
          </a:xfrm>
          <a:prstGeom prst="line">
            <a:avLst/>
          </a:prstGeom>
          <a:noFill/>
          <a:ln w="12700">
            <a:solidFill>
              <a:srgbClr val="DDE2EA"/>
            </a:solidFill>
            <a:prstDash val="solid"/>
          </a:ln>
        </p:spPr>
      </p:sp>
      <p:sp>
        <p:nvSpPr>
          <p:cNvPr id="44" name="Text 36"/>
          <p:cNvSpPr/>
          <p:nvPr/>
        </p:nvSpPr>
        <p:spPr>
          <a:xfrm>
            <a:off x="5276088" y="5168392"/>
            <a:ext cx="6092647" cy="658368"/>
          </a:xfrm>
          <a:prstGeom prst="rect">
            <a:avLst/>
          </a:prstGeom>
          <a:noFill/>
          <a:ln/>
        </p:spPr>
        <p:txBody>
          <a:bodyPr wrap="square" lIns="0" tIns="0" rIns="0" bIns="0" rtlCol="0" anchor="ctr"/>
          <a:lstStyle/>
          <a:p>
            <a:pPr marL="0" indent="0">
              <a:lnSpc>
                <a:spcPct val="110000"/>
              </a:lnSpc>
              <a:buNone/>
            </a:pPr>
            <a:r>
              <a:rPr lang="en-US" sz="1200" b="1" dirty="0">
                <a:solidFill>
                  <a:srgbClr val="5B6472"/>
                </a:solidFill>
                <a:latin typeface="Calibri" pitchFamily="34" charset="0"/>
                <a:ea typeface="Calibri" pitchFamily="34" charset="-122"/>
                <a:cs typeface="Calibri" pitchFamily="34" charset="-120"/>
              </a:rPr>
              <a:t>L'absence d'identifiant unique </a:t>
            </a:r>
            <a:r>
              <a:rPr lang="en-US" sz="1200" dirty="0">
                <a:solidFill>
                  <a:srgbClr val="5B6472"/>
                </a:solidFill>
                <a:latin typeface="Calibri" pitchFamily="34" charset="0"/>
                <a:ea typeface="Calibri" pitchFamily="34" charset="-122"/>
                <a:cs typeface="Calibri" pitchFamily="34" charset="-120"/>
              </a:rPr>
              <a:t>partagé (NINEA) complique le croisement entre RBE, Landfolio et la liste des sous-traitants.</a:t>
            </a:r>
            <a:endParaRPr lang="en-US" sz="1200" dirty="0"/>
          </a:p>
        </p:txBody>
      </p:sp>
      <p:sp>
        <p:nvSpPr>
          <p:cNvPr id="45" name="Shape 4">
            <a:extLst>
              <a:ext uri="{FF2B5EF4-FFF2-40B4-BE49-F238E27FC236}">
                <a16:creationId xmlns:a16="http://schemas.microsoft.com/office/drawing/2014/main" id="{94578684-932F-1922-A800-9EB35A222ADA}"/>
              </a:ext>
            </a:extLst>
          </p:cNvPr>
          <p:cNvSpPr/>
          <p:nvPr/>
        </p:nvSpPr>
        <p:spPr>
          <a:xfrm>
            <a:off x="10044887" y="6561646"/>
            <a:ext cx="45720" cy="45720"/>
          </a:xfrm>
          <a:prstGeom prst="ellipse">
            <a:avLst/>
          </a:prstGeom>
          <a:solidFill>
            <a:srgbClr val="C9962F"/>
          </a:solidFill>
          <a:ln/>
        </p:spPr>
      </p:sp>
      <p:sp>
        <p:nvSpPr>
          <p:cNvPr id="46" name="Shape 5">
            <a:extLst>
              <a:ext uri="{FF2B5EF4-FFF2-40B4-BE49-F238E27FC236}">
                <a16:creationId xmlns:a16="http://schemas.microsoft.com/office/drawing/2014/main" id="{5D337857-1E4D-38C3-038B-90B5E08D23A5}"/>
              </a:ext>
            </a:extLst>
          </p:cNvPr>
          <p:cNvSpPr/>
          <p:nvPr/>
        </p:nvSpPr>
        <p:spPr>
          <a:xfrm>
            <a:off x="9926015" y="6561646"/>
            <a:ext cx="45720" cy="45720"/>
          </a:xfrm>
          <a:prstGeom prst="ellipse">
            <a:avLst/>
          </a:prstGeom>
          <a:solidFill>
            <a:srgbClr val="C9962F"/>
          </a:solidFill>
          <a:ln/>
        </p:spPr>
      </p:sp>
      <p:sp>
        <p:nvSpPr>
          <p:cNvPr id="47" name="Shape 6">
            <a:extLst>
              <a:ext uri="{FF2B5EF4-FFF2-40B4-BE49-F238E27FC236}">
                <a16:creationId xmlns:a16="http://schemas.microsoft.com/office/drawing/2014/main" id="{280F825D-04B4-7006-842C-12D2BFA61FB8}"/>
              </a:ext>
            </a:extLst>
          </p:cNvPr>
          <p:cNvSpPr/>
          <p:nvPr/>
        </p:nvSpPr>
        <p:spPr>
          <a:xfrm>
            <a:off x="9807143" y="6561646"/>
            <a:ext cx="45720" cy="45720"/>
          </a:xfrm>
          <a:prstGeom prst="ellipse">
            <a:avLst/>
          </a:prstGeom>
          <a:solidFill>
            <a:srgbClr val="C9962F"/>
          </a:solidFill>
          <a:ln/>
        </p:spPr>
      </p:sp>
      <p:sp>
        <p:nvSpPr>
          <p:cNvPr id="7" name="Text 1">
            <a:extLst>
              <a:ext uri="{FF2B5EF4-FFF2-40B4-BE49-F238E27FC236}">
                <a16:creationId xmlns:a16="http://schemas.microsoft.com/office/drawing/2014/main" id="{77DADCC8-A175-1D12-9FEF-4CC10A9641E1}"/>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en-US" sz="2800" b="1">
                <a:solidFill>
                  <a:srgbClr val="082AF5"/>
                </a:solidFill>
                <a:latin typeface="Montserrat" pitchFamily="34" charset="0"/>
                <a:ea typeface="Montserrat" pitchFamily="34" charset="-122"/>
                <a:cs typeface="Montserrat" pitchFamily="34" charset="-120"/>
              </a:rPr>
              <a:t>Cinq constats structurants se dégagent de l’analyse</a:t>
            </a:r>
            <a:endParaRPr lang="en-US" sz="2800" dirty="0">
              <a:solidFill>
                <a:srgbClr val="082AF5"/>
              </a:solidFill>
            </a:endParaRPr>
          </a:p>
        </p:txBody>
      </p:sp>
      <p:pic>
        <p:nvPicPr>
          <p:cNvPr id="4" name="Graphique 3" descr="Ampoule et engrenage avec un remplissage uni">
            <a:extLst>
              <a:ext uri="{FF2B5EF4-FFF2-40B4-BE49-F238E27FC236}">
                <a16:creationId xmlns:a16="http://schemas.microsoft.com/office/drawing/2014/main" id="{8EDAE027-4A90-3CB0-1D81-940DC8F7D73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980368" y="6624270"/>
            <a:ext cx="216000" cy="216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heel(1)">
                                      <p:cBhvr>
                                        <p:cTn id="7" dur="500"/>
                                        <p:tgtEl>
                                          <p:spTgt spid="47"/>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heel(1)">
                                      <p:cBhvr>
                                        <p:cTn id="11" dur="500"/>
                                        <p:tgtEl>
                                          <p:spTgt spid="46"/>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heel(1)">
                                      <p:cBhvr>
                                        <p:cTn id="1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chemeClr val="bg1"/>
        </a:solidFill>
        <a:effectLst/>
      </p:bgPr>
    </p:bg>
    <p:spTree>
      <p:nvGrpSpPr>
        <p:cNvPr id="1" name=""/>
        <p:cNvGrpSpPr/>
        <p:nvPr/>
      </p:nvGrpSpPr>
      <p:grpSpPr>
        <a:xfrm>
          <a:off x="0" y="0"/>
          <a:ext cx="0" cy="0"/>
          <a:chOff x="0" y="0"/>
          <a:chExt cx="0" cy="0"/>
        </a:xfrm>
      </p:grpSpPr>
      <p:pic>
        <p:nvPicPr>
          <p:cNvPr id="2" name="Image 0" descr="/home/claude/work/assets/corner_ornament.png"/>
          <p:cNvPicPr>
            <a:picLocks noChangeAspect="1"/>
          </p:cNvPicPr>
          <p:nvPr/>
        </p:nvPicPr>
        <p:blipFill>
          <a:blip r:embed="rId3"/>
          <a:stretch>
            <a:fillRect/>
          </a:stretch>
        </p:blipFill>
        <p:spPr>
          <a:xfrm>
            <a:off x="9265615" y="0"/>
            <a:ext cx="2926080" cy="1828800"/>
          </a:xfrm>
          <a:prstGeom prst="rect">
            <a:avLst/>
          </a:prstGeom>
        </p:spPr>
      </p:pic>
      <p:sp>
        <p:nvSpPr>
          <p:cNvPr id="3" name="Text 0"/>
          <p:cNvSpPr/>
          <p:nvPr/>
        </p:nvSpPr>
        <p:spPr>
          <a:xfrm>
            <a:off x="566928" y="384048"/>
            <a:ext cx="7315200" cy="274320"/>
          </a:xfrm>
          <a:prstGeom prst="rect">
            <a:avLst/>
          </a:prstGeom>
          <a:noFill/>
          <a:ln/>
        </p:spPr>
        <p:txBody>
          <a:bodyPr wrap="square" lIns="0" tIns="0" rIns="0" bIns="0" rtlCol="0" anchor="ctr"/>
          <a:lstStyle/>
          <a:p>
            <a:pPr marL="0" indent="0" algn="l">
              <a:buNone/>
            </a:pPr>
            <a:r>
              <a:rPr lang="en-US" sz="3200" b="1" kern="0" spc="220" dirty="0">
                <a:latin typeface="Calibri" pitchFamily="34" charset="0"/>
                <a:ea typeface="Calibri" pitchFamily="34" charset="-122"/>
                <a:cs typeface="Calibri" pitchFamily="34" charset="-120"/>
              </a:rPr>
              <a:t>RECOMMANDATIONS</a:t>
            </a:r>
            <a:endParaRPr lang="en-US" sz="3200" dirty="0"/>
          </a:p>
        </p:txBody>
      </p:sp>
      <p:sp>
        <p:nvSpPr>
          <p:cNvPr id="5" name="Text 2"/>
          <p:cNvSpPr/>
          <p:nvPr/>
        </p:nvSpPr>
        <p:spPr>
          <a:xfrm>
            <a:off x="566928" y="6473952"/>
            <a:ext cx="6400800" cy="274320"/>
          </a:xfrm>
          <a:prstGeom prst="rect">
            <a:avLst/>
          </a:prstGeom>
          <a:noFill/>
          <a:ln/>
        </p:spPr>
        <p:txBody>
          <a:bodyPr wrap="square" lIns="0" tIns="0" rIns="0" bIns="0"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ANALYSE DE QUALITÉ DES DONNÉES DU RBE</a:t>
            </a:r>
            <a:endParaRPr lang="en-US" sz="900" dirty="0"/>
          </a:p>
        </p:txBody>
      </p:sp>
      <p:sp>
        <p:nvSpPr>
          <p:cNvPr id="6" name="Text 3"/>
          <p:cNvSpPr/>
          <p:nvPr/>
        </p:nvSpPr>
        <p:spPr>
          <a:xfrm>
            <a:off x="10527487" y="6473952"/>
            <a:ext cx="109728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21 / 21</a:t>
            </a:r>
            <a:endParaRPr lang="en-US" sz="900" dirty="0"/>
          </a:p>
        </p:txBody>
      </p:sp>
      <p:sp>
        <p:nvSpPr>
          <p:cNvPr id="10" name="Shape 7"/>
          <p:cNvSpPr/>
          <p:nvPr/>
        </p:nvSpPr>
        <p:spPr>
          <a:xfrm>
            <a:off x="1030072" y="1737360"/>
            <a:ext cx="2395728" cy="3276000"/>
          </a:xfrm>
          <a:prstGeom prst="roundRect">
            <a:avLst>
              <a:gd name="adj" fmla="val 3361"/>
            </a:avLst>
          </a:prstGeom>
          <a:solidFill>
            <a:srgbClr val="FFFFFF"/>
          </a:solidFill>
          <a:ln/>
          <a:effectLst>
            <a:outerShdw blurRad="114300" dist="38100" dir="5400000" algn="bl" rotWithShape="0">
              <a:srgbClr val="1B2A4A">
                <a:alpha val="10000"/>
              </a:srgbClr>
            </a:outerShdw>
          </a:effectLst>
        </p:spPr>
      </p:sp>
      <p:sp>
        <p:nvSpPr>
          <p:cNvPr id="11" name="Text 8"/>
          <p:cNvSpPr/>
          <p:nvPr/>
        </p:nvSpPr>
        <p:spPr>
          <a:xfrm>
            <a:off x="1194664" y="1847088"/>
            <a:ext cx="822960" cy="365760"/>
          </a:xfrm>
          <a:prstGeom prst="rect">
            <a:avLst/>
          </a:prstGeom>
          <a:noFill/>
          <a:ln/>
        </p:spPr>
        <p:txBody>
          <a:bodyPr wrap="square" lIns="0" tIns="0" rIns="0" bIns="0" rtlCol="0" anchor="ctr"/>
          <a:lstStyle/>
          <a:p>
            <a:pPr marL="0" indent="0">
              <a:buNone/>
            </a:pPr>
            <a:r>
              <a:rPr lang="en-US" sz="1600" b="1" dirty="0">
                <a:solidFill>
                  <a:srgbClr val="F1E3C2"/>
                </a:solidFill>
                <a:latin typeface="Montserrat" pitchFamily="34" charset="0"/>
                <a:ea typeface="Montserrat" pitchFamily="34" charset="-122"/>
                <a:cs typeface="Montserrat" pitchFamily="34" charset="-120"/>
              </a:rPr>
              <a:t>01</a:t>
            </a:r>
            <a:endParaRPr lang="en-US" sz="1600" dirty="0"/>
          </a:p>
        </p:txBody>
      </p:sp>
      <p:sp>
        <p:nvSpPr>
          <p:cNvPr id="12" name="Shape 9"/>
          <p:cNvSpPr/>
          <p:nvPr/>
        </p:nvSpPr>
        <p:spPr>
          <a:xfrm>
            <a:off x="1944472" y="2103120"/>
            <a:ext cx="566928" cy="566928"/>
          </a:xfrm>
          <a:prstGeom prst="ellipse">
            <a:avLst/>
          </a:prstGeom>
          <a:solidFill>
            <a:srgbClr val="082AF5"/>
          </a:solidFill>
          <a:ln/>
        </p:spPr>
      </p:sp>
      <p:pic>
        <p:nvPicPr>
          <p:cNvPr id="13" name="Image 1" descr="/home/claude/work/assets/icons/idCard_white.png"/>
          <p:cNvPicPr>
            <a:picLocks noChangeAspect="1"/>
          </p:cNvPicPr>
          <p:nvPr/>
        </p:nvPicPr>
        <p:blipFill>
          <a:blip r:embed="rId4"/>
          <a:stretch>
            <a:fillRect/>
          </a:stretch>
        </p:blipFill>
        <p:spPr>
          <a:xfrm>
            <a:off x="2086204" y="2244852"/>
            <a:ext cx="283464" cy="283464"/>
          </a:xfrm>
          <a:prstGeom prst="rect">
            <a:avLst/>
          </a:prstGeom>
        </p:spPr>
      </p:pic>
      <p:sp>
        <p:nvSpPr>
          <p:cNvPr id="14" name="Text 10"/>
          <p:cNvSpPr/>
          <p:nvPr/>
        </p:nvSpPr>
        <p:spPr>
          <a:xfrm>
            <a:off x="1176376" y="2816352"/>
            <a:ext cx="2103120" cy="502920"/>
          </a:xfrm>
          <a:prstGeom prst="rect">
            <a:avLst/>
          </a:prstGeom>
          <a:noFill/>
          <a:ln/>
        </p:spPr>
        <p:txBody>
          <a:bodyPr wrap="square" lIns="0" tIns="0" rIns="0" bIns="0" rtlCol="0" anchor="t"/>
          <a:lstStyle/>
          <a:p>
            <a:pPr algn="ctr"/>
            <a:r>
              <a:rPr lang="fr-FR" sz="1250" b="1" dirty="0">
                <a:solidFill>
                  <a:srgbClr val="1B2A4A"/>
                </a:solidFill>
                <a:latin typeface="Montserrat" pitchFamily="34" charset="0"/>
                <a:ea typeface="Montserrat" pitchFamily="34" charset="-122"/>
                <a:cs typeface="Montserrat" pitchFamily="34" charset="-120"/>
              </a:rPr>
              <a:t>Réviser le formulaire</a:t>
            </a:r>
            <a:endParaRPr lang="fr-FR" sz="1250" dirty="0"/>
          </a:p>
          <a:p>
            <a:pPr marL="0" indent="0" algn="ctr">
              <a:buNone/>
            </a:pPr>
            <a:r>
              <a:rPr lang="fr-FR" sz="1250" b="1" dirty="0">
                <a:solidFill>
                  <a:srgbClr val="1B2A4A"/>
                </a:solidFill>
                <a:latin typeface="Montserrat" pitchFamily="34" charset="0"/>
                <a:ea typeface="Montserrat" pitchFamily="34" charset="-122"/>
                <a:cs typeface="Montserrat" pitchFamily="34" charset="-120"/>
              </a:rPr>
              <a:t>intégrant par exemple le NINEA et d’autres informations</a:t>
            </a:r>
            <a:endParaRPr lang="fr-FR" sz="1250" dirty="0"/>
          </a:p>
        </p:txBody>
      </p:sp>
      <p:sp>
        <p:nvSpPr>
          <p:cNvPr id="15" name="Text 11"/>
          <p:cNvSpPr/>
          <p:nvPr/>
        </p:nvSpPr>
        <p:spPr>
          <a:xfrm>
            <a:off x="1176376" y="4076192"/>
            <a:ext cx="2103120" cy="530352"/>
          </a:xfrm>
          <a:prstGeom prst="rect">
            <a:avLst/>
          </a:prstGeom>
          <a:noFill/>
          <a:ln/>
        </p:spPr>
        <p:txBody>
          <a:bodyPr wrap="square" lIns="0" tIns="0" rIns="0" bIns="0" rtlCol="0" anchor="t"/>
          <a:lstStyle/>
          <a:p>
            <a:pPr marL="0" indent="0" algn="ctr">
              <a:lnSpc>
                <a:spcPct val="105000"/>
              </a:lnSpc>
              <a:buNone/>
            </a:pPr>
            <a:r>
              <a:rPr lang="fr-SN" sz="950" dirty="0">
                <a:solidFill>
                  <a:srgbClr val="5B6472"/>
                </a:solidFill>
                <a:latin typeface="Calibri" pitchFamily="34" charset="0"/>
                <a:ea typeface="Calibri" pitchFamily="34" charset="-122"/>
                <a:cs typeface="Calibri" pitchFamily="34" charset="-120"/>
              </a:rPr>
              <a:t>facilitant une analyse croisée entre le RBE, la plateforme </a:t>
            </a:r>
            <a:r>
              <a:rPr lang="fr-SN" sz="950" dirty="0" err="1">
                <a:solidFill>
                  <a:srgbClr val="5B6472"/>
                </a:solidFill>
                <a:latin typeface="Calibri" pitchFamily="34" charset="0"/>
                <a:ea typeface="Calibri" pitchFamily="34" charset="-122"/>
                <a:cs typeface="Calibri" pitchFamily="34" charset="-120"/>
              </a:rPr>
              <a:t>Landfolio</a:t>
            </a:r>
            <a:r>
              <a:rPr lang="fr-SN" sz="950" dirty="0">
                <a:solidFill>
                  <a:srgbClr val="5B6472"/>
                </a:solidFill>
                <a:latin typeface="Calibri" pitchFamily="34" charset="0"/>
                <a:ea typeface="Calibri" pitchFamily="34" charset="-122"/>
                <a:cs typeface="Calibri" pitchFamily="34" charset="-120"/>
              </a:rPr>
              <a:t> et la liste des sous-traitants.</a:t>
            </a:r>
            <a:endParaRPr lang="fr-SN" sz="950" dirty="0"/>
          </a:p>
        </p:txBody>
      </p:sp>
      <p:sp>
        <p:nvSpPr>
          <p:cNvPr id="16" name="Shape 12"/>
          <p:cNvSpPr/>
          <p:nvPr/>
        </p:nvSpPr>
        <p:spPr>
          <a:xfrm>
            <a:off x="3608680" y="1737360"/>
            <a:ext cx="2395728" cy="3276000"/>
          </a:xfrm>
          <a:prstGeom prst="roundRect">
            <a:avLst>
              <a:gd name="adj" fmla="val 3361"/>
            </a:avLst>
          </a:prstGeom>
          <a:solidFill>
            <a:srgbClr val="FFFFFF"/>
          </a:solidFill>
          <a:ln/>
          <a:effectLst>
            <a:outerShdw blurRad="114300" dist="38100" dir="5400000" algn="bl" rotWithShape="0">
              <a:srgbClr val="1B2A4A">
                <a:alpha val="10000"/>
              </a:srgbClr>
            </a:outerShdw>
          </a:effectLst>
        </p:spPr>
      </p:sp>
      <p:sp>
        <p:nvSpPr>
          <p:cNvPr id="17" name="Text 13"/>
          <p:cNvSpPr/>
          <p:nvPr/>
        </p:nvSpPr>
        <p:spPr>
          <a:xfrm>
            <a:off x="3773272" y="1847088"/>
            <a:ext cx="822960" cy="365760"/>
          </a:xfrm>
          <a:prstGeom prst="rect">
            <a:avLst/>
          </a:prstGeom>
          <a:noFill/>
          <a:ln/>
        </p:spPr>
        <p:txBody>
          <a:bodyPr wrap="square" lIns="0" tIns="0" rIns="0" bIns="0" rtlCol="0" anchor="ctr"/>
          <a:lstStyle/>
          <a:p>
            <a:pPr marL="0" indent="0">
              <a:buNone/>
            </a:pPr>
            <a:r>
              <a:rPr lang="en-US" sz="1600" b="1" dirty="0">
                <a:solidFill>
                  <a:srgbClr val="F1E3C2"/>
                </a:solidFill>
                <a:latin typeface="Montserrat" pitchFamily="34" charset="0"/>
                <a:ea typeface="Montserrat" pitchFamily="34" charset="-122"/>
                <a:cs typeface="Montserrat" pitchFamily="34" charset="-120"/>
              </a:rPr>
              <a:t>02</a:t>
            </a:r>
            <a:endParaRPr lang="en-US" sz="1600" dirty="0"/>
          </a:p>
        </p:txBody>
      </p:sp>
      <p:sp>
        <p:nvSpPr>
          <p:cNvPr id="18" name="Shape 14"/>
          <p:cNvSpPr/>
          <p:nvPr/>
        </p:nvSpPr>
        <p:spPr>
          <a:xfrm>
            <a:off x="4523080" y="2103120"/>
            <a:ext cx="566928" cy="566928"/>
          </a:xfrm>
          <a:prstGeom prst="ellipse">
            <a:avLst/>
          </a:prstGeom>
          <a:solidFill>
            <a:srgbClr val="082AF5"/>
          </a:solidFill>
          <a:ln/>
        </p:spPr>
      </p:sp>
      <p:pic>
        <p:nvPicPr>
          <p:cNvPr id="19" name="Image 2" descr="/home/claude/work/assets/icons/laptop_white.png"/>
          <p:cNvPicPr>
            <a:picLocks noChangeAspect="1"/>
          </p:cNvPicPr>
          <p:nvPr/>
        </p:nvPicPr>
        <p:blipFill>
          <a:blip r:embed="rId5"/>
          <a:stretch>
            <a:fillRect/>
          </a:stretch>
        </p:blipFill>
        <p:spPr>
          <a:xfrm>
            <a:off x="4664812" y="2244852"/>
            <a:ext cx="283464" cy="283464"/>
          </a:xfrm>
          <a:prstGeom prst="rect">
            <a:avLst/>
          </a:prstGeom>
        </p:spPr>
      </p:pic>
      <p:sp>
        <p:nvSpPr>
          <p:cNvPr id="20" name="Text 15"/>
          <p:cNvSpPr/>
          <p:nvPr/>
        </p:nvSpPr>
        <p:spPr>
          <a:xfrm>
            <a:off x="3754984" y="2816352"/>
            <a:ext cx="2103120" cy="502920"/>
          </a:xfrm>
          <a:prstGeom prst="rect">
            <a:avLst/>
          </a:prstGeom>
          <a:noFill/>
          <a:ln/>
        </p:spPr>
        <p:txBody>
          <a:bodyPr wrap="square" lIns="0" tIns="0" rIns="0" bIns="0" rtlCol="0" anchor="t"/>
          <a:lstStyle/>
          <a:p>
            <a:pPr marL="0" indent="0" algn="ctr">
              <a:buNone/>
            </a:pPr>
            <a:r>
              <a:rPr lang="fr-SN" sz="1250" b="1" dirty="0">
                <a:solidFill>
                  <a:srgbClr val="1B2A4A"/>
                </a:solidFill>
                <a:latin typeface="Montserrat" pitchFamily="34" charset="0"/>
                <a:ea typeface="Montserrat" pitchFamily="34" charset="-122"/>
                <a:cs typeface="Montserrat" pitchFamily="34" charset="-120"/>
              </a:rPr>
              <a:t>Moderniser la collecte mettant en place une plateforme de collecte et de suivi</a:t>
            </a:r>
            <a:endParaRPr lang="fr-SN" sz="1250" dirty="0"/>
          </a:p>
        </p:txBody>
      </p:sp>
      <p:sp>
        <p:nvSpPr>
          <p:cNvPr id="21" name="Text 16"/>
          <p:cNvSpPr/>
          <p:nvPr/>
        </p:nvSpPr>
        <p:spPr>
          <a:xfrm>
            <a:off x="3754984" y="4086352"/>
            <a:ext cx="2103120" cy="530352"/>
          </a:xfrm>
          <a:prstGeom prst="rect">
            <a:avLst/>
          </a:prstGeom>
          <a:noFill/>
          <a:ln/>
        </p:spPr>
        <p:txBody>
          <a:bodyPr wrap="square" lIns="0" tIns="0" rIns="0" bIns="0" rtlCol="0" anchor="t"/>
          <a:lstStyle/>
          <a:p>
            <a:pPr marL="0" indent="0" algn="ctr">
              <a:lnSpc>
                <a:spcPct val="105000"/>
              </a:lnSpc>
              <a:buNone/>
            </a:pPr>
            <a:r>
              <a:rPr lang="fr-FR" sz="950" dirty="0">
                <a:solidFill>
                  <a:srgbClr val="5B6472"/>
                </a:solidFill>
                <a:latin typeface="Calibri" pitchFamily="34" charset="0"/>
                <a:ea typeface="Calibri" pitchFamily="34" charset="-122"/>
                <a:cs typeface="Calibri" pitchFamily="34" charset="-120"/>
              </a:rPr>
              <a:t>pour réduire les erreurs de saisie manuelle et réduire la charge au niveau des greffes.</a:t>
            </a:r>
            <a:endParaRPr lang="fr-FR" sz="950" dirty="0"/>
          </a:p>
        </p:txBody>
      </p:sp>
      <p:sp>
        <p:nvSpPr>
          <p:cNvPr id="22" name="Shape 17"/>
          <p:cNvSpPr/>
          <p:nvPr/>
        </p:nvSpPr>
        <p:spPr>
          <a:xfrm>
            <a:off x="6187288" y="1737360"/>
            <a:ext cx="2395728" cy="3276000"/>
          </a:xfrm>
          <a:prstGeom prst="roundRect">
            <a:avLst>
              <a:gd name="adj" fmla="val 3361"/>
            </a:avLst>
          </a:prstGeom>
          <a:solidFill>
            <a:srgbClr val="FFFFFF"/>
          </a:solidFill>
          <a:ln/>
          <a:effectLst>
            <a:outerShdw blurRad="114300" dist="38100" dir="5400000" algn="bl" rotWithShape="0">
              <a:srgbClr val="1B2A4A">
                <a:alpha val="10000"/>
              </a:srgbClr>
            </a:outerShdw>
          </a:effectLst>
        </p:spPr>
      </p:sp>
      <p:sp>
        <p:nvSpPr>
          <p:cNvPr id="23" name="Text 18"/>
          <p:cNvSpPr/>
          <p:nvPr/>
        </p:nvSpPr>
        <p:spPr>
          <a:xfrm>
            <a:off x="6351880" y="1847088"/>
            <a:ext cx="822960" cy="365760"/>
          </a:xfrm>
          <a:prstGeom prst="rect">
            <a:avLst/>
          </a:prstGeom>
          <a:noFill/>
          <a:ln/>
        </p:spPr>
        <p:txBody>
          <a:bodyPr wrap="square" lIns="0" tIns="0" rIns="0" bIns="0" rtlCol="0" anchor="ctr"/>
          <a:lstStyle/>
          <a:p>
            <a:pPr marL="0" indent="0">
              <a:buNone/>
            </a:pPr>
            <a:r>
              <a:rPr lang="en-US" sz="1600" b="1" dirty="0">
                <a:solidFill>
                  <a:srgbClr val="F1E3C2"/>
                </a:solidFill>
                <a:latin typeface="Montserrat" pitchFamily="34" charset="0"/>
                <a:ea typeface="Montserrat" pitchFamily="34" charset="-122"/>
                <a:cs typeface="Montserrat" pitchFamily="34" charset="-120"/>
              </a:rPr>
              <a:t>03</a:t>
            </a:r>
            <a:endParaRPr lang="en-US" sz="1600" dirty="0"/>
          </a:p>
        </p:txBody>
      </p:sp>
      <p:sp>
        <p:nvSpPr>
          <p:cNvPr id="24" name="Shape 19"/>
          <p:cNvSpPr/>
          <p:nvPr/>
        </p:nvSpPr>
        <p:spPr>
          <a:xfrm>
            <a:off x="7101688" y="2103120"/>
            <a:ext cx="566928" cy="566928"/>
          </a:xfrm>
          <a:prstGeom prst="ellipse">
            <a:avLst/>
          </a:prstGeom>
          <a:solidFill>
            <a:srgbClr val="082AF5"/>
          </a:solidFill>
          <a:ln/>
        </p:spPr>
      </p:sp>
      <p:pic>
        <p:nvPicPr>
          <p:cNvPr id="25" name="Image 3" descr="/home/claude/work/assets/icons/book_white.png"/>
          <p:cNvPicPr>
            <a:picLocks noChangeAspect="1"/>
          </p:cNvPicPr>
          <p:nvPr/>
        </p:nvPicPr>
        <p:blipFill>
          <a:blip r:embed="rId6"/>
          <a:stretch>
            <a:fillRect/>
          </a:stretch>
        </p:blipFill>
        <p:spPr>
          <a:xfrm>
            <a:off x="7243420" y="2244852"/>
            <a:ext cx="283464" cy="283464"/>
          </a:xfrm>
          <a:prstGeom prst="rect">
            <a:avLst/>
          </a:prstGeom>
        </p:spPr>
      </p:pic>
      <p:sp>
        <p:nvSpPr>
          <p:cNvPr id="26" name="Text 20"/>
          <p:cNvSpPr/>
          <p:nvPr/>
        </p:nvSpPr>
        <p:spPr>
          <a:xfrm>
            <a:off x="6333592" y="2816352"/>
            <a:ext cx="2103120" cy="502920"/>
          </a:xfrm>
          <a:prstGeom prst="rect">
            <a:avLst/>
          </a:prstGeom>
          <a:noFill/>
          <a:ln/>
        </p:spPr>
        <p:txBody>
          <a:bodyPr wrap="square" lIns="0" tIns="0" rIns="0" bIns="0" rtlCol="0" anchor="t"/>
          <a:lstStyle/>
          <a:p>
            <a:pPr marL="0" indent="0" algn="ctr">
              <a:buNone/>
            </a:pPr>
            <a:r>
              <a:rPr lang="fr-FR" sz="1250" b="1" dirty="0">
                <a:solidFill>
                  <a:srgbClr val="1B2A4A"/>
                </a:solidFill>
                <a:latin typeface="Montserrat" pitchFamily="34" charset="0"/>
                <a:ea typeface="Montserrat" pitchFamily="34" charset="-122"/>
                <a:cs typeface="Montserrat" pitchFamily="34" charset="-120"/>
              </a:rPr>
              <a:t>Mettre en place un guide de remplissage</a:t>
            </a:r>
            <a:endParaRPr lang="fr-FR" sz="1250" dirty="0"/>
          </a:p>
        </p:txBody>
      </p:sp>
      <p:sp>
        <p:nvSpPr>
          <p:cNvPr id="27" name="Text 21"/>
          <p:cNvSpPr/>
          <p:nvPr/>
        </p:nvSpPr>
        <p:spPr>
          <a:xfrm>
            <a:off x="6333592" y="4066032"/>
            <a:ext cx="2103120" cy="530352"/>
          </a:xfrm>
          <a:prstGeom prst="rect">
            <a:avLst/>
          </a:prstGeom>
          <a:noFill/>
          <a:ln/>
        </p:spPr>
        <p:txBody>
          <a:bodyPr wrap="square" lIns="0" tIns="0" rIns="0" bIns="0" rtlCol="0" anchor="t"/>
          <a:lstStyle/>
          <a:p>
            <a:pPr marL="0" indent="0" algn="ctr">
              <a:lnSpc>
                <a:spcPct val="105000"/>
              </a:lnSpc>
              <a:buNone/>
            </a:pPr>
            <a:r>
              <a:rPr lang="en-US" sz="950" dirty="0">
                <a:solidFill>
                  <a:srgbClr val="5B6472"/>
                </a:solidFill>
                <a:latin typeface="Calibri" pitchFamily="34" charset="0"/>
                <a:ea typeface="Calibri" pitchFamily="34" charset="-122"/>
                <a:cs typeface="Calibri" pitchFamily="34" charset="-120"/>
              </a:rPr>
              <a:t>destiné aux déclarants pour clarifier chaque champ du formulaire.</a:t>
            </a:r>
            <a:endParaRPr lang="en-US" sz="950" dirty="0"/>
          </a:p>
        </p:txBody>
      </p:sp>
      <p:sp>
        <p:nvSpPr>
          <p:cNvPr id="28" name="Shape 22"/>
          <p:cNvSpPr/>
          <p:nvPr/>
        </p:nvSpPr>
        <p:spPr>
          <a:xfrm>
            <a:off x="8765896" y="1737360"/>
            <a:ext cx="2395728" cy="3276000"/>
          </a:xfrm>
          <a:prstGeom prst="roundRect">
            <a:avLst>
              <a:gd name="adj" fmla="val 3361"/>
            </a:avLst>
          </a:prstGeom>
          <a:solidFill>
            <a:srgbClr val="FFFFFF"/>
          </a:solidFill>
          <a:ln/>
          <a:effectLst>
            <a:outerShdw blurRad="114300" dist="38100" dir="5400000" algn="bl" rotWithShape="0">
              <a:srgbClr val="1B2A4A">
                <a:alpha val="10000"/>
              </a:srgbClr>
            </a:outerShdw>
          </a:effectLst>
        </p:spPr>
      </p:sp>
      <p:sp>
        <p:nvSpPr>
          <p:cNvPr id="29" name="Text 23"/>
          <p:cNvSpPr/>
          <p:nvPr/>
        </p:nvSpPr>
        <p:spPr>
          <a:xfrm>
            <a:off x="8930488" y="1847088"/>
            <a:ext cx="822960" cy="365760"/>
          </a:xfrm>
          <a:prstGeom prst="rect">
            <a:avLst/>
          </a:prstGeom>
          <a:noFill/>
          <a:ln/>
        </p:spPr>
        <p:txBody>
          <a:bodyPr wrap="square" lIns="0" tIns="0" rIns="0" bIns="0" rtlCol="0" anchor="ctr"/>
          <a:lstStyle/>
          <a:p>
            <a:pPr marL="0" indent="0">
              <a:buNone/>
            </a:pPr>
            <a:r>
              <a:rPr lang="en-US" sz="1600" b="1" dirty="0">
                <a:solidFill>
                  <a:srgbClr val="F1E3C2"/>
                </a:solidFill>
                <a:latin typeface="Montserrat" pitchFamily="34" charset="0"/>
                <a:ea typeface="Montserrat" pitchFamily="34" charset="-122"/>
                <a:cs typeface="Montserrat" pitchFamily="34" charset="-120"/>
              </a:rPr>
              <a:t>04</a:t>
            </a:r>
            <a:endParaRPr lang="en-US" sz="1600" dirty="0"/>
          </a:p>
        </p:txBody>
      </p:sp>
      <p:sp>
        <p:nvSpPr>
          <p:cNvPr id="30" name="Shape 24"/>
          <p:cNvSpPr/>
          <p:nvPr/>
        </p:nvSpPr>
        <p:spPr>
          <a:xfrm>
            <a:off x="9680296" y="2103120"/>
            <a:ext cx="566928" cy="566928"/>
          </a:xfrm>
          <a:prstGeom prst="ellipse">
            <a:avLst/>
          </a:prstGeom>
          <a:solidFill>
            <a:srgbClr val="082AF5"/>
          </a:solidFill>
          <a:ln/>
        </p:spPr>
      </p:sp>
      <p:pic>
        <p:nvPicPr>
          <p:cNvPr id="31" name="Image 4" descr="/home/claude/work/assets/icons/graduationCap_white.png"/>
          <p:cNvPicPr>
            <a:picLocks noChangeAspect="1"/>
          </p:cNvPicPr>
          <p:nvPr/>
        </p:nvPicPr>
        <p:blipFill>
          <a:blip r:embed="rId7"/>
          <a:stretch>
            <a:fillRect/>
          </a:stretch>
        </p:blipFill>
        <p:spPr>
          <a:xfrm>
            <a:off x="9822028" y="2244852"/>
            <a:ext cx="283464" cy="283464"/>
          </a:xfrm>
          <a:prstGeom prst="rect">
            <a:avLst/>
          </a:prstGeom>
        </p:spPr>
      </p:pic>
      <p:sp>
        <p:nvSpPr>
          <p:cNvPr id="32" name="Text 25"/>
          <p:cNvSpPr/>
          <p:nvPr/>
        </p:nvSpPr>
        <p:spPr>
          <a:xfrm>
            <a:off x="8912200" y="2816352"/>
            <a:ext cx="2103120" cy="502920"/>
          </a:xfrm>
          <a:prstGeom prst="rect">
            <a:avLst/>
          </a:prstGeom>
          <a:noFill/>
          <a:ln/>
        </p:spPr>
        <p:txBody>
          <a:bodyPr wrap="square" lIns="0" tIns="0" rIns="0" bIns="0" rtlCol="0" anchor="t"/>
          <a:lstStyle/>
          <a:p>
            <a:pPr marL="0" indent="0" algn="ctr">
              <a:buNone/>
            </a:pPr>
            <a:r>
              <a:rPr lang="en-US" sz="1250" b="1" dirty="0">
                <a:solidFill>
                  <a:srgbClr val="1B2A4A"/>
                </a:solidFill>
                <a:latin typeface="Montserrat" pitchFamily="34" charset="0"/>
                <a:ea typeface="Montserrat" pitchFamily="34" charset="-122"/>
                <a:cs typeface="Montserrat" pitchFamily="34" charset="-120"/>
              </a:rPr>
              <a:t>Former les acteurs</a:t>
            </a:r>
            <a:endParaRPr lang="en-US" sz="1250" dirty="0"/>
          </a:p>
        </p:txBody>
      </p:sp>
      <p:sp>
        <p:nvSpPr>
          <p:cNvPr id="33" name="Text 26"/>
          <p:cNvSpPr/>
          <p:nvPr/>
        </p:nvSpPr>
        <p:spPr>
          <a:xfrm>
            <a:off x="8912200" y="4035552"/>
            <a:ext cx="2103120" cy="530352"/>
          </a:xfrm>
          <a:prstGeom prst="rect">
            <a:avLst/>
          </a:prstGeom>
          <a:noFill/>
          <a:ln/>
        </p:spPr>
        <p:txBody>
          <a:bodyPr wrap="square" lIns="0" tIns="0" rIns="0" bIns="0" rtlCol="0" anchor="t"/>
          <a:lstStyle/>
          <a:p>
            <a:pPr marL="0" indent="0" algn="ctr">
              <a:lnSpc>
                <a:spcPct val="105000"/>
              </a:lnSpc>
              <a:buNone/>
            </a:pPr>
            <a:r>
              <a:rPr lang="en-US" sz="950" dirty="0">
                <a:solidFill>
                  <a:srgbClr val="5B6472"/>
                </a:solidFill>
                <a:latin typeface="Calibri" pitchFamily="34" charset="0"/>
                <a:ea typeface="Calibri" pitchFamily="34" charset="-122"/>
                <a:cs typeface="Calibri" pitchFamily="34" charset="-120"/>
              </a:rPr>
              <a:t>via un plan de formation au numérique pour les agents chargés de la collecte.</a:t>
            </a:r>
            <a:endParaRPr lang="en-US" sz="950" dirty="0"/>
          </a:p>
        </p:txBody>
      </p:sp>
      <p:sp>
        <p:nvSpPr>
          <p:cNvPr id="52" name="Shape 4">
            <a:extLst>
              <a:ext uri="{FF2B5EF4-FFF2-40B4-BE49-F238E27FC236}">
                <a16:creationId xmlns:a16="http://schemas.microsoft.com/office/drawing/2014/main" id="{EDB28C5B-5A4D-47A9-B0B8-0D9A9985FED1}"/>
              </a:ext>
            </a:extLst>
          </p:cNvPr>
          <p:cNvSpPr/>
          <p:nvPr/>
        </p:nvSpPr>
        <p:spPr>
          <a:xfrm>
            <a:off x="10044887" y="6561646"/>
            <a:ext cx="45720" cy="45720"/>
          </a:xfrm>
          <a:prstGeom prst="ellipse">
            <a:avLst/>
          </a:prstGeom>
          <a:solidFill>
            <a:srgbClr val="C9962F"/>
          </a:solidFill>
          <a:ln/>
        </p:spPr>
      </p:sp>
      <p:sp>
        <p:nvSpPr>
          <p:cNvPr id="53" name="Shape 5">
            <a:extLst>
              <a:ext uri="{FF2B5EF4-FFF2-40B4-BE49-F238E27FC236}">
                <a16:creationId xmlns:a16="http://schemas.microsoft.com/office/drawing/2014/main" id="{E58B4D3B-F19E-2E16-F109-1F52BAA9624C}"/>
              </a:ext>
            </a:extLst>
          </p:cNvPr>
          <p:cNvSpPr/>
          <p:nvPr/>
        </p:nvSpPr>
        <p:spPr>
          <a:xfrm>
            <a:off x="9926015" y="6561646"/>
            <a:ext cx="45720" cy="45720"/>
          </a:xfrm>
          <a:prstGeom prst="ellipse">
            <a:avLst/>
          </a:prstGeom>
          <a:solidFill>
            <a:srgbClr val="C9962F"/>
          </a:solidFill>
          <a:ln/>
        </p:spPr>
      </p:sp>
      <p:sp>
        <p:nvSpPr>
          <p:cNvPr id="54" name="Shape 6">
            <a:extLst>
              <a:ext uri="{FF2B5EF4-FFF2-40B4-BE49-F238E27FC236}">
                <a16:creationId xmlns:a16="http://schemas.microsoft.com/office/drawing/2014/main" id="{092DBCC0-0552-1143-D8FC-D68118869079}"/>
              </a:ext>
            </a:extLst>
          </p:cNvPr>
          <p:cNvSpPr/>
          <p:nvPr/>
        </p:nvSpPr>
        <p:spPr>
          <a:xfrm>
            <a:off x="9807143" y="6561646"/>
            <a:ext cx="45720" cy="45720"/>
          </a:xfrm>
          <a:prstGeom prst="ellipse">
            <a:avLst/>
          </a:prstGeom>
          <a:solidFill>
            <a:srgbClr val="C9962F"/>
          </a:solidFill>
          <a:ln/>
        </p:spPr>
      </p:sp>
      <p:sp>
        <p:nvSpPr>
          <p:cNvPr id="7" name="Text 1">
            <a:extLst>
              <a:ext uri="{FF2B5EF4-FFF2-40B4-BE49-F238E27FC236}">
                <a16:creationId xmlns:a16="http://schemas.microsoft.com/office/drawing/2014/main" id="{906C2C77-F772-7994-7F75-AFCE8CDB90F2}"/>
              </a:ext>
            </a:extLst>
          </p:cNvPr>
          <p:cNvSpPr/>
          <p:nvPr/>
        </p:nvSpPr>
        <p:spPr>
          <a:xfrm>
            <a:off x="566927" y="797814"/>
            <a:ext cx="11624767" cy="713232"/>
          </a:xfrm>
          <a:prstGeom prst="rect">
            <a:avLst/>
          </a:prstGeom>
          <a:noFill/>
          <a:ln/>
        </p:spPr>
        <p:txBody>
          <a:bodyPr wrap="square" lIns="0" tIns="0" rIns="0" bIns="0" rtlCol="0" anchor="t"/>
          <a:lstStyle/>
          <a:p>
            <a:pPr marL="0" indent="0" algn="l">
              <a:buNone/>
            </a:pPr>
            <a:r>
              <a:rPr lang="fr-SN" sz="2800" b="1" dirty="0">
                <a:solidFill>
                  <a:srgbClr val="082AF5"/>
                </a:solidFill>
                <a:latin typeface="Montserrat" pitchFamily="34" charset="0"/>
                <a:ea typeface="Montserrat" pitchFamily="34" charset="-122"/>
                <a:cs typeface="Montserrat" pitchFamily="34" charset="-120"/>
              </a:rPr>
              <a:t>04 leviers pour fiabiliser durablement le registre</a:t>
            </a:r>
            <a:endParaRPr lang="fr-SN" sz="2800" dirty="0">
              <a:solidFill>
                <a:srgbClr val="082AF5"/>
              </a:solidFill>
            </a:endParaRPr>
          </a:p>
        </p:txBody>
      </p:sp>
      <p:pic>
        <p:nvPicPr>
          <p:cNvPr id="4" name="Graphique 3" descr="Ampoule et engrenage avec un remplissage uni">
            <a:extLst>
              <a:ext uri="{FF2B5EF4-FFF2-40B4-BE49-F238E27FC236}">
                <a16:creationId xmlns:a16="http://schemas.microsoft.com/office/drawing/2014/main" id="{C7C82B0D-18D0-77FA-1DE9-C164D00363C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980368" y="6624270"/>
            <a:ext cx="216000" cy="216000"/>
          </a:xfrm>
          <a:prstGeom prst="rect">
            <a:avLst/>
          </a:prstGeom>
        </p:spPr>
      </p:pic>
      <p:sp>
        <p:nvSpPr>
          <p:cNvPr id="8" name="Text 2">
            <a:extLst>
              <a:ext uri="{FF2B5EF4-FFF2-40B4-BE49-F238E27FC236}">
                <a16:creationId xmlns:a16="http://schemas.microsoft.com/office/drawing/2014/main" id="{D4C12A29-D31C-A74B-F98E-665754179B5A}"/>
              </a:ext>
            </a:extLst>
          </p:cNvPr>
          <p:cNvSpPr/>
          <p:nvPr/>
        </p:nvSpPr>
        <p:spPr>
          <a:xfrm>
            <a:off x="0" y="5633720"/>
            <a:ext cx="12191695" cy="457200"/>
          </a:xfrm>
          <a:prstGeom prst="rect">
            <a:avLst/>
          </a:prstGeom>
          <a:noFill/>
          <a:ln/>
        </p:spPr>
        <p:txBody>
          <a:bodyPr wrap="square" lIns="0" tIns="0" rIns="0" bIns="0" rtlCol="0" anchor="ctr"/>
          <a:lstStyle/>
          <a:p>
            <a:pPr marL="0" indent="0" algn="ctr">
              <a:buNone/>
            </a:pPr>
            <a:r>
              <a:rPr lang="fr-FR" sz="1400" i="1" dirty="0">
                <a:solidFill>
                  <a:srgbClr val="2F7D6E"/>
                </a:solidFill>
                <a:latin typeface="Calibri" pitchFamily="34" charset="0"/>
                <a:ea typeface="Calibri" pitchFamily="34" charset="-122"/>
                <a:cs typeface="Calibri" pitchFamily="34" charset="-120"/>
              </a:rPr>
              <a:t>Vers un RBE fiable et transparent </a:t>
            </a:r>
            <a:r>
              <a:rPr lang="fr-SN" sz="1400" i="1" dirty="0">
                <a:solidFill>
                  <a:srgbClr val="2F7D6E"/>
                </a:solidFill>
                <a:latin typeface="Calibri" pitchFamily="34" charset="0"/>
                <a:ea typeface="Calibri" pitchFamily="34" charset="-122"/>
                <a:cs typeface="Calibri" pitchFamily="34" charset="-120"/>
              </a:rPr>
              <a:t>du secteur extractif sénégalais</a:t>
            </a:r>
            <a:endParaRPr lang="fr-SN" sz="1400" dirty="0">
              <a:solidFill>
                <a:srgbClr val="2F7D6E"/>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heel(1)">
                                      <p:cBhvr>
                                        <p:cTn id="7" dur="500"/>
                                        <p:tgtEl>
                                          <p:spTgt spid="54"/>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wheel(1)">
                                      <p:cBhvr>
                                        <p:cTn id="11" dur="500"/>
                                        <p:tgtEl>
                                          <p:spTgt spid="53"/>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wheel(1)">
                                      <p:cBhvr>
                                        <p:cTn id="1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chemeClr val="bg1"/>
        </a:solidFill>
        <a:effectLst/>
      </p:bgPr>
    </p:bg>
    <p:spTree>
      <p:nvGrpSpPr>
        <p:cNvPr id="1" name=""/>
        <p:cNvGrpSpPr/>
        <p:nvPr/>
      </p:nvGrpSpPr>
      <p:grpSpPr>
        <a:xfrm>
          <a:off x="0" y="0"/>
          <a:ext cx="0" cy="0"/>
          <a:chOff x="0" y="0"/>
          <a:chExt cx="0" cy="0"/>
        </a:xfrm>
      </p:grpSpPr>
      <p:sp>
        <p:nvSpPr>
          <p:cNvPr id="3" name="Text 0"/>
          <p:cNvSpPr/>
          <p:nvPr/>
        </p:nvSpPr>
        <p:spPr>
          <a:xfrm>
            <a:off x="0" y="2331720"/>
            <a:ext cx="12191695" cy="1188720"/>
          </a:xfrm>
          <a:prstGeom prst="rect">
            <a:avLst/>
          </a:prstGeom>
          <a:noFill/>
          <a:ln/>
        </p:spPr>
        <p:txBody>
          <a:bodyPr wrap="square" lIns="0" tIns="0" rIns="0" bIns="0" rtlCol="0" anchor="ctr"/>
          <a:lstStyle/>
          <a:p>
            <a:pPr marL="0" indent="0" algn="ctr">
              <a:buNone/>
            </a:pPr>
            <a:r>
              <a:rPr lang="en-US" sz="6400" b="1" dirty="0">
                <a:solidFill>
                  <a:srgbClr val="082AF5"/>
                </a:solidFill>
                <a:latin typeface="Montserrat" pitchFamily="34" charset="0"/>
                <a:ea typeface="Montserrat" pitchFamily="34" charset="-122"/>
                <a:cs typeface="Montserrat" pitchFamily="34" charset="-120"/>
              </a:rPr>
              <a:t>MERCI</a:t>
            </a:r>
            <a:endParaRPr lang="en-US" sz="6400" dirty="0">
              <a:solidFill>
                <a:srgbClr val="082AF5"/>
              </a:solidFill>
            </a:endParaRPr>
          </a:p>
        </p:txBody>
      </p:sp>
      <p:sp>
        <p:nvSpPr>
          <p:cNvPr id="4" name="Shape 1"/>
          <p:cNvSpPr/>
          <p:nvPr/>
        </p:nvSpPr>
        <p:spPr>
          <a:xfrm>
            <a:off x="5455768" y="3456432"/>
            <a:ext cx="1280160" cy="0"/>
          </a:xfrm>
          <a:prstGeom prst="line">
            <a:avLst/>
          </a:prstGeom>
          <a:noFill/>
          <a:ln w="31750">
            <a:solidFill>
              <a:srgbClr val="C9962F"/>
            </a:solidFill>
            <a:prstDash val="solid"/>
          </a:ln>
        </p:spPr>
      </p:sp>
      <p:sp>
        <p:nvSpPr>
          <p:cNvPr id="5" name="Text 2"/>
          <p:cNvSpPr/>
          <p:nvPr/>
        </p:nvSpPr>
        <p:spPr>
          <a:xfrm>
            <a:off x="0" y="3611880"/>
            <a:ext cx="12191695" cy="457200"/>
          </a:xfrm>
          <a:prstGeom prst="rect">
            <a:avLst/>
          </a:prstGeom>
          <a:noFill/>
          <a:ln/>
        </p:spPr>
        <p:txBody>
          <a:bodyPr wrap="square" lIns="0" tIns="0" rIns="0" bIns="0" rtlCol="0" anchor="ctr"/>
          <a:lstStyle/>
          <a:p>
            <a:pPr marL="0" indent="0" algn="ctr">
              <a:buNone/>
            </a:pPr>
            <a:r>
              <a:rPr lang="fr-FR" sz="1400" i="1" dirty="0">
                <a:solidFill>
                  <a:srgbClr val="2F7D6E"/>
                </a:solidFill>
                <a:latin typeface="Calibri" pitchFamily="34" charset="0"/>
                <a:ea typeface="Calibri" pitchFamily="34" charset="-122"/>
                <a:cs typeface="Calibri" pitchFamily="34" charset="-120"/>
              </a:rPr>
              <a:t>Vers un RBE fiable et transparent</a:t>
            </a:r>
          </a:p>
          <a:p>
            <a:pPr marL="0" indent="0" algn="ctr">
              <a:buNone/>
            </a:pPr>
            <a:r>
              <a:rPr lang="fr-SN" sz="1400" i="1" dirty="0">
                <a:solidFill>
                  <a:srgbClr val="2F7D6E"/>
                </a:solidFill>
                <a:latin typeface="Calibri" pitchFamily="34" charset="0"/>
                <a:ea typeface="Calibri" pitchFamily="34" charset="-122"/>
                <a:cs typeface="Calibri" pitchFamily="34" charset="-120"/>
              </a:rPr>
              <a:t>du secteur extractif sénégalais</a:t>
            </a:r>
            <a:endParaRPr lang="fr-SN" sz="1400" dirty="0">
              <a:solidFill>
                <a:srgbClr val="2F7D6E"/>
              </a:solidFill>
            </a:endParaRPr>
          </a:p>
        </p:txBody>
      </p:sp>
      <p:sp>
        <p:nvSpPr>
          <p:cNvPr id="15" name="Text 9"/>
          <p:cNvSpPr/>
          <p:nvPr/>
        </p:nvSpPr>
        <p:spPr>
          <a:xfrm>
            <a:off x="0" y="6309360"/>
            <a:ext cx="12191695" cy="274320"/>
          </a:xfrm>
          <a:prstGeom prst="rect">
            <a:avLst/>
          </a:prstGeom>
          <a:noFill/>
          <a:ln/>
        </p:spPr>
        <p:txBody>
          <a:bodyPr wrap="square" lIns="0" tIns="0" rIns="0" bIns="0" rtlCol="0" anchor="ctr"/>
          <a:lstStyle/>
          <a:p>
            <a:pPr marL="0" indent="0" algn="ctr">
              <a:buNone/>
            </a:pPr>
            <a:r>
              <a:rPr lang="en-US" sz="950" kern="0" spc="150" dirty="0">
                <a:solidFill>
                  <a:srgbClr val="082AF5"/>
                </a:solidFill>
                <a:latin typeface="Calibri" pitchFamily="34" charset="0"/>
                <a:ea typeface="Calibri" pitchFamily="34" charset="-122"/>
                <a:cs typeface="Calibri" pitchFamily="34" charset="-120"/>
              </a:rPr>
              <a:t>REGISTRE DES BÉNÉFICIAIRES EFFECTIFS</a:t>
            </a:r>
            <a:endParaRPr lang="en-US" sz="950" dirty="0">
              <a:solidFill>
                <a:srgbClr val="082AF5"/>
              </a:solidFill>
            </a:endParaRPr>
          </a:p>
        </p:txBody>
      </p:sp>
      <p:pic>
        <p:nvPicPr>
          <p:cNvPr id="2" name="Picture 14">
            <a:extLst>
              <a:ext uri="{FF2B5EF4-FFF2-40B4-BE49-F238E27FC236}">
                <a16:creationId xmlns:a16="http://schemas.microsoft.com/office/drawing/2014/main" id="{824A6115-07D7-103F-E7C0-64F8FB9ACC68}"/>
              </a:ext>
            </a:extLst>
          </p:cNvPr>
          <p:cNvPicPr/>
          <p:nvPr/>
        </p:nvPicPr>
        <p:blipFill>
          <a:blip r:embed="rId3">
            <a:alphaModFix amt="5000"/>
            <a:extLst>
              <a:ext uri="{28A0092B-C50C-407E-A947-70E740481C1C}">
                <a14:useLocalDpi xmlns:a14="http://schemas.microsoft.com/office/drawing/2010/main" val="0"/>
              </a:ext>
            </a:extLst>
          </a:blip>
          <a:stretch>
            <a:fillRect/>
          </a:stretch>
        </p:blipFill>
        <p:spPr>
          <a:xfrm>
            <a:off x="-52984" y="-207957"/>
            <a:ext cx="5508752" cy="3454077"/>
          </a:xfrm>
          <a:prstGeom prst="rect">
            <a:avLst/>
          </a:prstGeom>
          <a:noFill/>
          <a:ln>
            <a:noFill/>
          </a:ln>
        </p:spPr>
      </p:pic>
      <p:pic>
        <p:nvPicPr>
          <p:cNvPr id="6" name="Picture 14">
            <a:extLst>
              <a:ext uri="{FF2B5EF4-FFF2-40B4-BE49-F238E27FC236}">
                <a16:creationId xmlns:a16="http://schemas.microsoft.com/office/drawing/2014/main" id="{A20C65B0-2C75-1AC7-1686-8DC4E970716E}"/>
              </a:ext>
            </a:extLst>
          </p:cNvPr>
          <p:cNvPicPr/>
          <p:nvPr/>
        </p:nvPicPr>
        <p:blipFill>
          <a:blip r:embed="rId3">
            <a:alphaModFix amt="5000"/>
            <a:extLst>
              <a:ext uri="{28A0092B-C50C-407E-A947-70E740481C1C}">
                <a14:useLocalDpi xmlns:a14="http://schemas.microsoft.com/office/drawing/2010/main" val="0"/>
              </a:ext>
            </a:extLst>
          </a:blip>
          <a:stretch>
            <a:fillRect/>
          </a:stretch>
        </p:blipFill>
        <p:spPr>
          <a:xfrm>
            <a:off x="-337464" y="4058758"/>
            <a:ext cx="5508752" cy="3454077"/>
          </a:xfrm>
          <a:prstGeom prst="rect">
            <a:avLst/>
          </a:prstGeom>
          <a:noFill/>
          <a:ln>
            <a:noFill/>
          </a:ln>
        </p:spPr>
      </p:pic>
      <p:pic>
        <p:nvPicPr>
          <p:cNvPr id="7" name="Picture 14">
            <a:extLst>
              <a:ext uri="{FF2B5EF4-FFF2-40B4-BE49-F238E27FC236}">
                <a16:creationId xmlns:a16="http://schemas.microsoft.com/office/drawing/2014/main" id="{B2CE75A3-21EB-4E2E-9CBB-C058D23601A3}"/>
              </a:ext>
            </a:extLst>
          </p:cNvPr>
          <p:cNvPicPr/>
          <p:nvPr/>
        </p:nvPicPr>
        <p:blipFill>
          <a:blip r:embed="rId3">
            <a:alphaModFix amt="5000"/>
            <a:extLst>
              <a:ext uri="{28A0092B-C50C-407E-A947-70E740481C1C}">
                <a14:useLocalDpi xmlns:a14="http://schemas.microsoft.com/office/drawing/2010/main" val="0"/>
              </a:ext>
            </a:extLst>
          </a:blip>
          <a:stretch>
            <a:fillRect/>
          </a:stretch>
        </p:blipFill>
        <p:spPr>
          <a:xfrm>
            <a:off x="6583834" y="-207957"/>
            <a:ext cx="5508752" cy="3454077"/>
          </a:xfrm>
          <a:prstGeom prst="rect">
            <a:avLst/>
          </a:prstGeom>
          <a:noFill/>
          <a:ln>
            <a:noFill/>
          </a:ln>
        </p:spPr>
      </p:pic>
      <p:pic>
        <p:nvPicPr>
          <p:cNvPr id="8" name="Picture 14">
            <a:extLst>
              <a:ext uri="{FF2B5EF4-FFF2-40B4-BE49-F238E27FC236}">
                <a16:creationId xmlns:a16="http://schemas.microsoft.com/office/drawing/2014/main" id="{1D40E21E-780C-024C-9193-D161D1A78785}"/>
              </a:ext>
            </a:extLst>
          </p:cNvPr>
          <p:cNvPicPr/>
          <p:nvPr/>
        </p:nvPicPr>
        <p:blipFill>
          <a:blip r:embed="rId3">
            <a:alphaModFix amt="5000"/>
            <a:extLst>
              <a:ext uri="{28A0092B-C50C-407E-A947-70E740481C1C}">
                <a14:useLocalDpi xmlns:a14="http://schemas.microsoft.com/office/drawing/2010/main" val="0"/>
              </a:ext>
            </a:extLst>
          </a:blip>
          <a:stretch>
            <a:fillRect/>
          </a:stretch>
        </p:blipFill>
        <p:spPr>
          <a:xfrm>
            <a:off x="6857848" y="4058757"/>
            <a:ext cx="5508752" cy="34540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1443</TotalTime>
  <Words>2415</Words>
  <Application>Microsoft Office PowerPoint</Application>
  <PresentationFormat>Grand écran</PresentationFormat>
  <Paragraphs>491</Paragraphs>
  <Slides>23</Slides>
  <Notes>23</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23</vt:i4>
      </vt:variant>
    </vt:vector>
  </HeadingPairs>
  <TitlesOfParts>
    <vt:vector size="29" baseType="lpstr">
      <vt:lpstr>Aptos Narrow</vt:lpstr>
      <vt:lpstr>Arial</vt:lpstr>
      <vt:lpstr>Calibri</vt:lpstr>
      <vt:lpstr>Montserrat</vt:lpstr>
      <vt:lpstr>Tahoma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Registre des Bénéficiaires Effectifs — Ministère de la Justice / ITIE Sénégal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de la qualité des données du Registre des Bénéficiaires Effectifs (RBE)</dc:title>
  <dc:subject>Audit de qualité des données 2021-2025</dc:subject>
  <dc:creator>Audit RBE 2021-2025</dc:creator>
  <cp:lastModifiedBy>sie rachid traore</cp:lastModifiedBy>
  <cp:revision>43</cp:revision>
  <cp:lastPrinted>2026-06-17T22:45:50Z</cp:lastPrinted>
  <dcterms:created xsi:type="dcterms:W3CDTF">2026-06-17T16:11:59Z</dcterms:created>
  <dcterms:modified xsi:type="dcterms:W3CDTF">2026-06-22T11:01:31Z</dcterms:modified>
</cp:coreProperties>
</file>