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snapToObjects="1">
      <p:cViewPr>
        <p:scale>
          <a:sx n="63" d="100"/>
          <a:sy n="63" d="100"/>
        </p:scale>
        <p:origin x="44"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73152"/>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746607" y="2350538"/>
            <a:ext cx="10698480" cy="1508105"/>
          </a:xfrm>
          <a:prstGeom prst="rect">
            <a:avLst/>
          </a:prstGeom>
          <a:noFill/>
        </p:spPr>
        <p:txBody>
          <a:bodyPr wrap="square">
            <a:spAutoFit/>
          </a:bodyPr>
          <a:lstStyle/>
          <a:p>
            <a:pPr algn="ctr">
              <a:defRPr sz="4600" b="1">
                <a:solidFill>
                  <a:srgbClr val="FFFFFF"/>
                </a:solidFill>
                <a:latin typeface="Calibri"/>
              </a:defRPr>
            </a:pPr>
            <a:r>
              <a:rPr dirty="0"/>
              <a:t>REGISTRE DES BÉNÉFICIAIRES EFFECTIFS</a:t>
            </a:r>
            <a:r>
              <a:rPr lang="en-US" dirty="0"/>
              <a:t> </a:t>
            </a:r>
            <a:r>
              <a:rPr dirty="0"/>
              <a:t>(RBE)</a:t>
            </a:r>
          </a:p>
        </p:txBody>
      </p:sp>
      <p:sp>
        <p:nvSpPr>
          <p:cNvPr id="5" name="TextBox 4"/>
          <p:cNvSpPr txBox="1"/>
          <p:nvPr/>
        </p:nvSpPr>
        <p:spPr>
          <a:xfrm>
            <a:off x="3276145" y="3934026"/>
            <a:ext cx="5609230" cy="707886"/>
          </a:xfrm>
          <a:prstGeom prst="rect">
            <a:avLst/>
          </a:prstGeom>
          <a:noFill/>
        </p:spPr>
        <p:txBody>
          <a:bodyPr wrap="square">
            <a:spAutoFit/>
          </a:bodyPr>
          <a:lstStyle/>
          <a:p>
            <a:pPr algn="ctr">
              <a:defRPr sz="2000">
                <a:solidFill>
                  <a:srgbClr val="FFFFFF"/>
                </a:solidFill>
                <a:latin typeface="Calibri"/>
              </a:defRPr>
            </a:pPr>
            <a:r>
              <a:rPr lang="fr-FR" sz="4000" dirty="0"/>
              <a:t>Analyse de la Qualité </a:t>
            </a:r>
          </a:p>
        </p:txBody>
      </p:sp>
      <p:sp>
        <p:nvSpPr>
          <p:cNvPr id="6" name="Rectangle 5"/>
          <p:cNvSpPr/>
          <p:nvPr/>
        </p:nvSpPr>
        <p:spPr>
          <a:xfrm>
            <a:off x="4114800" y="4903410"/>
            <a:ext cx="3931920" cy="27432"/>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1540" y="5669280"/>
            <a:ext cx="1558440" cy="523220"/>
          </a:xfrm>
          <a:prstGeom prst="rect">
            <a:avLst/>
          </a:prstGeom>
          <a:noFill/>
        </p:spPr>
        <p:txBody>
          <a:bodyPr wrap="none">
            <a:spAutoFit/>
          </a:bodyPr>
          <a:lstStyle/>
          <a:p>
            <a:pPr algn="ctr">
              <a:spcBef>
                <a:spcPts val="600"/>
              </a:spcBef>
              <a:defRPr sz="1200">
                <a:solidFill>
                  <a:srgbClr val="FFFFFF"/>
                </a:solidFill>
                <a:latin typeface="Calibri"/>
              </a:defRPr>
            </a:pPr>
            <a:r>
              <a:rPr sz="2800" dirty="0"/>
              <a:t>Mai 2026</a:t>
            </a:r>
          </a:p>
        </p:txBody>
      </p:sp>
      <p:sp>
        <p:nvSpPr>
          <p:cNvPr id="8" name="Rectangle 7"/>
          <p:cNvSpPr/>
          <p:nvPr/>
        </p:nvSpPr>
        <p:spPr>
          <a:xfrm>
            <a:off x="0" y="6784848"/>
            <a:ext cx="12191695" cy="73152"/>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chemeClr val="bg1">
                  <a:lumMod val="85000"/>
                </a:schemeClr>
              </a:solidFill>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548640" y="256032"/>
            <a:ext cx="11247120" cy="1159292"/>
          </a:xfrm>
          <a:prstGeom prst="rect">
            <a:avLst/>
          </a:prstGeom>
          <a:noFill/>
        </p:spPr>
        <p:txBody>
          <a:bodyPr wrap="square">
            <a:spAutoFit/>
          </a:bodyPr>
          <a:lstStyle/>
          <a:p>
            <a:pPr>
              <a:defRPr sz="3400" b="1">
                <a:solidFill>
                  <a:srgbClr val="FFFFFF"/>
                </a:solidFill>
                <a:latin typeface="Calibri"/>
              </a:defRPr>
            </a:pPr>
            <a:r>
              <a:rPr lang="fr-FR" dirty="0"/>
              <a:t>Présentation du Registre des Bénéficiaires Effectifs</a:t>
            </a:r>
          </a:p>
          <a:p>
            <a:pPr>
              <a:spcBef>
                <a:spcPts val="400"/>
              </a:spcBef>
              <a:defRPr sz="1600">
                <a:solidFill>
                  <a:srgbClr val="C4A41A"/>
                </a:solidFill>
                <a:latin typeface="Calibri"/>
              </a:defRPr>
            </a:pPr>
            <a:r>
              <a:rPr lang="fr-FR" sz="3200" dirty="0">
                <a:solidFill>
                  <a:srgbClr val="FFC000"/>
                </a:solidFill>
              </a:rPr>
              <a:t>Cadre général et objectifs</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609447" y="1508173"/>
            <a:ext cx="10972800" cy="3790781"/>
          </a:xfrm>
          <a:prstGeom prst="rect">
            <a:avLst/>
          </a:prstGeom>
          <a:noFill/>
        </p:spPr>
        <p:txBody>
          <a:bodyPr wrap="square">
            <a:spAutoFit/>
          </a:bodyPr>
          <a:lstStyle/>
          <a:p>
            <a:pPr>
              <a:spcAft>
                <a:spcPts val="600"/>
              </a:spcAft>
              <a:defRPr sz="1800" b="1">
                <a:solidFill>
                  <a:srgbClr val="1A2E5C"/>
                </a:solidFill>
                <a:latin typeface="Calibri"/>
              </a:defRPr>
            </a:pPr>
            <a:r>
              <a:rPr lang="fr-FR" sz="2800" dirty="0"/>
              <a:t>Définition et mission</a:t>
            </a:r>
          </a:p>
          <a:p>
            <a:pPr>
              <a:spcAft>
                <a:spcPts val="1400"/>
              </a:spcAft>
              <a:defRPr sz="1400">
                <a:solidFill>
                  <a:srgbClr val="333333"/>
                </a:solidFill>
                <a:latin typeface="Calibri"/>
              </a:defRPr>
            </a:pPr>
            <a:r>
              <a:rPr lang="fr-FR" sz="1600" dirty="0"/>
              <a:t>Le Registre des Bénéficiaires Effectifs (RBE) recense les personnes physiques qui possèdent ou contrôlent, directement ou indirectement, les entreprises intervenant dans la chaîne de valeur du secteur extractif au Sénégal. Il constitue un outil central de transparence dans la gestion des ressources naturelles.</a:t>
            </a:r>
          </a:p>
          <a:p>
            <a:pPr>
              <a:spcAft>
                <a:spcPts val="600"/>
              </a:spcAft>
              <a:defRPr sz="1800" b="1">
                <a:solidFill>
                  <a:srgbClr val="1A2E5C"/>
                </a:solidFill>
                <a:latin typeface="Calibri"/>
              </a:defRPr>
            </a:pPr>
            <a:r>
              <a:rPr lang="fr-FR" sz="2800" dirty="0"/>
              <a:t>Contexte international</a:t>
            </a:r>
          </a:p>
          <a:p>
            <a:pPr>
              <a:spcAft>
                <a:spcPts val="1400"/>
              </a:spcAft>
              <a:defRPr sz="1400">
                <a:solidFill>
                  <a:srgbClr val="333333"/>
                </a:solidFill>
                <a:latin typeface="Calibri"/>
              </a:defRPr>
            </a:pPr>
            <a:r>
              <a:rPr lang="fr-FR" dirty="0"/>
              <a:t>Le Sénégal, membre de l'Initiative pour la Transparence dans les Industries Extractives (ITIE) depuis 2013, s'est engagé à respecter l'Exigence 2.5 de la Norme ITIE 2023. Cette exigence impose la divulgation publique des bénéficiaires effectifs des entreprises extractives, incluant leur identité, leur degré de participation et les modalités d'exercice de ce contrôle.</a:t>
            </a:r>
          </a:p>
          <a:p>
            <a:pPr>
              <a:spcAft>
                <a:spcPts val="600"/>
              </a:spcAft>
              <a:defRPr sz="1800" b="1">
                <a:solidFill>
                  <a:srgbClr val="1A2E5C"/>
                </a:solidFill>
                <a:latin typeface="Calibri"/>
              </a:defRPr>
            </a:pPr>
            <a:r>
              <a:rPr lang="fr-FR" sz="2800" dirty="0"/>
              <a:t>Portée du registre</a:t>
            </a:r>
          </a:p>
          <a:p>
            <a:pPr>
              <a:spcAft>
                <a:spcPts val="1400"/>
              </a:spcAft>
              <a:defRPr sz="1400">
                <a:solidFill>
                  <a:srgbClr val="333333"/>
                </a:solidFill>
                <a:latin typeface="Calibri"/>
              </a:defRPr>
            </a:pPr>
            <a:r>
              <a:rPr lang="fr-FR" dirty="0"/>
              <a:t>Le RBE couvre les sociétés, entreprises individuelles, GIE, entreprenants et autres entités immatriculées ou déclarées au Sénégal intervenant dans les secteurs minier, pétrolier et gazier. Sont également concernées les entreprises opérant au Sénégal sans y être immatriculées.</a:t>
            </a:r>
          </a:p>
        </p:txBody>
      </p:sp>
      <p:sp>
        <p:nvSpPr>
          <p:cNvPr id="9" name="Rounded Rectangle 8"/>
          <p:cNvSpPr/>
          <p:nvPr/>
        </p:nvSpPr>
        <p:spPr>
          <a:xfrm>
            <a:off x="594360" y="5479252"/>
            <a:ext cx="10972800" cy="914400"/>
          </a:xfrm>
          <a:prstGeom prst="roundRect">
            <a:avLst/>
          </a:prstGeom>
          <a:solidFill>
            <a:srgbClr val="E3F2FD"/>
          </a:solidFill>
          <a:ln w="12700">
            <a:solidFill>
              <a:srgbClr val="1A2E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A2E5C"/>
                </a:solidFill>
                <a:latin typeface="Calibri"/>
              </a:defRPr>
            </a:pPr>
            <a:r>
              <a:rPr lang="fr-FR" sz="2000" dirty="0"/>
              <a:t>Seuil de déclaration : toute personne physique détenant directement ou indirectement au moins 2% du capital ou des droits de vote de la société déclarante doit être identifiée comme bénéficiaire effectif.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Cadre juridique du RBE</a:t>
            </a:r>
          </a:p>
          <a:p>
            <a:pPr>
              <a:spcBef>
                <a:spcPts val="400"/>
              </a:spcBef>
              <a:defRPr sz="1600">
                <a:solidFill>
                  <a:srgbClr val="C4A41A"/>
                </a:solidFill>
                <a:latin typeface="Calibri"/>
              </a:defRPr>
            </a:pPr>
            <a:r>
              <a:rPr lang="fr-FR" sz="3600" dirty="0">
                <a:solidFill>
                  <a:srgbClr val="FFC000"/>
                </a:solidFill>
              </a:rPr>
              <a:t>Les textes fondateurs et leurs évolutions</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aphicFrame>
        <p:nvGraphicFramePr>
          <p:cNvPr id="8" name="Table 7"/>
          <p:cNvGraphicFramePr>
            <a:graphicFrameLocks noGrp="1"/>
          </p:cNvGraphicFramePr>
          <p:nvPr>
            <p:extLst>
              <p:ext uri="{D42A27DB-BD31-4B8C-83A1-F6EECF244321}">
                <p14:modId xmlns:p14="http://schemas.microsoft.com/office/powerpoint/2010/main" val="1747001723"/>
              </p:ext>
            </p:extLst>
          </p:nvPr>
        </p:nvGraphicFramePr>
        <p:xfrm>
          <a:off x="548640" y="1645920"/>
          <a:ext cx="10972800" cy="4413685"/>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882737">
                <a:tc>
                  <a:txBody>
                    <a:bodyPr/>
                    <a:lstStyle/>
                    <a:p>
                      <a:pPr algn="ctr">
                        <a:defRPr sz="1300" b="1">
                          <a:solidFill>
                            <a:srgbClr val="FFFFFF"/>
                          </a:solidFill>
                          <a:latin typeface="Calibri"/>
                        </a:defRPr>
                      </a:pPr>
                      <a:r>
                        <a:rPr lang="fr-FR" sz="2000" dirty="0"/>
                        <a:t>Texte juridique</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cell3D prstMaterial="dkEdge">
                      <a:bevel/>
                      <a:lightRig rig="flood" dir="t"/>
                    </a:cell3D>
                    <a:solidFill>
                      <a:schemeClr val="bg2">
                        <a:lumMod val="50000"/>
                      </a:schemeClr>
                    </a:solidFill>
                  </a:tcPr>
                </a:tc>
                <a:tc>
                  <a:txBody>
                    <a:bodyPr/>
                    <a:lstStyle/>
                    <a:p>
                      <a:pPr algn="ctr">
                        <a:defRPr sz="1300" b="1">
                          <a:solidFill>
                            <a:srgbClr val="FFFFFF"/>
                          </a:solidFill>
                          <a:latin typeface="Calibri"/>
                        </a:defRPr>
                      </a:pPr>
                      <a:r>
                        <a:rPr lang="fr-FR" sz="2000" dirty="0"/>
                        <a:t>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cell3D prstMaterial="dkEdge">
                      <a:bevel/>
                      <a:lightRig rig="flood" dir="t"/>
                    </a:cell3D>
                    <a:solidFill>
                      <a:schemeClr val="bg2">
                        <a:lumMod val="50000"/>
                      </a:schemeClr>
                    </a:solidFill>
                  </a:tcPr>
                </a:tc>
                <a:tc>
                  <a:txBody>
                    <a:bodyPr/>
                    <a:lstStyle/>
                    <a:p>
                      <a:pPr algn="ctr">
                        <a:defRPr sz="1300" b="1">
                          <a:solidFill>
                            <a:srgbClr val="FFFFFF"/>
                          </a:solidFill>
                          <a:latin typeface="Calibri"/>
                        </a:defRPr>
                      </a:pPr>
                      <a:r>
                        <a:rPr lang="fr-FR" sz="2000" dirty="0"/>
                        <a:t>Objectif principal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cell3D prstMaterial="dkEdge">
                      <a:bevel/>
                      <a:lightRig rig="flood" dir="t"/>
                    </a:cell3D>
                    <a:solidFill>
                      <a:schemeClr val="bg2">
                        <a:lumMod val="50000"/>
                      </a:schemeClr>
                    </a:solidFill>
                  </a:tcPr>
                </a:tc>
                <a:tc>
                  <a:txBody>
                    <a:bodyPr/>
                    <a:lstStyle/>
                    <a:p>
                      <a:pPr algn="ctr">
                        <a:defRPr sz="1300" b="1">
                          <a:solidFill>
                            <a:srgbClr val="FFFFFF"/>
                          </a:solidFill>
                          <a:latin typeface="Calibri"/>
                        </a:defRPr>
                      </a:pPr>
                      <a:r>
                        <a:rPr lang="fr-FR" sz="2000" dirty="0"/>
                        <a:t>Statut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cell3D prstMaterial="dkEdge">
                      <a:bevel/>
                      <a:lightRig rig="flood" dir="t"/>
                    </a:cell3D>
                    <a:solidFill>
                      <a:schemeClr val="bg2">
                        <a:lumMod val="50000"/>
                      </a:schemeClr>
                    </a:solidFill>
                  </a:tcPr>
                </a:tc>
                <a:extLst>
                  <a:ext uri="{0D108BD9-81ED-4DB2-BD59-A6C34878D82A}">
                    <a16:rowId xmlns:a16="http://schemas.microsoft.com/office/drawing/2014/main" val="10000"/>
                  </a:ext>
                </a:extLst>
              </a:tr>
              <a:tr h="882737">
                <a:tc>
                  <a:txBody>
                    <a:bodyPr/>
                    <a:lstStyle/>
                    <a:p>
                      <a:pPr>
                        <a:defRPr sz="1100">
                          <a:solidFill>
                            <a:srgbClr val="333333"/>
                          </a:solidFill>
                          <a:latin typeface="Calibri"/>
                        </a:defRPr>
                      </a:pPr>
                      <a:r>
                        <a:rPr lang="fr-FR" sz="1600" dirty="0"/>
                        <a:t>Décret n° 2020-791</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19 mars 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Création du RBE auprès des greffes du RCCM, définition des bénéficiaires effectifs et des modalités de déclaration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Texte fondateur</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1"/>
                  </a:ext>
                </a:extLst>
              </a:tr>
              <a:tr h="882737">
                <a:tc>
                  <a:txBody>
                    <a:bodyPr/>
                    <a:lstStyle/>
                    <a:p>
                      <a:pPr>
                        <a:defRPr sz="1100">
                          <a:solidFill>
                            <a:srgbClr val="333333"/>
                          </a:solidFill>
                          <a:latin typeface="Calibri"/>
                        </a:defRPr>
                      </a:pPr>
                      <a:r>
                        <a:rPr lang="fr-FR" sz="1600" dirty="0"/>
                        <a:t>Arrêté </a:t>
                      </a:r>
                      <a:r>
                        <a:rPr lang="fr-FR" sz="1600" noProof="0" dirty="0"/>
                        <a:t>ministériel</a:t>
                      </a:r>
                      <a:r>
                        <a:rPr lang="fr-FR" sz="1600" dirty="0"/>
                        <a:t> n° 1598</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05 février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Établissement du formulaire de déclaration des bénéficiaires effectifs du secteur extractif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En vigueur</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2"/>
                  </a:ext>
                </a:extLst>
              </a:tr>
              <a:tr h="882737">
                <a:tc>
                  <a:txBody>
                    <a:bodyPr/>
                    <a:lstStyle/>
                    <a:p>
                      <a:pPr>
                        <a:defRPr sz="1100">
                          <a:solidFill>
                            <a:srgbClr val="333333"/>
                          </a:solidFill>
                          <a:latin typeface="Calibri"/>
                        </a:defRPr>
                      </a:pPr>
                      <a:r>
                        <a:rPr lang="fr-FR" sz="1600" dirty="0"/>
                        <a:t>Loi n° 2021-29 (LFR 2021)</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05 juillet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Intégration de l'obligation déclarative dans le Code général des impôts (articles 633 et 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600" dirty="0"/>
                        <a:t>En vigueur</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3"/>
                  </a:ext>
                </a:extLst>
              </a:tr>
              <a:tr h="882737">
                <a:tc>
                  <a:txBody>
                    <a:bodyPr/>
                    <a:lstStyle/>
                    <a:p>
                      <a:pPr>
                        <a:defRPr sz="1100">
                          <a:solidFill>
                            <a:srgbClr val="333333"/>
                          </a:solidFill>
                          <a:latin typeface="Calibri"/>
                        </a:defRPr>
                      </a:pPr>
                      <a:r>
                        <a:rPr lang="fr-FR" sz="1600" dirty="0"/>
                        <a:t>Décret n° 2025-1354</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27 août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Modification du décret 2020-791 : élargissement de l'accès public, renforcement de la transparence, alignement sur la Norme ITIE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a:lightRig rig="flood" dir="t"/>
                    </a:cell3D>
                    <a:solidFill>
                      <a:srgbClr val="F5F5F5"/>
                    </a:solidFill>
                  </a:tcPr>
                </a:tc>
                <a:tc>
                  <a:txBody>
                    <a:bodyPr/>
                    <a:lstStyle/>
                    <a:p>
                      <a:pPr>
                        <a:defRPr sz="1100">
                          <a:solidFill>
                            <a:srgbClr val="333333"/>
                          </a:solidFill>
                          <a:latin typeface="Calibri"/>
                        </a:defRPr>
                      </a:pPr>
                      <a:r>
                        <a:rPr lang="fr-FR" sz="1600" dirty="0"/>
                        <a:t>Publié au JO du 27 septembre 2025</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cell3D prstMaterial="dkEdge">
                      <a:bevel/>
                      <a:lightRig rig="flood" dir="t"/>
                    </a:cell3D>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Acteurs de la collecte et de la gestion</a:t>
            </a:r>
          </a:p>
          <a:p>
            <a:pPr>
              <a:spcBef>
                <a:spcPts val="400"/>
              </a:spcBef>
              <a:defRPr sz="1600">
                <a:solidFill>
                  <a:srgbClr val="C4A41A"/>
                </a:solidFill>
                <a:latin typeface="Calibri"/>
              </a:defRPr>
            </a:pPr>
            <a:r>
              <a:rPr lang="fr-FR" sz="3600" dirty="0">
                <a:solidFill>
                  <a:srgbClr val="FFC000"/>
                </a:solidFill>
                <a:latin typeface="Calibri"/>
              </a:rPr>
              <a:t>Rôles et responsabilités institutionnelles</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640080" y="1638106"/>
            <a:ext cx="5303520" cy="2194560"/>
          </a:xfrm>
          <a:prstGeom prst="roundRect">
            <a:avLst/>
          </a:prstGeom>
          <a:solidFill>
            <a:srgbClr val="E8F0FE"/>
          </a:solidFill>
          <a:ln w="19050">
            <a:solidFill>
              <a:srgbClr val="1A2E5C"/>
            </a:solidFill>
          </a:ln>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1A2E5C"/>
                </a:solidFill>
                <a:latin typeface="Calibri"/>
              </a:defRPr>
            </a:pPr>
            <a:r>
              <a:rPr lang="fr-FR" sz="2000" dirty="0"/>
              <a:t>MINISTÈRE DE LA JUSTICE</a:t>
            </a:r>
          </a:p>
          <a:p>
            <a:pPr>
              <a:spcAft>
                <a:spcPts val="300"/>
              </a:spcAft>
              <a:defRPr sz="1200">
                <a:solidFill>
                  <a:srgbClr val="333333"/>
                </a:solidFill>
                <a:latin typeface="Calibri"/>
              </a:defRPr>
            </a:pPr>
            <a:r>
              <a:rPr lang="fr-FR" sz="2000" dirty="0"/>
              <a:t>• Autorité de tutelle du RBE</a:t>
            </a:r>
          </a:p>
          <a:p>
            <a:pPr>
              <a:spcAft>
                <a:spcPts val="300"/>
              </a:spcAft>
              <a:defRPr sz="1200">
                <a:solidFill>
                  <a:srgbClr val="333333"/>
                </a:solidFill>
                <a:latin typeface="Calibri"/>
              </a:defRPr>
            </a:pPr>
            <a:r>
              <a:rPr lang="fr-FR" sz="2000" dirty="0"/>
              <a:t>• Le Garde des Sceaux fixe les modalités d'application par arrêté</a:t>
            </a:r>
          </a:p>
          <a:p>
            <a:pPr>
              <a:spcAft>
                <a:spcPts val="300"/>
              </a:spcAft>
              <a:defRPr sz="1200">
                <a:solidFill>
                  <a:srgbClr val="333333"/>
                </a:solidFill>
                <a:latin typeface="Calibri"/>
              </a:defRPr>
            </a:pPr>
            <a:r>
              <a:rPr lang="fr-FR" sz="2000" dirty="0"/>
              <a:t>• Supervision du juge commis au registre</a:t>
            </a:r>
          </a:p>
          <a:p>
            <a:pPr>
              <a:spcAft>
                <a:spcPts val="300"/>
              </a:spcAft>
              <a:defRPr sz="1200">
                <a:solidFill>
                  <a:srgbClr val="333333"/>
                </a:solidFill>
                <a:latin typeface="Calibri"/>
              </a:defRPr>
            </a:pPr>
            <a:r>
              <a:rPr lang="fr-FR" sz="2000" dirty="0"/>
              <a:t>• Définition du formulaire de déclaration</a:t>
            </a:r>
          </a:p>
        </p:txBody>
      </p:sp>
      <p:sp>
        <p:nvSpPr>
          <p:cNvPr id="9" name="Rounded Rectangle 8"/>
          <p:cNvSpPr/>
          <p:nvPr/>
        </p:nvSpPr>
        <p:spPr>
          <a:xfrm>
            <a:off x="6309360" y="1645920"/>
            <a:ext cx="5303520" cy="2194560"/>
          </a:xfrm>
          <a:prstGeom prst="roundRect">
            <a:avLst/>
          </a:prstGeom>
          <a:solidFill>
            <a:srgbClr val="E8F5E9"/>
          </a:solidFill>
          <a:ln w="19050">
            <a:solidFill>
              <a:srgbClr val="2E7D32"/>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2E7D32"/>
                </a:solidFill>
                <a:latin typeface="Calibri"/>
              </a:defRPr>
            </a:pPr>
            <a:r>
              <a:rPr lang="fr-FR" dirty="0"/>
              <a:t>GREFFES DU RCCM</a:t>
            </a:r>
          </a:p>
          <a:p>
            <a:pPr>
              <a:spcAft>
                <a:spcPts val="300"/>
              </a:spcAft>
              <a:defRPr sz="1200">
                <a:solidFill>
                  <a:srgbClr val="333333"/>
                </a:solidFill>
                <a:latin typeface="Calibri"/>
              </a:defRPr>
            </a:pPr>
            <a:r>
              <a:rPr lang="fr-FR" dirty="0"/>
              <a:t>• Collecte des déclarations auprès des entreprises</a:t>
            </a:r>
          </a:p>
          <a:p>
            <a:pPr>
              <a:spcAft>
                <a:spcPts val="300"/>
              </a:spcAft>
              <a:defRPr sz="1200">
                <a:solidFill>
                  <a:srgbClr val="333333"/>
                </a:solidFill>
                <a:latin typeface="Calibri"/>
              </a:defRPr>
            </a:pPr>
            <a:r>
              <a:rPr lang="fr-FR" dirty="0"/>
              <a:t>• Vérification de la conformité des formulaires</a:t>
            </a:r>
          </a:p>
          <a:p>
            <a:pPr>
              <a:spcAft>
                <a:spcPts val="300"/>
              </a:spcAft>
              <a:defRPr sz="1200">
                <a:solidFill>
                  <a:srgbClr val="333333"/>
                </a:solidFill>
                <a:latin typeface="Calibri"/>
              </a:defRPr>
            </a:pPr>
            <a:r>
              <a:rPr lang="fr-FR" dirty="0"/>
              <a:t>• Tenue du registre physique et informatique</a:t>
            </a:r>
          </a:p>
          <a:p>
            <a:pPr>
              <a:spcAft>
                <a:spcPts val="300"/>
              </a:spcAft>
              <a:defRPr sz="1200">
                <a:solidFill>
                  <a:srgbClr val="333333"/>
                </a:solidFill>
                <a:latin typeface="Calibri"/>
              </a:defRPr>
            </a:pPr>
            <a:r>
              <a:rPr lang="fr-FR" dirty="0"/>
              <a:t>• Transmission des données à la SN-ITIE pour publication</a:t>
            </a:r>
          </a:p>
        </p:txBody>
      </p:sp>
      <p:sp>
        <p:nvSpPr>
          <p:cNvPr id="10" name="Rounded Rectangle 9"/>
          <p:cNvSpPr/>
          <p:nvPr/>
        </p:nvSpPr>
        <p:spPr>
          <a:xfrm>
            <a:off x="457200" y="4023360"/>
            <a:ext cx="11155680" cy="2194560"/>
          </a:xfrm>
          <a:prstGeom prst="roundRect">
            <a:avLst/>
          </a:prstGeom>
          <a:solidFill>
            <a:srgbClr val="F5F5F5"/>
          </a:solidFill>
          <a:ln w="19050">
            <a:solidFill>
              <a:srgbClr val="C4A41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500" b="1">
                <a:solidFill>
                  <a:srgbClr val="1A2E5C"/>
                </a:solidFill>
                <a:latin typeface="Calibri"/>
              </a:defRPr>
            </a:pPr>
            <a:r>
              <a:rPr sz="1600" dirty="0"/>
              <a:t>AUTRES ACTEURS CONCERNÉS</a:t>
            </a:r>
          </a:p>
        </p:txBody>
      </p:sp>
      <p:sp>
        <p:nvSpPr>
          <p:cNvPr id="11" name="TextBox 10"/>
          <p:cNvSpPr txBox="1"/>
          <p:nvPr/>
        </p:nvSpPr>
        <p:spPr>
          <a:xfrm>
            <a:off x="594360" y="4083679"/>
            <a:ext cx="5029200" cy="1800493"/>
          </a:xfrm>
          <a:prstGeom prst="rect">
            <a:avLst/>
          </a:prstGeom>
          <a:noFill/>
        </p:spPr>
        <p:txBody>
          <a:bodyPr wrap="square">
            <a:spAutoFit/>
          </a:bodyPr>
          <a:lstStyle/>
          <a:p>
            <a:endParaRPr dirty="0"/>
          </a:p>
          <a:p>
            <a:pPr>
              <a:spcAft>
                <a:spcPts val="200"/>
              </a:spcAft>
              <a:defRPr sz="1200" b="1">
                <a:solidFill>
                  <a:srgbClr val="1A2E5C"/>
                </a:solidFill>
                <a:latin typeface="Calibri"/>
              </a:defRPr>
            </a:pPr>
            <a:r>
              <a:rPr sz="1400" dirty="0"/>
              <a:t>• </a:t>
            </a:r>
            <a:r>
              <a:rPr lang="fr-FR" sz="1400" dirty="0"/>
              <a:t>SN-ITIE</a:t>
            </a:r>
          </a:p>
          <a:p>
            <a:pPr>
              <a:spcAft>
                <a:spcPts val="600"/>
              </a:spcAft>
              <a:defRPr sz="1100">
                <a:solidFill>
                  <a:srgbClr val="333333"/>
                </a:solidFill>
                <a:latin typeface="Calibri"/>
              </a:defRPr>
            </a:pPr>
            <a:r>
              <a:rPr lang="fr-FR" sz="1200" dirty="0"/>
              <a:t>  Publication annuelle des données dans les rapports ITIE</a:t>
            </a:r>
          </a:p>
          <a:p>
            <a:pPr>
              <a:spcAft>
                <a:spcPts val="200"/>
              </a:spcAft>
              <a:defRPr sz="1200" b="1">
                <a:solidFill>
                  <a:srgbClr val="1A2E5C"/>
                </a:solidFill>
                <a:latin typeface="Calibri"/>
              </a:defRPr>
            </a:pPr>
            <a:r>
              <a:rPr lang="fr-FR" dirty="0"/>
              <a:t>• </a:t>
            </a:r>
            <a:r>
              <a:rPr lang="fr-FR" sz="1400" dirty="0"/>
              <a:t>Ministères des Mines et du Pétrole</a:t>
            </a:r>
          </a:p>
          <a:p>
            <a:pPr>
              <a:spcAft>
                <a:spcPts val="600"/>
              </a:spcAft>
              <a:defRPr sz="1100">
                <a:solidFill>
                  <a:srgbClr val="333333"/>
                </a:solidFill>
                <a:latin typeface="Calibri"/>
              </a:defRPr>
            </a:pPr>
            <a:r>
              <a:rPr lang="fr-FR" sz="1200" dirty="0"/>
              <a:t>  Circulaires d'invitation à la déclaration, suivi sectoriel</a:t>
            </a:r>
          </a:p>
          <a:p>
            <a:pPr>
              <a:spcAft>
                <a:spcPts val="200"/>
              </a:spcAft>
              <a:defRPr sz="1200" b="1">
                <a:solidFill>
                  <a:srgbClr val="1A2E5C"/>
                </a:solidFill>
                <a:latin typeface="Calibri"/>
              </a:defRPr>
            </a:pPr>
            <a:r>
              <a:rPr lang="fr-FR" sz="1400" dirty="0"/>
              <a:t>• Direction Générale des Impôts</a:t>
            </a:r>
          </a:p>
          <a:p>
            <a:pPr>
              <a:spcAft>
                <a:spcPts val="600"/>
              </a:spcAft>
              <a:defRPr sz="1100">
                <a:solidFill>
                  <a:srgbClr val="333333"/>
                </a:solidFill>
                <a:latin typeface="Calibri"/>
              </a:defRPr>
            </a:pPr>
            <a:r>
              <a:rPr lang="fr-FR" sz="1200" dirty="0"/>
              <a:t>  Registre fiscal des bénéficiaires effectifs (CGI art. 633 et 667)</a:t>
            </a:r>
          </a:p>
        </p:txBody>
      </p:sp>
      <p:sp>
        <p:nvSpPr>
          <p:cNvPr id="12" name="TextBox 11"/>
          <p:cNvSpPr txBox="1"/>
          <p:nvPr/>
        </p:nvSpPr>
        <p:spPr>
          <a:xfrm>
            <a:off x="7451903" y="4078224"/>
            <a:ext cx="5029200" cy="1785104"/>
          </a:xfrm>
          <a:prstGeom prst="rect">
            <a:avLst/>
          </a:prstGeom>
          <a:noFill/>
        </p:spPr>
        <p:txBody>
          <a:bodyPr wrap="square">
            <a:spAutoFit/>
          </a:bodyPr>
          <a:lstStyle/>
          <a:p>
            <a:endParaRPr dirty="0"/>
          </a:p>
          <a:p>
            <a:pPr>
              <a:spcAft>
                <a:spcPts val="200"/>
              </a:spcAft>
              <a:defRPr sz="1200" b="1">
                <a:solidFill>
                  <a:srgbClr val="1A2E5C"/>
                </a:solidFill>
                <a:latin typeface="Calibri"/>
              </a:defRPr>
            </a:pPr>
            <a:r>
              <a:rPr sz="1400" dirty="0"/>
              <a:t>• </a:t>
            </a:r>
            <a:r>
              <a:rPr lang="fr-FR" sz="1400" dirty="0"/>
              <a:t>Entreprises extractives</a:t>
            </a:r>
          </a:p>
          <a:p>
            <a:pPr>
              <a:spcAft>
                <a:spcPts val="600"/>
              </a:spcAft>
              <a:defRPr sz="1100">
                <a:solidFill>
                  <a:srgbClr val="333333"/>
                </a:solidFill>
                <a:latin typeface="Calibri"/>
              </a:defRPr>
            </a:pPr>
            <a:r>
              <a:rPr lang="fr-FR" sz="1200" dirty="0"/>
              <a:t>  Obligation de déclarer leurs bénéficiaires effectifs</a:t>
            </a:r>
          </a:p>
          <a:p>
            <a:pPr>
              <a:spcAft>
                <a:spcPts val="200"/>
              </a:spcAft>
              <a:defRPr sz="1200" b="1">
                <a:solidFill>
                  <a:srgbClr val="1A2E5C"/>
                </a:solidFill>
                <a:latin typeface="Calibri"/>
              </a:defRPr>
            </a:pPr>
            <a:r>
              <a:rPr lang="fr-FR" sz="1400" dirty="0"/>
              <a:t>• Société civile / Journalistes</a:t>
            </a:r>
          </a:p>
          <a:p>
            <a:pPr>
              <a:spcAft>
                <a:spcPts val="600"/>
              </a:spcAft>
              <a:defRPr sz="1100">
                <a:solidFill>
                  <a:srgbClr val="333333"/>
                </a:solidFill>
                <a:latin typeface="Calibri"/>
              </a:defRPr>
            </a:pPr>
            <a:r>
              <a:rPr lang="fr-FR" sz="1200" dirty="0"/>
              <a:t>  Accès aux données pour veille et investigation</a:t>
            </a:r>
          </a:p>
          <a:p>
            <a:pPr>
              <a:spcAft>
                <a:spcPts val="200"/>
              </a:spcAft>
              <a:defRPr sz="1200" b="1">
                <a:solidFill>
                  <a:srgbClr val="1A2E5C"/>
                </a:solidFill>
                <a:latin typeface="Calibri"/>
              </a:defRPr>
            </a:pPr>
            <a:r>
              <a:rPr lang="fr-FR" sz="1400" dirty="0"/>
              <a:t>• GAFI</a:t>
            </a:r>
          </a:p>
          <a:p>
            <a:pPr>
              <a:spcAft>
                <a:spcPts val="600"/>
              </a:spcAft>
              <a:defRPr sz="1100">
                <a:solidFill>
                  <a:srgbClr val="333333"/>
                </a:solidFill>
                <a:latin typeface="Calibri"/>
              </a:defRPr>
            </a:pPr>
            <a:r>
              <a:rPr lang="fr-FR" sz="1200" dirty="0"/>
              <a:t>  Surveillance renforcée, recommandations de mise à jour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305"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Formulaire de déclaration des bénéficiaires effectifs</a:t>
            </a:r>
          </a:p>
          <a:p>
            <a:pPr>
              <a:spcBef>
                <a:spcPts val="400"/>
              </a:spcBef>
              <a:defRPr sz="1600">
                <a:solidFill>
                  <a:srgbClr val="C4A41A"/>
                </a:solidFill>
                <a:latin typeface="Calibri"/>
              </a:defRPr>
            </a:pPr>
            <a:r>
              <a:rPr lang="fr-FR" sz="3600" dirty="0">
                <a:solidFill>
                  <a:srgbClr val="FFC000"/>
                </a:solidFill>
                <a:latin typeface="Calibri"/>
              </a:rPr>
              <a:t>Structure et contenu du document</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548640" y="1554480"/>
            <a:ext cx="11797781" cy="584775"/>
          </a:xfrm>
          <a:prstGeom prst="rect">
            <a:avLst/>
          </a:prstGeom>
          <a:noFill/>
        </p:spPr>
        <p:txBody>
          <a:bodyPr wrap="none">
            <a:spAutoFit/>
          </a:bodyPr>
          <a:lstStyle/>
          <a:p>
            <a:pPr>
              <a:defRPr sz="1300">
                <a:solidFill>
                  <a:srgbClr val="333333"/>
                </a:solidFill>
                <a:latin typeface="Calibri"/>
              </a:defRPr>
            </a:pPr>
            <a:r>
              <a:rPr lang="fr-FR" sz="1600" dirty="0"/>
              <a:t>L'Arrêté ministériel n° 1598 du 05 février 2021 établit le formulaire obligatoire de déclaration des bénéficiaires effectifs du secteur extractif. </a:t>
            </a:r>
            <a:br>
              <a:rPr lang="fr-FR" sz="1600" dirty="0"/>
            </a:br>
            <a:r>
              <a:rPr lang="fr-FR" sz="1600" dirty="0"/>
              <a:t>Ce document comporte deux parties principales :</a:t>
            </a:r>
          </a:p>
        </p:txBody>
      </p:sp>
      <p:sp>
        <p:nvSpPr>
          <p:cNvPr id="9" name="Rounded Rectangle 8"/>
          <p:cNvSpPr/>
          <p:nvPr/>
        </p:nvSpPr>
        <p:spPr>
          <a:xfrm>
            <a:off x="396164" y="2204644"/>
            <a:ext cx="5577840" cy="4206241"/>
          </a:xfrm>
          <a:prstGeom prst="roundRect">
            <a:avLst/>
          </a:prstGeom>
          <a:solidFill>
            <a:srgbClr val="E3F2FD"/>
          </a:solidFill>
          <a:ln w="12700">
            <a:solidFill>
              <a:srgbClr val="1A2E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1A2E5C"/>
                </a:solidFill>
                <a:latin typeface="Calibri"/>
              </a:defRPr>
            </a:pPr>
            <a:r>
              <a:rPr lang="fr-FR" sz="1600" dirty="0"/>
              <a:t>PARTIE 1 : INFORMATIONS SUR L'ENTITÉ DÉCLARANTE</a:t>
            </a:r>
          </a:p>
          <a:p>
            <a:pPr>
              <a:spcAft>
                <a:spcPts val="200"/>
              </a:spcAft>
              <a:defRPr sz="1100">
                <a:solidFill>
                  <a:srgbClr val="333333"/>
                </a:solidFill>
                <a:latin typeface="Calibri"/>
              </a:defRPr>
            </a:pPr>
            <a:r>
              <a:rPr lang="fr-FR" sz="1400" dirty="0"/>
              <a:t>• Dénomination sociale et forme juridique</a:t>
            </a:r>
          </a:p>
          <a:p>
            <a:pPr>
              <a:spcAft>
                <a:spcPts val="200"/>
              </a:spcAft>
              <a:defRPr sz="1100">
                <a:solidFill>
                  <a:srgbClr val="333333"/>
                </a:solidFill>
                <a:latin typeface="Calibri"/>
              </a:defRPr>
            </a:pPr>
            <a:r>
              <a:rPr lang="fr-FR" sz="1400" dirty="0"/>
              <a:t>• NINEA et numéro RCCM</a:t>
            </a:r>
          </a:p>
          <a:p>
            <a:pPr>
              <a:spcAft>
                <a:spcPts val="200"/>
              </a:spcAft>
              <a:defRPr sz="1100">
                <a:solidFill>
                  <a:srgbClr val="333333"/>
                </a:solidFill>
                <a:latin typeface="Calibri"/>
              </a:defRPr>
            </a:pPr>
            <a:r>
              <a:rPr lang="fr-FR" sz="1400" dirty="0"/>
              <a:t>• Pays / État et greffe d'enregistrement</a:t>
            </a:r>
          </a:p>
          <a:p>
            <a:pPr>
              <a:spcAft>
                <a:spcPts val="200"/>
              </a:spcAft>
              <a:defRPr sz="1100">
                <a:solidFill>
                  <a:srgbClr val="333333"/>
                </a:solidFill>
                <a:latin typeface="Calibri"/>
              </a:defRPr>
            </a:pPr>
            <a:r>
              <a:rPr lang="fr-FR" sz="1400" dirty="0"/>
              <a:t>• Raison sociale et siège social</a:t>
            </a:r>
          </a:p>
          <a:p>
            <a:pPr>
              <a:spcAft>
                <a:spcPts val="200"/>
              </a:spcAft>
              <a:defRPr sz="1100">
                <a:solidFill>
                  <a:srgbClr val="333333"/>
                </a:solidFill>
                <a:latin typeface="Calibri"/>
              </a:defRPr>
            </a:pPr>
            <a:r>
              <a:rPr lang="fr-FR" sz="1400" dirty="0"/>
              <a:t>• Statut boursier (cotée / non cotée / filiale)</a:t>
            </a:r>
          </a:p>
          <a:p>
            <a:pPr>
              <a:spcAft>
                <a:spcPts val="200"/>
              </a:spcAft>
              <a:defRPr sz="1100">
                <a:solidFill>
                  <a:srgbClr val="333333"/>
                </a:solidFill>
                <a:latin typeface="Calibri"/>
              </a:defRPr>
            </a:pPr>
            <a:r>
              <a:rPr lang="fr-FR" sz="1400" dirty="0"/>
              <a:t>• Nom de la maison mère cotée (le cas échéant)</a:t>
            </a:r>
          </a:p>
          <a:p>
            <a:pPr>
              <a:spcAft>
                <a:spcPts val="200"/>
              </a:spcAft>
              <a:defRPr sz="1100">
                <a:solidFill>
                  <a:srgbClr val="333333"/>
                </a:solidFill>
                <a:latin typeface="Calibri"/>
              </a:defRPr>
            </a:pPr>
            <a:r>
              <a:rPr lang="fr-FR" sz="1400" dirty="0"/>
              <a:t>• Pourcentage de participation et numéro ISIN</a:t>
            </a:r>
          </a:p>
          <a:p>
            <a:pPr>
              <a:spcAft>
                <a:spcPts val="200"/>
              </a:spcAft>
              <a:defRPr sz="1100">
                <a:solidFill>
                  <a:srgbClr val="333333"/>
                </a:solidFill>
                <a:latin typeface="Calibri"/>
              </a:defRPr>
            </a:pPr>
            <a:r>
              <a:rPr lang="fr-FR" sz="1400" dirty="0"/>
              <a:t>• Statut d'entreprise d'État (oui / non)</a:t>
            </a:r>
          </a:p>
        </p:txBody>
      </p:sp>
      <p:sp>
        <p:nvSpPr>
          <p:cNvPr id="10" name="Rounded Rectangle 9"/>
          <p:cNvSpPr/>
          <p:nvPr/>
        </p:nvSpPr>
        <p:spPr>
          <a:xfrm>
            <a:off x="6370167" y="2166907"/>
            <a:ext cx="5486400" cy="4206240"/>
          </a:xfrm>
          <a:prstGeom prst="roundRect">
            <a:avLst/>
          </a:prstGeom>
          <a:solidFill>
            <a:srgbClr val="FDF2E3"/>
          </a:solidFill>
          <a:ln w="12700">
            <a:solidFill>
              <a:srgbClr val="C4A41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1A2E5C"/>
                </a:solidFill>
                <a:latin typeface="Calibri"/>
              </a:defRPr>
            </a:pPr>
            <a:r>
              <a:rPr lang="fr-FR" dirty="0"/>
              <a:t>PARTIE 2 : INFORMATIONS SUR LE BÉNÉFICIAIRE EFFECTIF</a:t>
            </a:r>
          </a:p>
          <a:p>
            <a:pPr>
              <a:spcAft>
                <a:spcPts val="200"/>
              </a:spcAft>
              <a:defRPr sz="1100">
                <a:solidFill>
                  <a:srgbClr val="333333"/>
                </a:solidFill>
                <a:latin typeface="Calibri"/>
              </a:defRPr>
            </a:pPr>
            <a:r>
              <a:rPr lang="fr-FR" dirty="0"/>
              <a:t>• Identité complète (nom, prénoms, surnom)</a:t>
            </a:r>
          </a:p>
          <a:p>
            <a:pPr>
              <a:spcAft>
                <a:spcPts val="200"/>
              </a:spcAft>
              <a:defRPr sz="1100">
                <a:solidFill>
                  <a:srgbClr val="333333"/>
                </a:solidFill>
                <a:latin typeface="Calibri"/>
              </a:defRPr>
            </a:pPr>
            <a:r>
              <a:rPr lang="fr-FR" dirty="0"/>
              <a:t>• Date et lieu de naissance</a:t>
            </a:r>
          </a:p>
          <a:p>
            <a:pPr>
              <a:spcAft>
                <a:spcPts val="200"/>
              </a:spcAft>
              <a:defRPr sz="1100">
                <a:solidFill>
                  <a:srgbClr val="333333"/>
                </a:solidFill>
                <a:latin typeface="Calibri"/>
              </a:defRPr>
            </a:pPr>
            <a:r>
              <a:rPr lang="fr-FR" dirty="0"/>
              <a:t>• Nationalité(s) et pays de résidence</a:t>
            </a:r>
          </a:p>
          <a:p>
            <a:pPr>
              <a:spcAft>
                <a:spcPts val="200"/>
              </a:spcAft>
              <a:defRPr sz="1100">
                <a:solidFill>
                  <a:srgbClr val="333333"/>
                </a:solidFill>
                <a:latin typeface="Calibri"/>
              </a:defRPr>
            </a:pPr>
            <a:r>
              <a:rPr lang="fr-FR" dirty="0"/>
              <a:t>• N° CNI / Passeport et sexe</a:t>
            </a:r>
          </a:p>
          <a:p>
            <a:pPr>
              <a:spcAft>
                <a:spcPts val="200"/>
              </a:spcAft>
              <a:defRPr sz="1100">
                <a:solidFill>
                  <a:srgbClr val="333333"/>
                </a:solidFill>
                <a:latin typeface="Calibri"/>
              </a:defRPr>
            </a:pPr>
            <a:r>
              <a:rPr lang="fr-FR" dirty="0"/>
              <a:t>• Adresse(s) et adresse professionnelle</a:t>
            </a:r>
          </a:p>
          <a:p>
            <a:pPr>
              <a:spcAft>
                <a:spcPts val="200"/>
              </a:spcAft>
              <a:defRPr sz="1100">
                <a:solidFill>
                  <a:srgbClr val="333333"/>
                </a:solidFill>
                <a:latin typeface="Calibri"/>
              </a:defRPr>
            </a:pPr>
            <a:r>
              <a:rPr lang="fr-FR" dirty="0"/>
              <a:t>• Statut de Personne Politiquement Exposée (PPE)</a:t>
            </a:r>
          </a:p>
          <a:p>
            <a:pPr>
              <a:spcAft>
                <a:spcPts val="200"/>
              </a:spcAft>
              <a:defRPr sz="1100">
                <a:solidFill>
                  <a:srgbClr val="333333"/>
                </a:solidFill>
                <a:latin typeface="Calibri"/>
              </a:defRPr>
            </a:pPr>
            <a:r>
              <a:rPr lang="fr-FR" dirty="0"/>
              <a:t>• Catégorie et fonction de la PPE</a:t>
            </a:r>
          </a:p>
          <a:p>
            <a:pPr>
              <a:spcAft>
                <a:spcPts val="200"/>
              </a:spcAft>
              <a:defRPr sz="1100">
                <a:solidFill>
                  <a:srgbClr val="333333"/>
                </a:solidFill>
                <a:latin typeface="Calibri"/>
              </a:defRPr>
            </a:pPr>
            <a:r>
              <a:rPr lang="fr-FR" dirty="0"/>
              <a:t>• Dates de début et fin d'exercice</a:t>
            </a:r>
          </a:p>
          <a:p>
            <a:pPr>
              <a:spcAft>
                <a:spcPts val="200"/>
              </a:spcAft>
              <a:defRPr sz="1100">
                <a:solidFill>
                  <a:srgbClr val="333333"/>
                </a:solidFill>
                <a:latin typeface="Calibri"/>
              </a:defRPr>
            </a:pPr>
            <a:r>
              <a:rPr lang="fr-FR" dirty="0"/>
              <a:t>• Nature des relations avec la PPE</a:t>
            </a:r>
          </a:p>
          <a:p>
            <a:pPr>
              <a:spcAft>
                <a:spcPts val="200"/>
              </a:spcAft>
              <a:defRPr sz="1100">
                <a:solidFill>
                  <a:srgbClr val="333333"/>
                </a:solidFill>
                <a:latin typeface="Calibri"/>
              </a:defRPr>
            </a:pPr>
            <a:r>
              <a:rPr lang="fr-FR" dirty="0"/>
              <a:t>• Parts sociales directes (≥ 2%) et droits de vote</a:t>
            </a:r>
          </a:p>
          <a:p>
            <a:pPr>
              <a:spcAft>
                <a:spcPts val="200"/>
              </a:spcAft>
              <a:defRPr sz="1100">
                <a:solidFill>
                  <a:srgbClr val="333333"/>
                </a:solidFill>
                <a:latin typeface="Calibri"/>
              </a:defRPr>
            </a:pPr>
            <a:r>
              <a:rPr lang="fr-FR" dirty="0"/>
              <a:t>• Parts sociales indirectes et droits de vote indirects</a:t>
            </a:r>
          </a:p>
          <a:p>
            <a:pPr>
              <a:spcAft>
                <a:spcPts val="200"/>
              </a:spcAft>
              <a:defRPr sz="1100">
                <a:solidFill>
                  <a:srgbClr val="333333"/>
                </a:solidFill>
                <a:latin typeface="Calibri"/>
              </a:defRPr>
            </a:pPr>
            <a:r>
              <a:rPr lang="fr-FR" dirty="0"/>
              <a:t>• Date d'acquisition de la propriété</a:t>
            </a:r>
          </a:p>
          <a:p>
            <a:pPr>
              <a:spcAft>
                <a:spcPts val="200"/>
              </a:spcAft>
              <a:defRPr sz="1100">
                <a:solidFill>
                  <a:srgbClr val="333333"/>
                </a:solidFill>
                <a:latin typeface="Calibri"/>
              </a:defRPr>
            </a:pPr>
            <a:r>
              <a:rPr lang="fr-FR" dirty="0"/>
              <a:t>• Autres moyens de contrôle exercé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dirty="0"/>
              <a:t>Variables de la base RBE</a:t>
            </a:r>
          </a:p>
          <a:p>
            <a:pPr>
              <a:spcBef>
                <a:spcPts val="400"/>
              </a:spcBef>
              <a:defRPr sz="1600">
                <a:solidFill>
                  <a:srgbClr val="C4A41A"/>
                </a:solidFill>
                <a:latin typeface="Calibri"/>
              </a:defRPr>
            </a:pPr>
            <a:r>
              <a:rPr sz="3600" dirty="0">
                <a:solidFill>
                  <a:srgbClr val="FFC000"/>
                </a:solidFill>
                <a:latin typeface="Calibri"/>
              </a:rPr>
              <a:t>Structure des </a:t>
            </a:r>
            <a:r>
              <a:rPr sz="3600" dirty="0" err="1">
                <a:solidFill>
                  <a:srgbClr val="FFC000"/>
                </a:solidFill>
                <a:latin typeface="Calibri"/>
              </a:rPr>
              <a:t>données</a:t>
            </a:r>
            <a:r>
              <a:rPr sz="3600" dirty="0">
                <a:solidFill>
                  <a:srgbClr val="FFC000"/>
                </a:solidFill>
                <a:latin typeface="Calibri"/>
              </a:rPr>
              <a:t> </a:t>
            </a:r>
            <a:r>
              <a:rPr sz="3600" dirty="0" err="1">
                <a:solidFill>
                  <a:srgbClr val="FFC000"/>
                </a:solidFill>
                <a:latin typeface="Calibri"/>
              </a:rPr>
              <a:t>collectées</a:t>
            </a:r>
            <a:r>
              <a:rPr sz="3600" dirty="0">
                <a:solidFill>
                  <a:srgbClr val="FFC000"/>
                </a:solidFill>
                <a:latin typeface="Calibri"/>
              </a:rPr>
              <a:t> (2021-2025)</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54480"/>
            <a:ext cx="8806193" cy="338554"/>
          </a:xfrm>
          <a:prstGeom prst="rect">
            <a:avLst/>
          </a:prstGeom>
          <a:noFill/>
        </p:spPr>
        <p:txBody>
          <a:bodyPr wrap="none">
            <a:spAutoFit/>
          </a:bodyPr>
          <a:lstStyle/>
          <a:p>
            <a:pPr>
              <a:defRPr sz="1300">
                <a:solidFill>
                  <a:srgbClr val="333333"/>
                </a:solidFill>
                <a:latin typeface="Calibri"/>
              </a:defRPr>
            </a:pPr>
            <a:r>
              <a:rPr lang="fr-FR" dirty="0"/>
              <a:t>La base RBE mobilise 12 variables, couvrant 628 enregistrements de bénéficiaires effectifs pour 317 entreprises sur 5 exercices</a:t>
            </a:r>
            <a:r>
              <a:rPr sz="1600" dirty="0"/>
              <a:t>.</a:t>
            </a:r>
          </a:p>
        </p:txBody>
      </p:sp>
      <p:graphicFrame>
        <p:nvGraphicFramePr>
          <p:cNvPr id="9" name="Table 8"/>
          <p:cNvGraphicFramePr>
            <a:graphicFrameLocks noGrp="1"/>
          </p:cNvGraphicFramePr>
          <p:nvPr>
            <p:extLst>
              <p:ext uri="{D42A27DB-BD31-4B8C-83A1-F6EECF244321}">
                <p14:modId xmlns:p14="http://schemas.microsoft.com/office/powerpoint/2010/main" val="108239198"/>
              </p:ext>
            </p:extLst>
          </p:nvPr>
        </p:nvGraphicFramePr>
        <p:xfrm>
          <a:off x="548640" y="2011680"/>
          <a:ext cx="10972800" cy="438912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37625">
                <a:tc>
                  <a:txBody>
                    <a:bodyPr/>
                    <a:lstStyle/>
                    <a:p>
                      <a:pPr algn="ctr">
                        <a:defRPr sz="1200" b="1">
                          <a:solidFill>
                            <a:srgbClr val="FFFFFF"/>
                          </a:solidFill>
                          <a:latin typeface="Calibri"/>
                        </a:defRPr>
                      </a:pPr>
                      <a:r>
                        <a:rPr sz="1200" dirty="0"/>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1A2E5C"/>
                    </a:solidFill>
                  </a:tcPr>
                </a:tc>
                <a:tc>
                  <a:txBody>
                    <a:bodyPr/>
                    <a:lstStyle/>
                    <a:p>
                      <a:pPr algn="ctr">
                        <a:defRPr sz="1200" b="1">
                          <a:solidFill>
                            <a:srgbClr val="FFFFFF"/>
                          </a:solidFill>
                          <a:latin typeface="Calibri"/>
                        </a:defRPr>
                      </a:pPr>
                      <a:r>
                        <a:rPr sz="120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1A2E5C"/>
                    </a:solidFill>
                  </a:tcPr>
                </a:tc>
                <a:tc>
                  <a:txBody>
                    <a:bodyPr/>
                    <a:lstStyle/>
                    <a:p>
                      <a:pPr algn="ctr">
                        <a:defRPr sz="1200" b="1">
                          <a:solidFill>
                            <a:srgbClr val="FFFFFF"/>
                          </a:solidFill>
                          <a:latin typeface="Calibri"/>
                        </a:defRPr>
                      </a:pPr>
                      <a:r>
                        <a:rPr sz="120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1A2E5C"/>
                    </a:solidFill>
                  </a:tcPr>
                </a:tc>
                <a:extLst>
                  <a:ext uri="{0D108BD9-81ED-4DB2-BD59-A6C34878D82A}">
                    <a16:rowId xmlns:a16="http://schemas.microsoft.com/office/drawing/2014/main" val="10000"/>
                  </a:ext>
                </a:extLst>
              </a:tr>
              <a:tr h="337625">
                <a:tc>
                  <a:txBody>
                    <a:bodyPr/>
                    <a:lstStyle/>
                    <a:p>
                      <a:pPr>
                        <a:defRPr sz="1100">
                          <a:solidFill>
                            <a:srgbClr val="333333"/>
                          </a:solidFill>
                          <a:latin typeface="Calibri"/>
                        </a:defRPr>
                      </a:pPr>
                      <a:r>
                        <a:rPr lang="fr-FR" sz="1200" noProof="0" dirty="0"/>
                        <a:t>Région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Région d'implantation de l'entreprise (9 régions)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1"/>
                  </a:ext>
                </a:extLst>
              </a:tr>
              <a:tr h="337625">
                <a:tc>
                  <a:txBody>
                    <a:bodyPr/>
                    <a:lstStyle/>
                    <a:p>
                      <a:pPr>
                        <a:defRPr sz="1100">
                          <a:solidFill>
                            <a:srgbClr val="333333"/>
                          </a:solidFill>
                          <a:latin typeface="Calibri"/>
                        </a:defRPr>
                      </a:pPr>
                      <a:r>
                        <a:rPr lang="fr-FR" sz="1200" noProof="0" dirty="0"/>
                        <a:t>Dénomination Sociale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Nom commercial de l'entité déclarante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2"/>
                  </a:ext>
                </a:extLst>
              </a:tr>
              <a:tr h="337625">
                <a:tc>
                  <a:txBody>
                    <a:bodyPr/>
                    <a:lstStyle/>
                    <a:p>
                      <a:pPr>
                        <a:defRPr sz="1100">
                          <a:solidFill>
                            <a:srgbClr val="333333"/>
                          </a:solidFill>
                          <a:latin typeface="Calibri"/>
                        </a:defRPr>
                      </a:pPr>
                      <a:r>
                        <a:rPr lang="fr-FR" sz="1200" noProof="0" dirty="0"/>
                        <a:t>Greffe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Greffe / organe d'enregistrement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3"/>
                  </a:ext>
                </a:extLst>
              </a:tr>
              <a:tr h="337625">
                <a:tc>
                  <a:txBody>
                    <a:bodyPr/>
                    <a:lstStyle/>
                    <a:p>
                      <a:pPr>
                        <a:defRPr sz="1100">
                          <a:solidFill>
                            <a:srgbClr val="333333"/>
                          </a:solidFill>
                          <a:latin typeface="Calibri"/>
                        </a:defRPr>
                      </a:pPr>
                      <a:r>
                        <a:rPr lang="fr-FR" sz="1200" noProof="0" dirty="0"/>
                        <a:t>Prénom et Nom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Identité complète du bénéficiaire effectif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4"/>
                  </a:ext>
                </a:extLst>
              </a:tr>
              <a:tr h="337625">
                <a:tc>
                  <a:txBody>
                    <a:bodyPr/>
                    <a:lstStyle/>
                    <a:p>
                      <a:pPr>
                        <a:defRPr sz="1100">
                          <a:solidFill>
                            <a:srgbClr val="333333"/>
                          </a:solidFill>
                          <a:latin typeface="Calibri"/>
                        </a:defRPr>
                      </a:pPr>
                      <a:r>
                        <a:rPr lang="fr-FR" sz="1200" noProof="0" dirty="0"/>
                        <a:t>Nationalité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Nationalité(s) du bénéficiaire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5"/>
                  </a:ext>
                </a:extLst>
              </a:tr>
              <a:tr h="337625">
                <a:tc>
                  <a:txBody>
                    <a:bodyPr/>
                    <a:lstStyle/>
                    <a:p>
                      <a:pPr>
                        <a:defRPr sz="1100">
                          <a:solidFill>
                            <a:srgbClr val="333333"/>
                          </a:solidFill>
                          <a:latin typeface="Calibri"/>
                        </a:defRPr>
                      </a:pPr>
                      <a:r>
                        <a:rPr lang="fr-FR" sz="1200" noProof="0" dirty="0"/>
                        <a:t>Année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Numérique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Exercice de déclaration (2021-2025)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6"/>
                  </a:ext>
                </a:extLst>
              </a:tr>
              <a:tr h="337625">
                <a:tc>
                  <a:txBody>
                    <a:bodyPr/>
                    <a:lstStyle/>
                    <a:p>
                      <a:pPr>
                        <a:defRPr sz="1100">
                          <a:solidFill>
                            <a:srgbClr val="333333"/>
                          </a:solidFill>
                          <a:latin typeface="Calibri"/>
                        </a:defRPr>
                      </a:pPr>
                      <a:r>
                        <a:rPr lang="fr-FR" sz="1200" noProof="0" dirty="0"/>
                        <a:t>Pays de résidence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Pays de résidence du bénéficiaire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7"/>
                  </a:ext>
                </a:extLst>
              </a:tr>
              <a:tr h="337625">
                <a:tc>
                  <a:txBody>
                    <a:bodyPr/>
                    <a:lstStyle/>
                    <a:p>
                      <a:pPr>
                        <a:defRPr sz="1100">
                          <a:solidFill>
                            <a:srgbClr val="333333"/>
                          </a:solidFill>
                          <a:latin typeface="Calibri"/>
                        </a:defRPr>
                      </a:pPr>
                      <a:r>
                        <a:rPr lang="fr-FR" sz="1200" noProof="0" dirty="0"/>
                        <a:t>% Actions directes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Numérique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Pourcentage de détention du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08"/>
                  </a:ext>
                </a:extLst>
              </a:tr>
              <a:tr h="337625">
                <a:tc>
                  <a:txBody>
                    <a:bodyPr/>
                    <a:lstStyle/>
                    <a:p>
                      <a:pPr>
                        <a:defRPr sz="1100">
                          <a:solidFill>
                            <a:srgbClr val="333333"/>
                          </a:solidFill>
                          <a:latin typeface="Calibri"/>
                        </a:defRPr>
                      </a:pPr>
                      <a:r>
                        <a:rPr lang="fr-FR" sz="1200" noProof="0" dirty="0"/>
                        <a:t>% Voix directes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Numérique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Pourcentage de droits de vote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9"/>
                  </a:ext>
                </a:extLst>
              </a:tr>
              <a:tr h="337625">
                <a:tc>
                  <a:txBody>
                    <a:bodyPr/>
                    <a:lstStyle/>
                    <a:p>
                      <a:pPr>
                        <a:defRPr sz="1100">
                          <a:solidFill>
                            <a:srgbClr val="333333"/>
                          </a:solidFill>
                          <a:latin typeface="Calibri"/>
                        </a:defRPr>
                      </a:pPr>
                      <a:r>
                        <a:rPr lang="fr-FR" sz="1200" noProof="0" dirty="0"/>
                        <a:t>Est Une PPE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Binaire (0/1)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Indicateur Personne Politiquement Exposée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10"/>
                  </a:ext>
                </a:extLst>
              </a:tr>
              <a:tr h="337625">
                <a:tc>
                  <a:txBody>
                    <a:bodyPr/>
                    <a:lstStyle/>
                    <a:p>
                      <a:pPr>
                        <a:defRPr sz="1100">
                          <a:solidFill>
                            <a:srgbClr val="333333"/>
                          </a:solidFill>
                          <a:latin typeface="Calibri"/>
                        </a:defRPr>
                      </a:pPr>
                      <a:r>
                        <a:rPr lang="fr-FR" sz="1200" noProof="0" dirty="0" err="1"/>
                        <a:t>NomPPE</a:t>
                      </a:r>
                      <a:endParaRPr lang="fr-FR" sz="12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tc>
                  <a:txBody>
                    <a:bodyPr/>
                    <a:lstStyle/>
                    <a:p>
                      <a:pPr>
                        <a:defRPr sz="1100">
                          <a:solidFill>
                            <a:srgbClr val="333333"/>
                          </a:solidFill>
                          <a:latin typeface="Calibri"/>
                        </a:defRPr>
                      </a:pPr>
                      <a:r>
                        <a:rPr lang="fr-FR" sz="1200" noProof="0" dirty="0"/>
                        <a:t>Nom propre de la PPE identifiée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11"/>
                  </a:ext>
                </a:extLst>
              </a:tr>
              <a:tr h="337626">
                <a:tc>
                  <a:txBody>
                    <a:bodyPr/>
                    <a:lstStyle/>
                    <a:p>
                      <a:pPr>
                        <a:defRPr sz="1100">
                          <a:solidFill>
                            <a:srgbClr val="333333"/>
                          </a:solidFill>
                          <a:latin typeface="Calibri"/>
                        </a:defRPr>
                      </a:pPr>
                      <a:r>
                        <a:rPr lang="fr-FR" sz="1200" noProof="0" dirty="0"/>
                        <a:t>Fonction PPE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Texte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tc>
                  <a:txBody>
                    <a:bodyPr/>
                    <a:lstStyle/>
                    <a:p>
                      <a:pPr>
                        <a:defRPr sz="1100">
                          <a:solidFill>
                            <a:srgbClr val="333333"/>
                          </a:solidFill>
                          <a:latin typeface="Calibri"/>
                        </a:defRPr>
                      </a:pPr>
                      <a:r>
                        <a:rPr lang="fr-FR" sz="1200" noProof="0" dirty="0"/>
                        <a:t>Intitulé de la fonction exercée par la PPE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rgbClr val="F5F5F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Analyse des valeurs manquantes</a:t>
            </a:r>
          </a:p>
          <a:p>
            <a:pPr>
              <a:spcBef>
                <a:spcPts val="400"/>
              </a:spcBef>
              <a:defRPr sz="1600">
                <a:solidFill>
                  <a:srgbClr val="C4A41A"/>
                </a:solidFill>
                <a:latin typeface="Calibri"/>
              </a:defRPr>
            </a:pPr>
            <a:r>
              <a:rPr lang="fr-FR" sz="3600" dirty="0">
                <a:solidFill>
                  <a:srgbClr val="FFC000"/>
                </a:solidFill>
                <a:latin typeface="Calibri"/>
              </a:rPr>
              <a:t>Constats et criticité par variable</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96666" y="1445623"/>
            <a:ext cx="7111049" cy="584775"/>
          </a:xfrm>
          <a:prstGeom prst="rect">
            <a:avLst/>
          </a:prstGeom>
          <a:noFill/>
        </p:spPr>
        <p:txBody>
          <a:bodyPr wrap="none">
            <a:spAutoFit/>
          </a:bodyPr>
          <a:lstStyle/>
          <a:p>
            <a:pPr>
              <a:defRPr sz="1300">
                <a:solidFill>
                  <a:srgbClr val="333333"/>
                </a:solidFill>
                <a:latin typeface="Calibri"/>
              </a:defRPr>
            </a:pPr>
            <a:r>
              <a:rPr lang="fr-FR" sz="1600" dirty="0"/>
              <a:t>Sur 7 536 cellules attendues dans la base RBE (2021-2025), 23 % sont manquantes. </a:t>
            </a:r>
            <a:br>
              <a:rPr lang="fr-FR" sz="1600" dirty="0"/>
            </a:br>
            <a:r>
              <a:rPr lang="fr-FR" sz="1600" dirty="0"/>
              <a:t>Les déficits les plus graves concernent les variables PPE et les données financières.</a:t>
            </a:r>
          </a:p>
        </p:txBody>
      </p:sp>
      <p:graphicFrame>
        <p:nvGraphicFramePr>
          <p:cNvPr id="9" name="Table 8"/>
          <p:cNvGraphicFramePr>
            <a:graphicFrameLocks noGrp="1"/>
          </p:cNvGraphicFramePr>
          <p:nvPr>
            <p:extLst>
              <p:ext uri="{D42A27DB-BD31-4B8C-83A1-F6EECF244321}">
                <p14:modId xmlns:p14="http://schemas.microsoft.com/office/powerpoint/2010/main" val="2949392286"/>
              </p:ext>
            </p:extLst>
          </p:nvPr>
        </p:nvGraphicFramePr>
        <p:xfrm>
          <a:off x="548640" y="2103120"/>
          <a:ext cx="10972800" cy="3474720"/>
        </p:xfrm>
        <a:graphic>
          <a:graphicData uri="http://schemas.openxmlformats.org/drawingml/2006/table">
            <a:tbl>
              <a:tblPr firstRow="1" bandRow="1">
                <a:effectLst/>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34340">
                <a:tc>
                  <a:txBody>
                    <a:bodyPr/>
                    <a:lstStyle/>
                    <a:p>
                      <a:pPr algn="ctr">
                        <a:defRPr sz="1200" b="1">
                          <a:solidFill>
                            <a:srgbClr val="FFFFFF"/>
                          </a:solidFill>
                          <a:latin typeface="Calibri"/>
                        </a:defRPr>
                      </a:pPr>
                      <a:r>
                        <a:rPr dirty="0"/>
                        <a:t>Variable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1A2E5C"/>
                    </a:solidFill>
                  </a:tcPr>
                </a:tc>
                <a:tc>
                  <a:txBody>
                    <a:bodyPr/>
                    <a:lstStyle/>
                    <a:p>
                      <a:pPr algn="ctr">
                        <a:defRPr sz="1200" b="1">
                          <a:solidFill>
                            <a:srgbClr val="FFFFFF"/>
                          </a:solidFill>
                          <a:latin typeface="Calibri"/>
                        </a:defRPr>
                      </a:pPr>
                      <a:r>
                        <a:t>Taux de valeurs manquantes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1A2E5C"/>
                    </a:solidFill>
                  </a:tcPr>
                </a:tc>
                <a:tc>
                  <a:txBody>
                    <a:bodyPr/>
                    <a:lstStyle/>
                    <a:p>
                      <a:pPr algn="ctr">
                        <a:defRPr sz="1200" b="1">
                          <a:solidFill>
                            <a:srgbClr val="FFFFFF"/>
                          </a:solidFill>
                          <a:latin typeface="Calibri"/>
                        </a:defRPr>
                      </a:pPr>
                      <a:r>
                        <a:t>Nombre de 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1A2E5C"/>
                    </a:solidFill>
                  </a:tcPr>
                </a:tc>
                <a:tc>
                  <a:txBody>
                    <a:bodyPr/>
                    <a:lstStyle/>
                    <a:p>
                      <a:pPr algn="ctr">
                        <a:defRPr sz="1200" b="1">
                          <a:solidFill>
                            <a:srgbClr val="FFFFFF"/>
                          </a:solidFill>
                          <a:latin typeface="Calibri"/>
                        </a:defRPr>
                      </a:pPr>
                      <a:r>
                        <a:t>Criticité</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1A2E5C"/>
                    </a:solidFill>
                  </a:tcPr>
                </a:tc>
                <a:extLst>
                  <a:ext uri="{0D108BD9-81ED-4DB2-BD59-A6C34878D82A}">
                    <a16:rowId xmlns:a16="http://schemas.microsoft.com/office/drawing/2014/main" val="10000"/>
                  </a:ext>
                </a:extLst>
              </a:tr>
              <a:tr h="434340">
                <a:tc>
                  <a:txBody>
                    <a:bodyPr/>
                    <a:lstStyle/>
                    <a:p>
                      <a:pPr algn="ctr">
                        <a:defRPr sz="1100">
                          <a:solidFill>
                            <a:srgbClr val="333333"/>
                          </a:solidFill>
                          <a:latin typeface="Calibri"/>
                        </a:defRPr>
                      </a:pPr>
                      <a:r>
                        <a:rPr dirty="0" err="1"/>
                        <a:t>NomPPE</a:t>
                      </a:r>
                      <a:endParaRPr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rPr dirty="0"/>
                        <a:t>97,1 %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610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b="1">
                          <a:solidFill>
                            <a:srgbClr val="B71C1C"/>
                          </a:solidFill>
                          <a:latin typeface="Calibri"/>
                        </a:defRPr>
                      </a:pPr>
                      <a:r>
                        <a:t>CRITIQUE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extLst>
                  <a:ext uri="{0D108BD9-81ED-4DB2-BD59-A6C34878D82A}">
                    <a16:rowId xmlns:a16="http://schemas.microsoft.com/office/drawing/2014/main" val="10001"/>
                  </a:ext>
                </a:extLst>
              </a:tr>
              <a:tr h="434340">
                <a:tc>
                  <a:txBody>
                    <a:bodyPr/>
                    <a:lstStyle/>
                    <a:p>
                      <a:pPr algn="ctr">
                        <a:defRPr sz="1100">
                          <a:solidFill>
                            <a:srgbClr val="333333"/>
                          </a:solidFill>
                          <a:latin typeface="Calibri"/>
                        </a:defRPr>
                      </a:pPr>
                      <a:r>
                        <a:rPr dirty="0" err="1"/>
                        <a:t>Est</a:t>
                      </a:r>
                      <a:r>
                        <a:rPr dirty="0"/>
                        <a:t> </a:t>
                      </a:r>
                      <a:r>
                        <a:rPr dirty="0" err="1"/>
                        <a:t>Une</a:t>
                      </a:r>
                      <a:r>
                        <a:rPr dirty="0"/>
                        <a:t> PPE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rPr dirty="0"/>
                        <a:t>85,2 %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rPr dirty="0"/>
                        <a:t>535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b="1">
                          <a:solidFill>
                            <a:srgbClr val="B71C1C"/>
                          </a:solidFill>
                          <a:latin typeface="Calibri"/>
                        </a:defRPr>
                      </a:pPr>
                      <a:r>
                        <a:t>CRITIQUE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extLst>
                  <a:ext uri="{0D108BD9-81ED-4DB2-BD59-A6C34878D82A}">
                    <a16:rowId xmlns:a16="http://schemas.microsoft.com/office/drawing/2014/main" val="10002"/>
                  </a:ext>
                </a:extLst>
              </a:tr>
              <a:tr h="434340">
                <a:tc>
                  <a:txBody>
                    <a:bodyPr/>
                    <a:lstStyle/>
                    <a:p>
                      <a:pPr algn="ctr">
                        <a:defRPr sz="1100">
                          <a:solidFill>
                            <a:srgbClr val="333333"/>
                          </a:solidFill>
                          <a:latin typeface="Calibri"/>
                        </a:defRPr>
                      </a:pPr>
                      <a:r>
                        <a:t>Fonction PPE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rPr dirty="0"/>
                        <a:t>12,9 %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rPr dirty="0"/>
                        <a:t>81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b="1">
                          <a:solidFill>
                            <a:srgbClr val="E65C00"/>
                          </a:solidFill>
                          <a:latin typeface="Calibri"/>
                        </a:defRPr>
                      </a:pPr>
                      <a:r>
                        <a:t>ÉLEVÉE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extLst>
                  <a:ext uri="{0D108BD9-81ED-4DB2-BD59-A6C34878D82A}">
                    <a16:rowId xmlns:a16="http://schemas.microsoft.com/office/drawing/2014/main" val="10003"/>
                  </a:ext>
                </a:extLst>
              </a:tr>
              <a:tr h="434340">
                <a:tc>
                  <a:txBody>
                    <a:bodyPr/>
                    <a:lstStyle/>
                    <a:p>
                      <a:pPr algn="ctr">
                        <a:defRPr sz="1100">
                          <a:solidFill>
                            <a:srgbClr val="333333"/>
                          </a:solidFill>
                          <a:latin typeface="Calibri"/>
                        </a:defRPr>
                      </a:pPr>
                      <a:r>
                        <a:t>% Voix directes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t>41,9 %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rPr dirty="0"/>
                        <a:t>263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b="1">
                          <a:solidFill>
                            <a:srgbClr val="E65C00"/>
                          </a:solidFill>
                          <a:latin typeface="Calibri"/>
                        </a:defRPr>
                      </a:pPr>
                      <a:r>
                        <a:rPr dirty="0"/>
                        <a:t>ÉLEVÉE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extLst>
                  <a:ext uri="{0D108BD9-81ED-4DB2-BD59-A6C34878D82A}">
                    <a16:rowId xmlns:a16="http://schemas.microsoft.com/office/drawing/2014/main" val="10004"/>
                  </a:ext>
                </a:extLst>
              </a:tr>
              <a:tr h="434340">
                <a:tc>
                  <a:txBody>
                    <a:bodyPr/>
                    <a:lstStyle/>
                    <a:p>
                      <a:pPr algn="ctr">
                        <a:defRPr sz="1100">
                          <a:solidFill>
                            <a:srgbClr val="333333"/>
                          </a:solidFill>
                          <a:latin typeface="Calibri"/>
                        </a:defRPr>
                      </a:pPr>
                      <a:r>
                        <a:t>% Actions directes</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27,1 %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170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tc>
                  <a:txBody>
                    <a:bodyPr/>
                    <a:lstStyle/>
                    <a:p>
                      <a:pPr algn="ctr">
                        <a:defRPr sz="1100" b="1">
                          <a:solidFill>
                            <a:srgbClr val="E65C00"/>
                          </a:solidFill>
                          <a:latin typeface="Calibri"/>
                        </a:defRPr>
                      </a:pPr>
                      <a:r>
                        <a:rPr dirty="0"/>
                        <a:t>ÉLEVÉE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tcPr>
                </a:tc>
                <a:extLst>
                  <a:ext uri="{0D108BD9-81ED-4DB2-BD59-A6C34878D82A}">
                    <a16:rowId xmlns:a16="http://schemas.microsoft.com/office/drawing/2014/main" val="10005"/>
                  </a:ext>
                </a:extLst>
              </a:tr>
              <a:tr h="434340">
                <a:tc>
                  <a:txBody>
                    <a:bodyPr/>
                    <a:lstStyle/>
                    <a:p>
                      <a:pPr algn="ctr">
                        <a:defRPr sz="1100">
                          <a:solidFill>
                            <a:srgbClr val="333333"/>
                          </a:solidFill>
                          <a:latin typeface="Calibri"/>
                        </a:defRPr>
                      </a:pPr>
                      <a:r>
                        <a:t>Pays de résidence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t>12,3 %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a:solidFill>
                            <a:srgbClr val="333333"/>
                          </a:solidFill>
                          <a:latin typeface="Calibri"/>
                        </a:defRPr>
                      </a:pPr>
                      <a:r>
                        <a:rPr dirty="0"/>
                        <a:t>77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tc>
                  <a:txBody>
                    <a:bodyPr/>
                    <a:lstStyle/>
                    <a:p>
                      <a:pPr algn="ctr">
                        <a:defRPr sz="1100" b="1">
                          <a:solidFill>
                            <a:srgbClr val="C4A41A"/>
                          </a:solidFill>
                          <a:latin typeface="Calibri"/>
                        </a:defRPr>
                      </a:pPr>
                      <a:r>
                        <a:rPr dirty="0"/>
                        <a:t>MODÉRÉE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prst="cross"/>
                      <a:lightRig rig="flood" dir="t"/>
                    </a:cell3D>
                    <a:solidFill>
                      <a:srgbClr val="F5F5F5"/>
                    </a:solidFill>
                  </a:tcPr>
                </a:tc>
                <a:extLst>
                  <a:ext uri="{0D108BD9-81ED-4DB2-BD59-A6C34878D82A}">
                    <a16:rowId xmlns:a16="http://schemas.microsoft.com/office/drawing/2014/main" val="10006"/>
                  </a:ext>
                </a:extLst>
              </a:tr>
              <a:tr h="434340">
                <a:tc>
                  <a:txBody>
                    <a:bodyPr/>
                    <a:lstStyle/>
                    <a:p>
                      <a:pPr algn="ctr">
                        <a:defRPr sz="1100">
                          <a:solidFill>
                            <a:srgbClr val="333333"/>
                          </a:solidFill>
                          <a:latin typeface="Calibri"/>
                        </a:defRPr>
                      </a:pPr>
                      <a:r>
                        <a:t>Variables d'identification</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cell3D prstMaterial="dkEdge">
                      <a:bevel prst="cross"/>
                      <a:lightRig rig="flood" dir="t"/>
                    </a:cell3D>
                  </a:tcPr>
                </a:tc>
                <a:tc>
                  <a:txBody>
                    <a:bodyPr/>
                    <a:lstStyle/>
                    <a:p>
                      <a:pPr algn="ctr">
                        <a:defRPr sz="1100">
                          <a:solidFill>
                            <a:srgbClr val="333333"/>
                          </a:solidFill>
                          <a:latin typeface="Calibri"/>
                        </a:defRPr>
                      </a:pPr>
                      <a:r>
                        <a:t>0 / 628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cell3D prstMaterial="dkEdge">
                      <a:bevel prst="cross"/>
                      <a:lightRig rig="flood" dir="t"/>
                    </a:cell3D>
                  </a:tcPr>
                </a:tc>
                <a:tc>
                  <a:txBody>
                    <a:bodyPr/>
                    <a:lstStyle/>
                    <a:p>
                      <a:pPr algn="ctr">
                        <a:defRPr sz="1100" b="1">
                          <a:solidFill>
                            <a:srgbClr val="2E7D32"/>
                          </a:solidFill>
                          <a:latin typeface="Calibri"/>
                        </a:defRPr>
                      </a:pPr>
                      <a:r>
                        <a:rPr dirty="0"/>
                        <a:t>CONFORME</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cell3D prstMaterial="dkEdge">
                      <a:bevel prst="cross"/>
                      <a:lightRig rig="flood" dir="t"/>
                    </a:cell3D>
                  </a:tcPr>
                </a:tc>
                <a:extLst>
                  <a:ext uri="{0D108BD9-81ED-4DB2-BD59-A6C34878D82A}">
                    <a16:rowId xmlns:a16="http://schemas.microsoft.com/office/drawing/2014/main" val="10007"/>
                  </a:ext>
                </a:extLst>
              </a:tr>
            </a:tbl>
          </a:graphicData>
        </a:graphic>
      </p:graphicFrame>
      <p:sp>
        <p:nvSpPr>
          <p:cNvPr id="10" name="Rounded Rectangle 9"/>
          <p:cNvSpPr/>
          <p:nvPr/>
        </p:nvSpPr>
        <p:spPr>
          <a:xfrm>
            <a:off x="548640" y="5760720"/>
            <a:ext cx="10972800" cy="548640"/>
          </a:xfrm>
          <a:prstGeom prst="roundRect">
            <a:avLst/>
          </a:prstGeom>
          <a:solidFill>
            <a:srgbClr val="FFEBEE"/>
          </a:solidFill>
          <a:ln w="1270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333333"/>
                </a:solidFill>
                <a:latin typeface="Calibri"/>
              </a:defRPr>
            </a:pPr>
            <a:r>
              <a:rPr lang="fr-FR" sz="1400" dirty="0"/>
              <a:t>Anomalie temporelle : En 2024, </a:t>
            </a:r>
            <a:r>
              <a:rPr lang="fr-FR" sz="1400" dirty="0" err="1"/>
              <a:t>NomPPE</a:t>
            </a:r>
            <a:r>
              <a:rPr lang="fr-FR" sz="1400" dirty="0"/>
              <a:t> atteint 100 % de valeurs manquantes tandis qu'Est Une PPE remonte à 100 %. En 2025, le pays de résidence disparaît totalement (100 % de NA) malgré un taux de 0 % les années précédentes.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6628" y="-1132114"/>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2000"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Matrice de complétude des valeurs manquantes</a:t>
            </a:r>
          </a:p>
          <a:p>
            <a:pPr>
              <a:spcBef>
                <a:spcPts val="400"/>
              </a:spcBef>
              <a:defRPr sz="1600">
                <a:solidFill>
                  <a:srgbClr val="C4A41A"/>
                </a:solidFill>
                <a:latin typeface="Calibri"/>
              </a:defRPr>
            </a:pPr>
            <a:r>
              <a:rPr lang="fr-FR" sz="3600" dirty="0">
                <a:solidFill>
                  <a:srgbClr val="FFC000"/>
                </a:solidFill>
                <a:latin typeface="Calibri"/>
              </a:rPr>
              <a:t>Taux de NA (%) par variable et par exercice</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extLst>
              <p:ext uri="{D42A27DB-BD31-4B8C-83A1-F6EECF244321}">
                <p14:modId xmlns:p14="http://schemas.microsoft.com/office/powerpoint/2010/main" val="3023783833"/>
              </p:ext>
            </p:extLst>
          </p:nvPr>
        </p:nvGraphicFramePr>
        <p:xfrm>
          <a:off x="116112" y="1596573"/>
          <a:ext cx="11713030" cy="480422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003340">
                  <a:extLst>
                    <a:ext uri="{9D8B030D-6E8A-4147-A177-3AD203B41FA5}">
                      <a16:colId xmlns:a16="http://schemas.microsoft.com/office/drawing/2014/main" val="20000"/>
                    </a:ext>
                  </a:extLst>
                </a:gridCol>
                <a:gridCol w="1741938">
                  <a:extLst>
                    <a:ext uri="{9D8B030D-6E8A-4147-A177-3AD203B41FA5}">
                      <a16:colId xmlns:a16="http://schemas.microsoft.com/office/drawing/2014/main" val="20001"/>
                    </a:ext>
                  </a:extLst>
                </a:gridCol>
                <a:gridCol w="1741938">
                  <a:extLst>
                    <a:ext uri="{9D8B030D-6E8A-4147-A177-3AD203B41FA5}">
                      <a16:colId xmlns:a16="http://schemas.microsoft.com/office/drawing/2014/main" val="20002"/>
                    </a:ext>
                  </a:extLst>
                </a:gridCol>
                <a:gridCol w="1741938">
                  <a:extLst>
                    <a:ext uri="{9D8B030D-6E8A-4147-A177-3AD203B41FA5}">
                      <a16:colId xmlns:a16="http://schemas.microsoft.com/office/drawing/2014/main" val="20003"/>
                    </a:ext>
                  </a:extLst>
                </a:gridCol>
                <a:gridCol w="1741938">
                  <a:extLst>
                    <a:ext uri="{9D8B030D-6E8A-4147-A177-3AD203B41FA5}">
                      <a16:colId xmlns:a16="http://schemas.microsoft.com/office/drawing/2014/main" val="20004"/>
                    </a:ext>
                  </a:extLst>
                </a:gridCol>
                <a:gridCol w="1741938">
                  <a:extLst>
                    <a:ext uri="{9D8B030D-6E8A-4147-A177-3AD203B41FA5}">
                      <a16:colId xmlns:a16="http://schemas.microsoft.com/office/drawing/2014/main" val="20005"/>
                    </a:ext>
                  </a:extLst>
                </a:gridCol>
              </a:tblGrid>
              <a:tr h="686318">
                <a:tc>
                  <a:txBody>
                    <a:bodyPr/>
                    <a:lstStyle/>
                    <a:p>
                      <a:pPr algn="ctr">
                        <a:defRPr sz="1200" b="1">
                          <a:solidFill>
                            <a:srgbClr val="FFFFFF"/>
                          </a:solidFill>
                          <a:latin typeface="Calibri"/>
                        </a:defRPr>
                      </a:pPr>
                      <a:r>
                        <a:rPr sz="1400" dirty="0"/>
                        <a:t>Variable / </a:t>
                      </a:r>
                      <a:r>
                        <a:rPr sz="1400" dirty="0" err="1"/>
                        <a:t>Année</a:t>
                      </a:r>
                      <a:endParaRPr sz="1400" dirty="0"/>
                    </a:p>
                  </a:txBody>
                  <a:tcPr anchor="ctr">
                    <a:solidFill>
                      <a:schemeClr val="tx1"/>
                    </a:solidFill>
                  </a:tcPr>
                </a:tc>
                <a:tc>
                  <a:txBody>
                    <a:bodyPr/>
                    <a:lstStyle/>
                    <a:p>
                      <a:pPr algn="ctr">
                        <a:defRPr sz="1200" b="1">
                          <a:solidFill>
                            <a:srgbClr val="FFFFFF"/>
                          </a:solidFill>
                          <a:latin typeface="Calibri"/>
                        </a:defRPr>
                      </a:pPr>
                      <a:r>
                        <a:rPr sz="1400" dirty="0"/>
                        <a:t>2021</a:t>
                      </a:r>
                    </a:p>
                  </a:txBody>
                  <a:tcPr anchor="ctr">
                    <a:solidFill>
                      <a:schemeClr val="tx1"/>
                    </a:solidFill>
                  </a:tcPr>
                </a:tc>
                <a:tc>
                  <a:txBody>
                    <a:bodyPr/>
                    <a:lstStyle/>
                    <a:p>
                      <a:pPr algn="ctr">
                        <a:defRPr sz="1200" b="1">
                          <a:solidFill>
                            <a:srgbClr val="FFFFFF"/>
                          </a:solidFill>
                          <a:latin typeface="Calibri"/>
                        </a:defRPr>
                      </a:pPr>
                      <a:r>
                        <a:rPr sz="1400" dirty="0"/>
                        <a:t>2022</a:t>
                      </a:r>
                    </a:p>
                  </a:txBody>
                  <a:tcPr anchor="ctr">
                    <a:solidFill>
                      <a:schemeClr val="tx1"/>
                    </a:solidFill>
                  </a:tcPr>
                </a:tc>
                <a:tc>
                  <a:txBody>
                    <a:bodyPr/>
                    <a:lstStyle/>
                    <a:p>
                      <a:pPr algn="ctr">
                        <a:defRPr sz="1200" b="1">
                          <a:solidFill>
                            <a:srgbClr val="FFFFFF"/>
                          </a:solidFill>
                          <a:latin typeface="Calibri"/>
                        </a:defRPr>
                      </a:pPr>
                      <a:r>
                        <a:rPr sz="1400" dirty="0"/>
                        <a:t>2023</a:t>
                      </a:r>
                    </a:p>
                  </a:txBody>
                  <a:tcPr anchor="ctr">
                    <a:solidFill>
                      <a:schemeClr val="tx1"/>
                    </a:solidFill>
                  </a:tcPr>
                </a:tc>
                <a:tc>
                  <a:txBody>
                    <a:bodyPr/>
                    <a:lstStyle/>
                    <a:p>
                      <a:pPr algn="ctr">
                        <a:defRPr sz="1200" b="1">
                          <a:solidFill>
                            <a:srgbClr val="FFFFFF"/>
                          </a:solidFill>
                          <a:latin typeface="Calibri"/>
                        </a:defRPr>
                      </a:pPr>
                      <a:r>
                        <a:rPr sz="1400" dirty="0"/>
                        <a:t>2024</a:t>
                      </a:r>
                    </a:p>
                  </a:txBody>
                  <a:tcPr anchor="ctr">
                    <a:solidFill>
                      <a:schemeClr val="tx1"/>
                    </a:solidFill>
                  </a:tcPr>
                </a:tc>
                <a:tc>
                  <a:txBody>
                    <a:bodyPr/>
                    <a:lstStyle/>
                    <a:p>
                      <a:pPr algn="ctr">
                        <a:defRPr sz="1200" b="1">
                          <a:solidFill>
                            <a:srgbClr val="FFFFFF"/>
                          </a:solidFill>
                          <a:latin typeface="Calibri"/>
                        </a:defRPr>
                      </a:pPr>
                      <a:r>
                        <a:rPr sz="1400" dirty="0"/>
                        <a:t>2025</a:t>
                      </a:r>
                    </a:p>
                  </a:txBody>
                  <a:tcPr anchor="ctr">
                    <a:solidFill>
                      <a:schemeClr val="tx1"/>
                    </a:solidFill>
                  </a:tcPr>
                </a:tc>
                <a:extLst>
                  <a:ext uri="{0D108BD9-81ED-4DB2-BD59-A6C34878D82A}">
                    <a16:rowId xmlns:a16="http://schemas.microsoft.com/office/drawing/2014/main" val="10000"/>
                  </a:ext>
                </a:extLst>
              </a:tr>
              <a:tr h="686318">
                <a:tc>
                  <a:txBody>
                    <a:bodyPr/>
                    <a:lstStyle/>
                    <a:p>
                      <a:pPr algn="l">
                        <a:defRPr sz="1100" b="1">
                          <a:solidFill>
                            <a:srgbClr val="1A2E5C"/>
                          </a:solidFill>
                          <a:latin typeface="Calibri"/>
                        </a:defRPr>
                      </a:pPr>
                      <a:r>
                        <a:rPr sz="1400" dirty="0" err="1"/>
                        <a:t>NomPPE</a:t>
                      </a:r>
                      <a:endParaRPr sz="1400" dirty="0"/>
                    </a:p>
                  </a:txBody>
                  <a:tcPr anchor="ctr">
                    <a:solidFill>
                      <a:srgbClr val="F5F5F5"/>
                    </a:solidFill>
                  </a:tcPr>
                </a:tc>
                <a:tc>
                  <a:txBody>
                    <a:bodyPr/>
                    <a:lstStyle/>
                    <a:p>
                      <a:pPr algn="ctr">
                        <a:defRPr sz="1100" b="1">
                          <a:solidFill>
                            <a:srgbClr val="FFFFFF"/>
                          </a:solidFill>
                          <a:latin typeface="Calibri"/>
                        </a:defRPr>
                      </a:pPr>
                      <a:r>
                        <a:rPr sz="1400" dirty="0"/>
                        <a:t>93.3%</a:t>
                      </a:r>
                    </a:p>
                  </a:txBody>
                  <a:tcPr anchor="ctr">
                    <a:solidFill>
                      <a:srgbClr val="B71C1C"/>
                    </a:solidFill>
                  </a:tcPr>
                </a:tc>
                <a:tc>
                  <a:txBody>
                    <a:bodyPr/>
                    <a:lstStyle/>
                    <a:p>
                      <a:pPr algn="ctr">
                        <a:defRPr sz="1100" b="1">
                          <a:solidFill>
                            <a:srgbClr val="FFFFFF"/>
                          </a:solidFill>
                          <a:latin typeface="Calibri"/>
                        </a:defRPr>
                      </a:pPr>
                      <a:r>
                        <a:rPr sz="1400"/>
                        <a:t>93.0%</a:t>
                      </a:r>
                    </a:p>
                  </a:txBody>
                  <a:tcPr anchor="ctr">
                    <a:solidFill>
                      <a:srgbClr val="B71C1C"/>
                    </a:solidFill>
                  </a:tcPr>
                </a:tc>
                <a:tc>
                  <a:txBody>
                    <a:bodyPr/>
                    <a:lstStyle/>
                    <a:p>
                      <a:pPr algn="ctr">
                        <a:defRPr sz="1100" b="1">
                          <a:solidFill>
                            <a:srgbClr val="FFFFFF"/>
                          </a:solidFill>
                          <a:latin typeface="Calibri"/>
                        </a:defRPr>
                      </a:pPr>
                      <a:r>
                        <a:rPr sz="1400"/>
                        <a:t>93.0%</a:t>
                      </a:r>
                    </a:p>
                  </a:txBody>
                  <a:tcPr anchor="ctr">
                    <a:solidFill>
                      <a:srgbClr val="B71C1C"/>
                    </a:solidFill>
                  </a:tcPr>
                </a:tc>
                <a:tc>
                  <a:txBody>
                    <a:bodyPr/>
                    <a:lstStyle/>
                    <a:p>
                      <a:pPr algn="ctr">
                        <a:defRPr sz="1100" b="1">
                          <a:solidFill>
                            <a:srgbClr val="333333"/>
                          </a:solidFill>
                          <a:latin typeface="Calibri"/>
                        </a:defRPr>
                      </a:pPr>
                      <a:r>
                        <a:rPr sz="1400" dirty="0"/>
                        <a:t>0.0%</a:t>
                      </a:r>
                    </a:p>
                  </a:txBody>
                  <a:tcPr anchor="ctr">
                    <a:solidFill>
                      <a:srgbClr val="2E7D32"/>
                    </a:solidFill>
                  </a:tcPr>
                </a:tc>
                <a:tc>
                  <a:txBody>
                    <a:bodyPr/>
                    <a:lstStyle/>
                    <a:p>
                      <a:pPr algn="ctr">
                        <a:defRPr sz="1100" b="1">
                          <a:solidFill>
                            <a:srgbClr val="FFFFFF"/>
                          </a:solidFill>
                          <a:latin typeface="Calibri"/>
                        </a:defRPr>
                      </a:pPr>
                      <a:r>
                        <a:rPr sz="1400"/>
                        <a:t>97.4%</a:t>
                      </a:r>
                    </a:p>
                  </a:txBody>
                  <a:tcPr anchor="ctr">
                    <a:solidFill>
                      <a:srgbClr val="B71C1C"/>
                    </a:solidFill>
                  </a:tcPr>
                </a:tc>
                <a:extLst>
                  <a:ext uri="{0D108BD9-81ED-4DB2-BD59-A6C34878D82A}">
                    <a16:rowId xmlns:a16="http://schemas.microsoft.com/office/drawing/2014/main" val="10001"/>
                  </a:ext>
                </a:extLst>
              </a:tr>
              <a:tr h="686318">
                <a:tc>
                  <a:txBody>
                    <a:bodyPr/>
                    <a:lstStyle/>
                    <a:p>
                      <a:pPr algn="l">
                        <a:defRPr sz="1100" b="1">
                          <a:solidFill>
                            <a:srgbClr val="1A2E5C"/>
                          </a:solidFill>
                          <a:latin typeface="Calibri"/>
                        </a:defRPr>
                      </a:pPr>
                      <a:r>
                        <a:rPr sz="1400" dirty="0" err="1"/>
                        <a:t>Est</a:t>
                      </a:r>
                      <a:r>
                        <a:rPr sz="1400" dirty="0"/>
                        <a:t> </a:t>
                      </a:r>
                      <a:r>
                        <a:rPr sz="1400" dirty="0" err="1"/>
                        <a:t>Une</a:t>
                      </a:r>
                      <a:r>
                        <a:rPr sz="1400" dirty="0"/>
                        <a:t> PPE</a:t>
                      </a:r>
                    </a:p>
                  </a:txBody>
                  <a:tcPr anchor="ctr">
                    <a:solidFill>
                      <a:srgbClr val="F5F5F5"/>
                    </a:solidFill>
                  </a:tcPr>
                </a:tc>
                <a:tc>
                  <a:txBody>
                    <a:bodyPr/>
                    <a:lstStyle/>
                    <a:p>
                      <a:pPr algn="ctr">
                        <a:defRPr sz="1100" b="1">
                          <a:solidFill>
                            <a:srgbClr val="FFFFFF"/>
                          </a:solidFill>
                          <a:latin typeface="Calibri"/>
                        </a:defRPr>
                      </a:pPr>
                      <a:r>
                        <a:rPr sz="1400" dirty="0"/>
                        <a:t>93.3%</a:t>
                      </a:r>
                    </a:p>
                  </a:txBody>
                  <a:tcPr anchor="ctr">
                    <a:solidFill>
                      <a:srgbClr val="B71C1C"/>
                    </a:solidFill>
                  </a:tcPr>
                </a:tc>
                <a:tc>
                  <a:txBody>
                    <a:bodyPr/>
                    <a:lstStyle/>
                    <a:p>
                      <a:pPr algn="ctr">
                        <a:defRPr sz="1100" b="1">
                          <a:solidFill>
                            <a:srgbClr val="FFFFFF"/>
                          </a:solidFill>
                          <a:latin typeface="Calibri"/>
                        </a:defRPr>
                      </a:pPr>
                      <a:r>
                        <a:rPr sz="1400" dirty="0"/>
                        <a:t>95.0%</a:t>
                      </a:r>
                    </a:p>
                  </a:txBody>
                  <a:tcPr anchor="ctr">
                    <a:solidFill>
                      <a:srgbClr val="B71C1C"/>
                    </a:solidFill>
                  </a:tcPr>
                </a:tc>
                <a:tc>
                  <a:txBody>
                    <a:bodyPr/>
                    <a:lstStyle/>
                    <a:p>
                      <a:pPr algn="ctr">
                        <a:defRPr sz="1100" b="1">
                          <a:solidFill>
                            <a:srgbClr val="FFFFFF"/>
                          </a:solidFill>
                          <a:latin typeface="Calibri"/>
                        </a:defRPr>
                      </a:pPr>
                      <a:r>
                        <a:rPr sz="1400" dirty="0"/>
                        <a:t>98.2%</a:t>
                      </a:r>
                    </a:p>
                  </a:txBody>
                  <a:tcPr anchor="ctr">
                    <a:solidFill>
                      <a:srgbClr val="B71C1C"/>
                    </a:solidFill>
                  </a:tcPr>
                </a:tc>
                <a:tc>
                  <a:txBody>
                    <a:bodyPr/>
                    <a:lstStyle/>
                    <a:p>
                      <a:pPr algn="ctr">
                        <a:defRPr sz="1100" b="1">
                          <a:solidFill>
                            <a:srgbClr val="FFFFFF"/>
                          </a:solidFill>
                          <a:latin typeface="Calibri"/>
                        </a:defRPr>
                      </a:pPr>
                      <a:r>
                        <a:rPr sz="1400"/>
                        <a:t>100.0%</a:t>
                      </a:r>
                    </a:p>
                  </a:txBody>
                  <a:tcPr anchor="ctr">
                    <a:solidFill>
                      <a:srgbClr val="B71C1C"/>
                    </a:solidFill>
                  </a:tcPr>
                </a:tc>
                <a:tc>
                  <a:txBody>
                    <a:bodyPr/>
                    <a:lstStyle/>
                    <a:p>
                      <a:pPr algn="ctr">
                        <a:defRPr sz="1100" b="1">
                          <a:solidFill>
                            <a:srgbClr val="333333"/>
                          </a:solidFill>
                          <a:latin typeface="Calibri"/>
                        </a:defRPr>
                      </a:pPr>
                      <a:r>
                        <a:rPr sz="1400"/>
                        <a:t>2.6%</a:t>
                      </a:r>
                    </a:p>
                  </a:txBody>
                  <a:tcPr anchor="ctr">
                    <a:solidFill>
                      <a:srgbClr val="8BC34A"/>
                    </a:solidFill>
                  </a:tcPr>
                </a:tc>
                <a:extLst>
                  <a:ext uri="{0D108BD9-81ED-4DB2-BD59-A6C34878D82A}">
                    <a16:rowId xmlns:a16="http://schemas.microsoft.com/office/drawing/2014/main" val="10002"/>
                  </a:ext>
                </a:extLst>
              </a:tr>
              <a:tr h="686318">
                <a:tc>
                  <a:txBody>
                    <a:bodyPr/>
                    <a:lstStyle/>
                    <a:p>
                      <a:pPr algn="l">
                        <a:defRPr sz="1100" b="1">
                          <a:solidFill>
                            <a:srgbClr val="1A2E5C"/>
                          </a:solidFill>
                          <a:latin typeface="Calibri"/>
                        </a:defRPr>
                      </a:pPr>
                      <a:r>
                        <a:rPr sz="1400"/>
                        <a:t>Fonction PPE</a:t>
                      </a:r>
                    </a:p>
                  </a:txBody>
                  <a:tcPr anchor="ctr">
                    <a:solidFill>
                      <a:srgbClr val="F5F5F5"/>
                    </a:solidFill>
                  </a:tcPr>
                </a:tc>
                <a:tc>
                  <a:txBody>
                    <a:bodyPr/>
                    <a:lstStyle/>
                    <a:p>
                      <a:pPr algn="ctr">
                        <a:defRPr sz="1100" b="1">
                          <a:solidFill>
                            <a:srgbClr val="333333"/>
                          </a:solidFill>
                          <a:latin typeface="Calibri"/>
                        </a:defRPr>
                      </a:pPr>
                      <a:r>
                        <a:rPr sz="1400" dirty="0"/>
                        <a:t>12.9%</a:t>
                      </a:r>
                    </a:p>
                  </a:txBody>
                  <a:tcPr anchor="ctr">
                    <a:solidFill>
                      <a:srgbClr val="8BC34A"/>
                    </a:solidFill>
                  </a:tcPr>
                </a:tc>
                <a:tc>
                  <a:txBody>
                    <a:bodyPr/>
                    <a:lstStyle/>
                    <a:p>
                      <a:pPr algn="ctr">
                        <a:defRPr sz="1100" b="1">
                          <a:solidFill>
                            <a:srgbClr val="333333"/>
                          </a:solidFill>
                          <a:latin typeface="Calibri"/>
                        </a:defRPr>
                      </a:pPr>
                      <a:r>
                        <a:rPr sz="1400" dirty="0"/>
                        <a:t>12.9%</a:t>
                      </a:r>
                    </a:p>
                  </a:txBody>
                  <a:tcPr anchor="ctr">
                    <a:solidFill>
                      <a:srgbClr val="8BC34A"/>
                    </a:solidFill>
                  </a:tcPr>
                </a:tc>
                <a:tc>
                  <a:txBody>
                    <a:bodyPr/>
                    <a:lstStyle/>
                    <a:p>
                      <a:pPr algn="ctr">
                        <a:defRPr sz="1100" b="1">
                          <a:solidFill>
                            <a:srgbClr val="333333"/>
                          </a:solidFill>
                          <a:latin typeface="Calibri"/>
                        </a:defRPr>
                      </a:pPr>
                      <a:r>
                        <a:rPr sz="1400"/>
                        <a:t>12.9%</a:t>
                      </a:r>
                    </a:p>
                  </a:txBody>
                  <a:tcPr anchor="ctr">
                    <a:solidFill>
                      <a:srgbClr val="8BC34A"/>
                    </a:solidFill>
                  </a:tcPr>
                </a:tc>
                <a:tc>
                  <a:txBody>
                    <a:bodyPr/>
                    <a:lstStyle/>
                    <a:p>
                      <a:pPr algn="ctr">
                        <a:defRPr sz="1100" b="1">
                          <a:solidFill>
                            <a:srgbClr val="333333"/>
                          </a:solidFill>
                          <a:latin typeface="Calibri"/>
                        </a:defRPr>
                      </a:pPr>
                      <a:r>
                        <a:rPr sz="1400" dirty="0"/>
                        <a:t>12.9%</a:t>
                      </a:r>
                    </a:p>
                  </a:txBody>
                  <a:tcPr anchor="ctr">
                    <a:solidFill>
                      <a:srgbClr val="8BC34A"/>
                    </a:solidFill>
                  </a:tcPr>
                </a:tc>
                <a:tc>
                  <a:txBody>
                    <a:bodyPr/>
                    <a:lstStyle/>
                    <a:p>
                      <a:pPr algn="ctr">
                        <a:defRPr sz="1100" b="1">
                          <a:solidFill>
                            <a:srgbClr val="333333"/>
                          </a:solidFill>
                          <a:latin typeface="Calibri"/>
                        </a:defRPr>
                      </a:pPr>
                      <a:r>
                        <a:rPr sz="1400"/>
                        <a:t>12.9%</a:t>
                      </a:r>
                    </a:p>
                  </a:txBody>
                  <a:tcPr anchor="ctr">
                    <a:solidFill>
                      <a:srgbClr val="8BC34A"/>
                    </a:solidFill>
                  </a:tcPr>
                </a:tc>
                <a:extLst>
                  <a:ext uri="{0D108BD9-81ED-4DB2-BD59-A6C34878D82A}">
                    <a16:rowId xmlns:a16="http://schemas.microsoft.com/office/drawing/2014/main" val="10003"/>
                  </a:ext>
                </a:extLst>
              </a:tr>
              <a:tr h="686318">
                <a:tc>
                  <a:txBody>
                    <a:bodyPr/>
                    <a:lstStyle/>
                    <a:p>
                      <a:pPr algn="l">
                        <a:defRPr sz="1100" b="1">
                          <a:solidFill>
                            <a:srgbClr val="1A2E5C"/>
                          </a:solidFill>
                          <a:latin typeface="Calibri"/>
                        </a:defRPr>
                      </a:pPr>
                      <a:r>
                        <a:rPr sz="1400"/>
                        <a:t>% Actions directes</a:t>
                      </a:r>
                    </a:p>
                  </a:txBody>
                  <a:tcPr anchor="ctr">
                    <a:solidFill>
                      <a:srgbClr val="F5F5F5"/>
                    </a:solidFill>
                  </a:tcPr>
                </a:tc>
                <a:tc>
                  <a:txBody>
                    <a:bodyPr/>
                    <a:lstStyle/>
                    <a:p>
                      <a:pPr algn="ctr">
                        <a:defRPr sz="1100" b="1">
                          <a:solidFill>
                            <a:srgbClr val="333333"/>
                          </a:solidFill>
                          <a:latin typeface="Calibri"/>
                        </a:defRPr>
                      </a:pPr>
                      <a:r>
                        <a:rPr sz="1400" dirty="0"/>
                        <a:t>20.0%</a:t>
                      </a:r>
                    </a:p>
                  </a:txBody>
                  <a:tcPr anchor="ctr">
                    <a:solidFill>
                      <a:srgbClr val="8BC34A"/>
                    </a:solidFill>
                  </a:tcPr>
                </a:tc>
                <a:tc>
                  <a:txBody>
                    <a:bodyPr/>
                    <a:lstStyle/>
                    <a:p>
                      <a:pPr algn="ctr">
                        <a:defRPr sz="1100" b="1">
                          <a:solidFill>
                            <a:srgbClr val="333333"/>
                          </a:solidFill>
                          <a:latin typeface="Calibri"/>
                        </a:defRPr>
                      </a:pPr>
                      <a:r>
                        <a:rPr sz="1400" dirty="0"/>
                        <a:t>25.0%</a:t>
                      </a:r>
                    </a:p>
                  </a:txBody>
                  <a:tcPr anchor="ctr">
                    <a:solidFill>
                      <a:srgbClr val="E65C00"/>
                    </a:solidFill>
                  </a:tcPr>
                </a:tc>
                <a:tc>
                  <a:txBody>
                    <a:bodyPr/>
                    <a:lstStyle/>
                    <a:p>
                      <a:pPr algn="ctr">
                        <a:defRPr sz="1100" b="1">
                          <a:solidFill>
                            <a:srgbClr val="333333"/>
                          </a:solidFill>
                          <a:latin typeface="Calibri"/>
                        </a:defRPr>
                      </a:pPr>
                      <a:r>
                        <a:rPr sz="1400" dirty="0"/>
                        <a:t>42.9%</a:t>
                      </a:r>
                    </a:p>
                  </a:txBody>
                  <a:tcPr anchor="ctr">
                    <a:solidFill>
                      <a:srgbClr val="E65C00"/>
                    </a:solidFill>
                  </a:tcPr>
                </a:tc>
                <a:tc>
                  <a:txBody>
                    <a:bodyPr/>
                    <a:lstStyle/>
                    <a:p>
                      <a:pPr algn="ctr">
                        <a:defRPr sz="1100" b="1">
                          <a:solidFill>
                            <a:srgbClr val="333333"/>
                          </a:solidFill>
                          <a:latin typeface="Calibri"/>
                        </a:defRPr>
                      </a:pPr>
                      <a:r>
                        <a:rPr sz="1400" dirty="0"/>
                        <a:t>20.0%</a:t>
                      </a:r>
                    </a:p>
                  </a:txBody>
                  <a:tcPr anchor="ctr">
                    <a:solidFill>
                      <a:srgbClr val="8BC34A"/>
                    </a:solidFill>
                  </a:tcPr>
                </a:tc>
                <a:tc>
                  <a:txBody>
                    <a:bodyPr/>
                    <a:lstStyle/>
                    <a:p>
                      <a:pPr algn="ctr">
                        <a:defRPr sz="1100" b="1">
                          <a:solidFill>
                            <a:srgbClr val="333333"/>
                          </a:solidFill>
                          <a:latin typeface="Calibri"/>
                        </a:defRPr>
                      </a:pPr>
                      <a:r>
                        <a:rPr sz="1400"/>
                        <a:t>30.0%</a:t>
                      </a:r>
                    </a:p>
                  </a:txBody>
                  <a:tcPr anchor="ctr">
                    <a:solidFill>
                      <a:srgbClr val="E65C00"/>
                    </a:solidFill>
                  </a:tcPr>
                </a:tc>
                <a:extLst>
                  <a:ext uri="{0D108BD9-81ED-4DB2-BD59-A6C34878D82A}">
                    <a16:rowId xmlns:a16="http://schemas.microsoft.com/office/drawing/2014/main" val="10004"/>
                  </a:ext>
                </a:extLst>
              </a:tr>
              <a:tr h="686318">
                <a:tc>
                  <a:txBody>
                    <a:bodyPr/>
                    <a:lstStyle/>
                    <a:p>
                      <a:pPr algn="l">
                        <a:defRPr sz="1100" b="1">
                          <a:solidFill>
                            <a:srgbClr val="1A2E5C"/>
                          </a:solidFill>
                          <a:latin typeface="Calibri"/>
                        </a:defRPr>
                      </a:pPr>
                      <a:r>
                        <a:rPr sz="1400"/>
                        <a:t>% Voix directes</a:t>
                      </a:r>
                    </a:p>
                  </a:txBody>
                  <a:tcPr anchor="ctr">
                    <a:solidFill>
                      <a:srgbClr val="F5F5F5"/>
                    </a:solidFill>
                  </a:tcPr>
                </a:tc>
                <a:tc>
                  <a:txBody>
                    <a:bodyPr/>
                    <a:lstStyle/>
                    <a:p>
                      <a:pPr algn="ctr">
                        <a:defRPr sz="1100" b="1">
                          <a:solidFill>
                            <a:srgbClr val="333333"/>
                          </a:solidFill>
                          <a:latin typeface="Calibri"/>
                        </a:defRPr>
                      </a:pPr>
                      <a:r>
                        <a:rPr sz="1400"/>
                        <a:t>35.0%</a:t>
                      </a:r>
                    </a:p>
                  </a:txBody>
                  <a:tcPr anchor="ctr">
                    <a:solidFill>
                      <a:srgbClr val="E65C00"/>
                    </a:solidFill>
                  </a:tcPr>
                </a:tc>
                <a:tc>
                  <a:txBody>
                    <a:bodyPr/>
                    <a:lstStyle/>
                    <a:p>
                      <a:pPr algn="ctr">
                        <a:defRPr sz="1100" b="1">
                          <a:solidFill>
                            <a:srgbClr val="333333"/>
                          </a:solidFill>
                          <a:latin typeface="Calibri"/>
                        </a:defRPr>
                      </a:pPr>
                      <a:r>
                        <a:rPr sz="1400"/>
                        <a:t>40.0%</a:t>
                      </a:r>
                    </a:p>
                  </a:txBody>
                  <a:tcPr anchor="ctr">
                    <a:solidFill>
                      <a:srgbClr val="E65C00"/>
                    </a:solidFill>
                  </a:tcPr>
                </a:tc>
                <a:tc>
                  <a:txBody>
                    <a:bodyPr/>
                    <a:lstStyle/>
                    <a:p>
                      <a:pPr algn="ctr">
                        <a:defRPr sz="1100" b="1">
                          <a:solidFill>
                            <a:srgbClr val="333333"/>
                          </a:solidFill>
                          <a:latin typeface="Calibri"/>
                        </a:defRPr>
                      </a:pPr>
                      <a:r>
                        <a:rPr sz="1400" dirty="0"/>
                        <a:t>42.9%</a:t>
                      </a:r>
                    </a:p>
                  </a:txBody>
                  <a:tcPr anchor="ctr">
                    <a:solidFill>
                      <a:srgbClr val="E65C00"/>
                    </a:solidFill>
                  </a:tcPr>
                </a:tc>
                <a:tc>
                  <a:txBody>
                    <a:bodyPr/>
                    <a:lstStyle/>
                    <a:p>
                      <a:pPr algn="ctr">
                        <a:defRPr sz="1100" b="1">
                          <a:solidFill>
                            <a:srgbClr val="333333"/>
                          </a:solidFill>
                          <a:latin typeface="Calibri"/>
                        </a:defRPr>
                      </a:pPr>
                      <a:r>
                        <a:rPr sz="1400" dirty="0"/>
                        <a:t>35.0%</a:t>
                      </a:r>
                    </a:p>
                  </a:txBody>
                  <a:tcPr anchor="ctr">
                    <a:solidFill>
                      <a:srgbClr val="E65C00"/>
                    </a:solidFill>
                  </a:tcPr>
                </a:tc>
                <a:tc>
                  <a:txBody>
                    <a:bodyPr/>
                    <a:lstStyle/>
                    <a:p>
                      <a:pPr algn="ctr">
                        <a:defRPr sz="1100" b="1">
                          <a:solidFill>
                            <a:srgbClr val="333333"/>
                          </a:solidFill>
                          <a:latin typeface="Calibri"/>
                        </a:defRPr>
                      </a:pPr>
                      <a:r>
                        <a:rPr sz="1400" dirty="0"/>
                        <a:t>45.0%</a:t>
                      </a:r>
                    </a:p>
                  </a:txBody>
                  <a:tcPr anchor="ctr">
                    <a:solidFill>
                      <a:srgbClr val="E65C00"/>
                    </a:solidFill>
                  </a:tcPr>
                </a:tc>
                <a:extLst>
                  <a:ext uri="{0D108BD9-81ED-4DB2-BD59-A6C34878D82A}">
                    <a16:rowId xmlns:a16="http://schemas.microsoft.com/office/drawing/2014/main" val="10005"/>
                  </a:ext>
                </a:extLst>
              </a:tr>
              <a:tr h="686318">
                <a:tc>
                  <a:txBody>
                    <a:bodyPr/>
                    <a:lstStyle/>
                    <a:p>
                      <a:pPr algn="l">
                        <a:defRPr sz="1100" b="1">
                          <a:solidFill>
                            <a:srgbClr val="1A2E5C"/>
                          </a:solidFill>
                          <a:latin typeface="Calibri"/>
                        </a:defRPr>
                      </a:pPr>
                      <a:r>
                        <a:rPr sz="1400"/>
                        <a:t>Pays de résidence</a:t>
                      </a:r>
                    </a:p>
                  </a:txBody>
                  <a:tcPr anchor="ctr">
                    <a:solidFill>
                      <a:srgbClr val="F5F5F5"/>
                    </a:solidFill>
                  </a:tcPr>
                </a:tc>
                <a:tc>
                  <a:txBody>
                    <a:bodyPr/>
                    <a:lstStyle/>
                    <a:p>
                      <a:pPr algn="ctr">
                        <a:defRPr sz="1100" b="1">
                          <a:solidFill>
                            <a:srgbClr val="333333"/>
                          </a:solidFill>
                          <a:latin typeface="Calibri"/>
                        </a:defRPr>
                      </a:pPr>
                      <a:r>
                        <a:rPr sz="1400"/>
                        <a:t>0.0%</a:t>
                      </a:r>
                    </a:p>
                  </a:txBody>
                  <a:tcPr anchor="ctr">
                    <a:solidFill>
                      <a:srgbClr val="2E7D32"/>
                    </a:solidFill>
                  </a:tcPr>
                </a:tc>
                <a:tc>
                  <a:txBody>
                    <a:bodyPr/>
                    <a:lstStyle/>
                    <a:p>
                      <a:pPr algn="ctr">
                        <a:defRPr sz="1100" b="1">
                          <a:solidFill>
                            <a:srgbClr val="333333"/>
                          </a:solidFill>
                          <a:latin typeface="Calibri"/>
                        </a:defRPr>
                      </a:pPr>
                      <a:r>
                        <a:rPr sz="1400"/>
                        <a:t>0.0%</a:t>
                      </a:r>
                    </a:p>
                  </a:txBody>
                  <a:tcPr anchor="ctr">
                    <a:solidFill>
                      <a:srgbClr val="2E7D32"/>
                    </a:solidFill>
                  </a:tcPr>
                </a:tc>
                <a:tc>
                  <a:txBody>
                    <a:bodyPr/>
                    <a:lstStyle/>
                    <a:p>
                      <a:pPr algn="ctr">
                        <a:defRPr sz="1100" b="1">
                          <a:solidFill>
                            <a:srgbClr val="333333"/>
                          </a:solidFill>
                          <a:latin typeface="Calibri"/>
                        </a:defRPr>
                      </a:pPr>
                      <a:r>
                        <a:rPr sz="1400" dirty="0"/>
                        <a:t>0.0%</a:t>
                      </a:r>
                    </a:p>
                  </a:txBody>
                  <a:tcPr anchor="ctr">
                    <a:solidFill>
                      <a:srgbClr val="2E7D32"/>
                    </a:solidFill>
                  </a:tcPr>
                </a:tc>
                <a:tc>
                  <a:txBody>
                    <a:bodyPr/>
                    <a:lstStyle/>
                    <a:p>
                      <a:pPr algn="ctr">
                        <a:defRPr sz="1100" b="1">
                          <a:solidFill>
                            <a:srgbClr val="333333"/>
                          </a:solidFill>
                          <a:latin typeface="Calibri"/>
                        </a:defRPr>
                      </a:pPr>
                      <a:r>
                        <a:rPr sz="1400" dirty="0"/>
                        <a:t>0.0%</a:t>
                      </a:r>
                    </a:p>
                  </a:txBody>
                  <a:tcPr anchor="ctr">
                    <a:solidFill>
                      <a:srgbClr val="2E7D32"/>
                    </a:solidFill>
                  </a:tcPr>
                </a:tc>
                <a:tc>
                  <a:txBody>
                    <a:bodyPr/>
                    <a:lstStyle/>
                    <a:p>
                      <a:pPr algn="ctr">
                        <a:defRPr sz="1100" b="1">
                          <a:solidFill>
                            <a:srgbClr val="FFFFFF"/>
                          </a:solidFill>
                          <a:latin typeface="Calibri"/>
                        </a:defRPr>
                      </a:pPr>
                      <a:r>
                        <a:rPr sz="1400" dirty="0"/>
                        <a:t>100.0%</a:t>
                      </a:r>
                    </a:p>
                  </a:txBody>
                  <a:tcPr anchor="ctr">
                    <a:solidFill>
                      <a:srgbClr val="B71C1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 y="-10886"/>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2000"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Matrice de complétude des valeurs manquantes</a:t>
            </a:r>
          </a:p>
          <a:p>
            <a:pPr>
              <a:spcBef>
                <a:spcPts val="400"/>
              </a:spcBef>
              <a:defRPr sz="1600">
                <a:solidFill>
                  <a:srgbClr val="C4A41A"/>
                </a:solidFill>
                <a:latin typeface="Calibri"/>
              </a:defRPr>
            </a:pPr>
            <a:r>
              <a:rPr lang="fr-FR" sz="3600" dirty="0">
                <a:solidFill>
                  <a:srgbClr val="FFC000"/>
                </a:solidFill>
                <a:latin typeface="Calibri"/>
              </a:rPr>
              <a:t>Taux de NA (%) par variable et par région</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4744" y="1408176"/>
            <a:ext cx="10144059" cy="523220"/>
          </a:xfrm>
          <a:prstGeom prst="rect">
            <a:avLst/>
          </a:prstGeom>
          <a:noFill/>
        </p:spPr>
        <p:txBody>
          <a:bodyPr wrap="none">
            <a:spAutoFit/>
          </a:bodyPr>
          <a:lstStyle/>
          <a:p>
            <a:pPr>
              <a:defRPr sz="1300">
                <a:solidFill>
                  <a:srgbClr val="333333"/>
                </a:solidFill>
                <a:latin typeface="Calibri"/>
              </a:defRPr>
            </a:pPr>
            <a:r>
              <a:rPr lang="fr-FR" sz="1400" dirty="0"/>
              <a:t>Cette cartographie géographique révèle des disparités marquées : Diourbel et Kaolack affichent 100% de NA sur les variables financières,</a:t>
            </a:r>
            <a:br>
              <a:rPr lang="fr-FR" sz="1400" dirty="0"/>
            </a:br>
            <a:r>
              <a:rPr lang="fr-FR" sz="1400" dirty="0"/>
              <a:t> tandis que Thiès et Ziguinchor présentent les profils les plus complets.</a:t>
            </a:r>
          </a:p>
        </p:txBody>
      </p:sp>
      <p:graphicFrame>
        <p:nvGraphicFramePr>
          <p:cNvPr id="9" name="Table 8"/>
          <p:cNvGraphicFramePr>
            <a:graphicFrameLocks noGrp="1"/>
          </p:cNvGraphicFramePr>
          <p:nvPr>
            <p:extLst>
              <p:ext uri="{D42A27DB-BD31-4B8C-83A1-F6EECF244321}">
                <p14:modId xmlns:p14="http://schemas.microsoft.com/office/powerpoint/2010/main" val="2428237808"/>
              </p:ext>
            </p:extLst>
          </p:nvPr>
        </p:nvGraphicFramePr>
        <p:xfrm>
          <a:off x="457200" y="2011680"/>
          <a:ext cx="11247120" cy="4389119"/>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923544">
                  <a:extLst>
                    <a:ext uri="{9D8B030D-6E8A-4147-A177-3AD203B41FA5}">
                      <a16:colId xmlns:a16="http://schemas.microsoft.com/office/drawing/2014/main" val="20001"/>
                    </a:ext>
                  </a:extLst>
                </a:gridCol>
                <a:gridCol w="923544">
                  <a:extLst>
                    <a:ext uri="{9D8B030D-6E8A-4147-A177-3AD203B41FA5}">
                      <a16:colId xmlns:a16="http://schemas.microsoft.com/office/drawing/2014/main" val="20002"/>
                    </a:ext>
                  </a:extLst>
                </a:gridCol>
                <a:gridCol w="923544">
                  <a:extLst>
                    <a:ext uri="{9D8B030D-6E8A-4147-A177-3AD203B41FA5}">
                      <a16:colId xmlns:a16="http://schemas.microsoft.com/office/drawing/2014/main" val="20003"/>
                    </a:ext>
                  </a:extLst>
                </a:gridCol>
                <a:gridCol w="923544">
                  <a:extLst>
                    <a:ext uri="{9D8B030D-6E8A-4147-A177-3AD203B41FA5}">
                      <a16:colId xmlns:a16="http://schemas.microsoft.com/office/drawing/2014/main" val="20004"/>
                    </a:ext>
                  </a:extLst>
                </a:gridCol>
                <a:gridCol w="923544">
                  <a:extLst>
                    <a:ext uri="{9D8B030D-6E8A-4147-A177-3AD203B41FA5}">
                      <a16:colId xmlns:a16="http://schemas.microsoft.com/office/drawing/2014/main" val="20005"/>
                    </a:ext>
                  </a:extLst>
                </a:gridCol>
                <a:gridCol w="923544">
                  <a:extLst>
                    <a:ext uri="{9D8B030D-6E8A-4147-A177-3AD203B41FA5}">
                      <a16:colId xmlns:a16="http://schemas.microsoft.com/office/drawing/2014/main" val="20006"/>
                    </a:ext>
                  </a:extLst>
                </a:gridCol>
                <a:gridCol w="923544">
                  <a:extLst>
                    <a:ext uri="{9D8B030D-6E8A-4147-A177-3AD203B41FA5}">
                      <a16:colId xmlns:a16="http://schemas.microsoft.com/office/drawing/2014/main" val="20007"/>
                    </a:ext>
                  </a:extLst>
                </a:gridCol>
                <a:gridCol w="923544">
                  <a:extLst>
                    <a:ext uri="{9D8B030D-6E8A-4147-A177-3AD203B41FA5}">
                      <a16:colId xmlns:a16="http://schemas.microsoft.com/office/drawing/2014/main" val="20008"/>
                    </a:ext>
                  </a:extLst>
                </a:gridCol>
                <a:gridCol w="923544">
                  <a:extLst>
                    <a:ext uri="{9D8B030D-6E8A-4147-A177-3AD203B41FA5}">
                      <a16:colId xmlns:a16="http://schemas.microsoft.com/office/drawing/2014/main" val="20009"/>
                    </a:ext>
                  </a:extLst>
                </a:gridCol>
                <a:gridCol w="923544">
                  <a:extLst>
                    <a:ext uri="{9D8B030D-6E8A-4147-A177-3AD203B41FA5}">
                      <a16:colId xmlns:a16="http://schemas.microsoft.com/office/drawing/2014/main" val="20010"/>
                    </a:ext>
                  </a:extLst>
                </a:gridCol>
              </a:tblGrid>
              <a:tr h="625127">
                <a:tc>
                  <a:txBody>
                    <a:bodyPr/>
                    <a:lstStyle/>
                    <a:p>
                      <a:pPr algn="ctr">
                        <a:defRPr sz="1100" b="1">
                          <a:solidFill>
                            <a:srgbClr val="FFFFFF"/>
                          </a:solidFill>
                          <a:latin typeface="Calibri"/>
                        </a:defRPr>
                      </a:pPr>
                      <a:r>
                        <a:rPr lang="fr-FR" sz="1400" noProof="0" dirty="0"/>
                        <a:t>Variable / Région</a:t>
                      </a:r>
                    </a:p>
                  </a:txBody>
                  <a:tcPr anchor="ctr">
                    <a:solidFill>
                      <a:schemeClr val="tx1"/>
                    </a:solidFill>
                  </a:tcPr>
                </a:tc>
                <a:tc>
                  <a:txBody>
                    <a:bodyPr/>
                    <a:lstStyle/>
                    <a:p>
                      <a:pPr algn="ctr">
                        <a:defRPr sz="1000" b="1">
                          <a:solidFill>
                            <a:srgbClr val="FFFFFF"/>
                          </a:solidFill>
                          <a:latin typeface="Calibri"/>
                        </a:defRPr>
                      </a:pPr>
                      <a:r>
                        <a:rPr lang="fr-FR" sz="1400" noProof="0" dirty="0"/>
                        <a:t>Dakar</a:t>
                      </a:r>
                    </a:p>
                  </a:txBody>
                  <a:tcPr anchor="ctr">
                    <a:solidFill>
                      <a:schemeClr val="tx1"/>
                    </a:solidFill>
                  </a:tcPr>
                </a:tc>
                <a:tc>
                  <a:txBody>
                    <a:bodyPr/>
                    <a:lstStyle/>
                    <a:p>
                      <a:pPr algn="ctr">
                        <a:defRPr sz="1000" b="1">
                          <a:solidFill>
                            <a:srgbClr val="FFFFFF"/>
                          </a:solidFill>
                          <a:latin typeface="Calibri"/>
                        </a:defRPr>
                      </a:pPr>
                      <a:r>
                        <a:rPr lang="fr-FR" sz="1400" noProof="0" dirty="0"/>
                        <a:t>Thiès</a:t>
                      </a:r>
                    </a:p>
                  </a:txBody>
                  <a:tcPr anchor="ctr">
                    <a:solidFill>
                      <a:schemeClr val="tx1"/>
                    </a:solidFill>
                  </a:tcPr>
                </a:tc>
                <a:tc>
                  <a:txBody>
                    <a:bodyPr/>
                    <a:lstStyle/>
                    <a:p>
                      <a:pPr algn="ctr">
                        <a:defRPr sz="1000" b="1">
                          <a:solidFill>
                            <a:srgbClr val="FFFFFF"/>
                          </a:solidFill>
                          <a:latin typeface="Calibri"/>
                        </a:defRPr>
                      </a:pPr>
                      <a:r>
                        <a:rPr lang="fr-FR" sz="1400" noProof="0" dirty="0"/>
                        <a:t>Kédougou</a:t>
                      </a:r>
                    </a:p>
                  </a:txBody>
                  <a:tcPr anchor="ctr">
                    <a:solidFill>
                      <a:schemeClr val="tx1"/>
                    </a:solidFill>
                  </a:tcPr>
                </a:tc>
                <a:tc>
                  <a:txBody>
                    <a:bodyPr/>
                    <a:lstStyle/>
                    <a:p>
                      <a:pPr algn="ctr">
                        <a:defRPr sz="1000" b="1">
                          <a:solidFill>
                            <a:srgbClr val="FFFFFF"/>
                          </a:solidFill>
                          <a:latin typeface="Calibri"/>
                        </a:defRPr>
                      </a:pPr>
                      <a:r>
                        <a:rPr lang="fr-FR" sz="1400" noProof="0" dirty="0"/>
                        <a:t>Diourbel</a:t>
                      </a:r>
                    </a:p>
                  </a:txBody>
                  <a:tcPr anchor="ctr">
                    <a:solidFill>
                      <a:schemeClr val="tx1"/>
                    </a:solidFill>
                  </a:tcPr>
                </a:tc>
                <a:tc>
                  <a:txBody>
                    <a:bodyPr/>
                    <a:lstStyle/>
                    <a:p>
                      <a:pPr algn="ctr">
                        <a:defRPr sz="1000" b="1">
                          <a:solidFill>
                            <a:srgbClr val="FFFFFF"/>
                          </a:solidFill>
                          <a:latin typeface="Calibri"/>
                        </a:defRPr>
                      </a:pPr>
                      <a:r>
                        <a:rPr lang="fr-FR" sz="1400" noProof="0" dirty="0"/>
                        <a:t>Kaolack</a:t>
                      </a:r>
                    </a:p>
                  </a:txBody>
                  <a:tcPr anchor="ctr">
                    <a:solidFill>
                      <a:schemeClr val="tx1"/>
                    </a:solidFill>
                  </a:tcPr>
                </a:tc>
                <a:tc>
                  <a:txBody>
                    <a:bodyPr/>
                    <a:lstStyle/>
                    <a:p>
                      <a:pPr algn="ctr">
                        <a:defRPr sz="1000" b="1">
                          <a:solidFill>
                            <a:srgbClr val="FFFFFF"/>
                          </a:solidFill>
                          <a:latin typeface="Calibri"/>
                        </a:defRPr>
                      </a:pPr>
                      <a:r>
                        <a:rPr lang="fr-FR" sz="1400" noProof="0" dirty="0"/>
                        <a:t>Mbour</a:t>
                      </a:r>
                    </a:p>
                  </a:txBody>
                  <a:tcPr anchor="ctr">
                    <a:solidFill>
                      <a:schemeClr val="tx1"/>
                    </a:solidFill>
                  </a:tcPr>
                </a:tc>
                <a:tc>
                  <a:txBody>
                    <a:bodyPr/>
                    <a:lstStyle/>
                    <a:p>
                      <a:pPr algn="ctr">
                        <a:defRPr sz="1000" b="1">
                          <a:solidFill>
                            <a:srgbClr val="FFFFFF"/>
                          </a:solidFill>
                          <a:latin typeface="Calibri"/>
                        </a:defRPr>
                      </a:pPr>
                      <a:r>
                        <a:rPr lang="fr-FR" sz="1400" noProof="0" dirty="0"/>
                        <a:t>Ziguinchor</a:t>
                      </a:r>
                    </a:p>
                  </a:txBody>
                  <a:tcPr anchor="ctr">
                    <a:solidFill>
                      <a:schemeClr val="tx1"/>
                    </a:solidFill>
                  </a:tcPr>
                </a:tc>
                <a:tc>
                  <a:txBody>
                    <a:bodyPr/>
                    <a:lstStyle/>
                    <a:p>
                      <a:pPr algn="ctr">
                        <a:defRPr sz="1000" b="1">
                          <a:solidFill>
                            <a:srgbClr val="FFFFFF"/>
                          </a:solidFill>
                          <a:latin typeface="Calibri"/>
                        </a:defRPr>
                      </a:pPr>
                      <a:r>
                        <a:rPr lang="fr-FR" sz="1400" noProof="0" dirty="0"/>
                        <a:t>Fatick</a:t>
                      </a:r>
                    </a:p>
                  </a:txBody>
                  <a:tcPr anchor="ctr">
                    <a:solidFill>
                      <a:schemeClr val="tx1"/>
                    </a:solidFill>
                  </a:tcPr>
                </a:tc>
                <a:tc>
                  <a:txBody>
                    <a:bodyPr/>
                    <a:lstStyle/>
                    <a:p>
                      <a:pPr algn="ctr">
                        <a:defRPr sz="1000" b="1">
                          <a:solidFill>
                            <a:srgbClr val="FFFFFF"/>
                          </a:solidFill>
                          <a:latin typeface="Calibri"/>
                        </a:defRPr>
                      </a:pPr>
                      <a:r>
                        <a:rPr lang="fr-FR" sz="1400" noProof="0" dirty="0"/>
                        <a:t>Saint-Louis</a:t>
                      </a:r>
                    </a:p>
                  </a:txBody>
                  <a:tcPr anchor="ctr">
                    <a:solidFill>
                      <a:schemeClr val="tx1"/>
                    </a:solidFill>
                  </a:tcPr>
                </a:tc>
                <a:tc>
                  <a:txBody>
                    <a:bodyPr/>
                    <a:lstStyle/>
                    <a:p>
                      <a:pPr algn="ctr">
                        <a:defRPr sz="1000" b="1">
                          <a:solidFill>
                            <a:srgbClr val="FFFFFF"/>
                          </a:solidFill>
                          <a:latin typeface="Calibri"/>
                        </a:defRPr>
                      </a:pPr>
                      <a:r>
                        <a:rPr lang="fr-FR" sz="1400" noProof="0" dirty="0"/>
                        <a:t>Tambacounda</a:t>
                      </a:r>
                    </a:p>
                  </a:txBody>
                  <a:tcPr anchor="ctr">
                    <a:solidFill>
                      <a:schemeClr val="tx1"/>
                    </a:solidFill>
                  </a:tcPr>
                </a:tc>
                <a:extLst>
                  <a:ext uri="{0D108BD9-81ED-4DB2-BD59-A6C34878D82A}">
                    <a16:rowId xmlns:a16="http://schemas.microsoft.com/office/drawing/2014/main" val="10000"/>
                  </a:ext>
                </a:extLst>
              </a:tr>
              <a:tr h="625127">
                <a:tc>
                  <a:txBody>
                    <a:bodyPr/>
                    <a:lstStyle/>
                    <a:p>
                      <a:pPr algn="l">
                        <a:defRPr sz="1000" b="1">
                          <a:solidFill>
                            <a:srgbClr val="1A2E5C"/>
                          </a:solidFill>
                          <a:latin typeface="Calibri"/>
                        </a:defRPr>
                      </a:pPr>
                      <a:r>
                        <a:rPr lang="fr-FR" sz="2000" noProof="0" dirty="0" err="1"/>
                        <a:t>NomPPE</a:t>
                      </a:r>
                      <a:endParaRPr lang="fr-FR" sz="2000" noProof="0" dirty="0"/>
                    </a:p>
                  </a:txBody>
                  <a:tcPr anchor="ctr">
                    <a:solidFill>
                      <a:srgbClr val="F5F5F5"/>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tc>
                  <a:txBody>
                    <a:bodyPr/>
                    <a:lstStyle/>
                    <a:p>
                      <a:pPr algn="ctr">
                        <a:defRPr sz="1000" b="1">
                          <a:solidFill>
                            <a:srgbClr val="FFFFFF"/>
                          </a:solidFill>
                          <a:latin typeface="Calibri"/>
                        </a:defRPr>
                      </a:pPr>
                      <a:r>
                        <a:rPr lang="fr-FR" sz="2000" noProof="0" dirty="0"/>
                        <a:t>97%</a:t>
                      </a:r>
                    </a:p>
                  </a:txBody>
                  <a:tcPr anchor="ctr">
                    <a:solidFill>
                      <a:srgbClr val="B71C1C"/>
                    </a:solidFill>
                  </a:tcPr>
                </a:tc>
                <a:extLst>
                  <a:ext uri="{0D108BD9-81ED-4DB2-BD59-A6C34878D82A}">
                    <a16:rowId xmlns:a16="http://schemas.microsoft.com/office/drawing/2014/main" val="10001"/>
                  </a:ext>
                </a:extLst>
              </a:tr>
              <a:tr h="625127">
                <a:tc>
                  <a:txBody>
                    <a:bodyPr/>
                    <a:lstStyle/>
                    <a:p>
                      <a:pPr algn="l">
                        <a:defRPr sz="1000" b="1">
                          <a:solidFill>
                            <a:srgbClr val="1A2E5C"/>
                          </a:solidFill>
                          <a:latin typeface="Calibri"/>
                        </a:defRPr>
                      </a:pPr>
                      <a:r>
                        <a:rPr lang="fr-FR" sz="2000" noProof="0" dirty="0"/>
                        <a:t>Est Une PPE</a:t>
                      </a:r>
                    </a:p>
                  </a:txBody>
                  <a:tcPr anchor="ctr">
                    <a:solidFill>
                      <a:srgbClr val="F5F5F5"/>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tc>
                  <a:txBody>
                    <a:bodyPr/>
                    <a:lstStyle/>
                    <a:p>
                      <a:pPr algn="ctr">
                        <a:defRPr sz="1000" b="1">
                          <a:solidFill>
                            <a:srgbClr val="FFFFFF"/>
                          </a:solidFill>
                          <a:latin typeface="Calibri"/>
                        </a:defRPr>
                      </a:pPr>
                      <a:r>
                        <a:rPr lang="fr-FR" sz="2000" noProof="0" dirty="0"/>
                        <a:t>85%</a:t>
                      </a:r>
                    </a:p>
                  </a:txBody>
                  <a:tcPr anchor="ctr">
                    <a:solidFill>
                      <a:srgbClr val="B71C1C"/>
                    </a:solidFill>
                  </a:tcPr>
                </a:tc>
                <a:extLst>
                  <a:ext uri="{0D108BD9-81ED-4DB2-BD59-A6C34878D82A}">
                    <a16:rowId xmlns:a16="http://schemas.microsoft.com/office/drawing/2014/main" val="10002"/>
                  </a:ext>
                </a:extLst>
              </a:tr>
              <a:tr h="625127">
                <a:tc>
                  <a:txBody>
                    <a:bodyPr/>
                    <a:lstStyle/>
                    <a:p>
                      <a:pPr algn="l">
                        <a:defRPr sz="1000" b="1">
                          <a:solidFill>
                            <a:srgbClr val="1A2E5C"/>
                          </a:solidFill>
                          <a:latin typeface="Calibri"/>
                        </a:defRPr>
                      </a:pPr>
                      <a:r>
                        <a:rPr lang="fr-FR" sz="2000" noProof="0" dirty="0"/>
                        <a:t>Fonction PPE</a:t>
                      </a:r>
                    </a:p>
                  </a:txBody>
                  <a:tcPr anchor="ctr">
                    <a:solidFill>
                      <a:srgbClr val="F5F5F5"/>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tc>
                  <a:txBody>
                    <a:bodyPr/>
                    <a:lstStyle/>
                    <a:p>
                      <a:pPr algn="ctr">
                        <a:defRPr sz="1000" b="1">
                          <a:solidFill>
                            <a:srgbClr val="333333"/>
                          </a:solidFill>
                          <a:latin typeface="Calibri"/>
                        </a:defRPr>
                      </a:pPr>
                      <a:r>
                        <a:rPr lang="fr-FR" sz="2000" noProof="0" dirty="0"/>
                        <a:t>13%</a:t>
                      </a:r>
                    </a:p>
                  </a:txBody>
                  <a:tcPr anchor="ctr">
                    <a:solidFill>
                      <a:srgbClr val="8BC34A"/>
                    </a:solidFill>
                  </a:tcPr>
                </a:tc>
                <a:extLst>
                  <a:ext uri="{0D108BD9-81ED-4DB2-BD59-A6C34878D82A}">
                    <a16:rowId xmlns:a16="http://schemas.microsoft.com/office/drawing/2014/main" val="10003"/>
                  </a:ext>
                </a:extLst>
              </a:tr>
              <a:tr h="625127">
                <a:tc>
                  <a:txBody>
                    <a:bodyPr/>
                    <a:lstStyle/>
                    <a:p>
                      <a:pPr algn="l">
                        <a:defRPr sz="1000" b="1">
                          <a:solidFill>
                            <a:srgbClr val="1A2E5C"/>
                          </a:solidFill>
                          <a:latin typeface="Calibri"/>
                        </a:defRPr>
                      </a:pPr>
                      <a:r>
                        <a:rPr lang="fr-FR" sz="2000" noProof="0" dirty="0"/>
                        <a:t>% Actions</a:t>
                      </a:r>
                    </a:p>
                  </a:txBody>
                  <a:tcPr anchor="ctr">
                    <a:solidFill>
                      <a:srgbClr val="F5F5F5"/>
                    </a:solidFill>
                  </a:tcPr>
                </a:tc>
                <a:tc>
                  <a:txBody>
                    <a:bodyPr/>
                    <a:lstStyle/>
                    <a:p>
                      <a:pPr algn="ctr">
                        <a:defRPr sz="1000" b="1">
                          <a:solidFill>
                            <a:srgbClr val="333333"/>
                          </a:solidFill>
                          <a:latin typeface="Calibri"/>
                        </a:defRPr>
                      </a:pPr>
                      <a:r>
                        <a:rPr lang="fr-FR" sz="2000" noProof="0" dirty="0"/>
                        <a:t>16%</a:t>
                      </a:r>
                    </a:p>
                  </a:txBody>
                  <a:tcPr anchor="ctr">
                    <a:solidFill>
                      <a:srgbClr val="8BC34A"/>
                    </a:solidFill>
                  </a:tcPr>
                </a:tc>
                <a:tc>
                  <a:txBody>
                    <a:bodyPr/>
                    <a:lstStyle/>
                    <a:p>
                      <a:pPr algn="ctr">
                        <a:defRPr sz="1000" b="1">
                          <a:solidFill>
                            <a:srgbClr val="333333"/>
                          </a:solidFill>
                          <a:latin typeface="Calibri"/>
                        </a:defRPr>
                      </a:pPr>
                      <a:r>
                        <a:rPr lang="fr-FR" sz="2000" noProof="0" dirty="0"/>
                        <a:t>2%</a:t>
                      </a:r>
                    </a:p>
                  </a:txBody>
                  <a:tcPr anchor="ctr">
                    <a:solidFill>
                      <a:srgbClr val="8BC34A"/>
                    </a:solidFill>
                  </a:tcPr>
                </a:tc>
                <a:tc>
                  <a:txBody>
                    <a:bodyPr/>
                    <a:lstStyle/>
                    <a:p>
                      <a:pPr algn="ctr">
                        <a:defRPr sz="1000" b="1">
                          <a:solidFill>
                            <a:srgbClr val="333333"/>
                          </a:solidFill>
                          <a:latin typeface="Calibri"/>
                        </a:defRPr>
                      </a:pPr>
                      <a:r>
                        <a:rPr lang="fr-FR" sz="2000" noProof="0" dirty="0"/>
                        <a:t>35%</a:t>
                      </a:r>
                    </a:p>
                  </a:txBody>
                  <a:tcPr anchor="ctr">
                    <a:solidFill>
                      <a:srgbClr val="E65C00"/>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50%</a:t>
                      </a:r>
                    </a:p>
                  </a:txBody>
                  <a:tcPr anchor="ctr">
                    <a:solidFill>
                      <a:srgbClr val="E65C00"/>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20%</a:t>
                      </a:r>
                    </a:p>
                  </a:txBody>
                  <a:tcPr anchor="ctr">
                    <a:solidFill>
                      <a:srgbClr val="8BC34A"/>
                    </a:solidFill>
                  </a:tcPr>
                </a:tc>
                <a:tc>
                  <a:txBody>
                    <a:bodyPr/>
                    <a:lstStyle/>
                    <a:p>
                      <a:pPr algn="ctr">
                        <a:defRPr sz="1000" b="1">
                          <a:solidFill>
                            <a:srgbClr val="333333"/>
                          </a:solidFill>
                          <a:latin typeface="Calibri"/>
                        </a:defRPr>
                      </a:pPr>
                      <a:r>
                        <a:rPr lang="fr-FR" sz="2000" noProof="0" dirty="0"/>
                        <a:t>25%</a:t>
                      </a:r>
                    </a:p>
                  </a:txBody>
                  <a:tcPr anchor="ctr">
                    <a:solidFill>
                      <a:srgbClr val="E65C00"/>
                    </a:solidFill>
                  </a:tcPr>
                </a:tc>
                <a:extLst>
                  <a:ext uri="{0D108BD9-81ED-4DB2-BD59-A6C34878D82A}">
                    <a16:rowId xmlns:a16="http://schemas.microsoft.com/office/drawing/2014/main" val="10004"/>
                  </a:ext>
                </a:extLst>
              </a:tr>
              <a:tr h="625127">
                <a:tc>
                  <a:txBody>
                    <a:bodyPr/>
                    <a:lstStyle/>
                    <a:p>
                      <a:pPr algn="l">
                        <a:defRPr sz="1000" b="1">
                          <a:solidFill>
                            <a:srgbClr val="1A2E5C"/>
                          </a:solidFill>
                          <a:latin typeface="Calibri"/>
                        </a:defRPr>
                      </a:pPr>
                      <a:r>
                        <a:rPr lang="fr-FR" sz="2000" noProof="0" dirty="0"/>
                        <a:t>% Voix</a:t>
                      </a:r>
                    </a:p>
                  </a:txBody>
                  <a:tcPr anchor="ctr">
                    <a:solidFill>
                      <a:srgbClr val="F5F5F5"/>
                    </a:solidFill>
                  </a:tcPr>
                </a:tc>
                <a:tc>
                  <a:txBody>
                    <a:bodyPr/>
                    <a:lstStyle/>
                    <a:p>
                      <a:pPr algn="ctr">
                        <a:defRPr sz="1000" b="1">
                          <a:solidFill>
                            <a:srgbClr val="333333"/>
                          </a:solidFill>
                          <a:latin typeface="Calibri"/>
                        </a:defRPr>
                      </a:pPr>
                      <a:r>
                        <a:rPr lang="fr-FR" sz="2000" noProof="0" dirty="0"/>
                        <a:t>30%</a:t>
                      </a:r>
                    </a:p>
                  </a:txBody>
                  <a:tcPr anchor="ctr">
                    <a:solidFill>
                      <a:srgbClr val="E65C00"/>
                    </a:solidFill>
                  </a:tcPr>
                </a:tc>
                <a:tc>
                  <a:txBody>
                    <a:bodyPr/>
                    <a:lstStyle/>
                    <a:p>
                      <a:pPr algn="ctr">
                        <a:defRPr sz="1000" b="1">
                          <a:solidFill>
                            <a:srgbClr val="333333"/>
                          </a:solidFill>
                          <a:latin typeface="Calibri"/>
                        </a:defRPr>
                      </a:pPr>
                      <a:r>
                        <a:rPr lang="fr-FR" sz="2000" noProof="0" dirty="0"/>
                        <a:t>5%</a:t>
                      </a:r>
                    </a:p>
                  </a:txBody>
                  <a:tcPr anchor="ctr">
                    <a:solidFill>
                      <a:srgbClr val="8BC34A"/>
                    </a:solidFill>
                  </a:tcPr>
                </a:tc>
                <a:tc>
                  <a:txBody>
                    <a:bodyPr/>
                    <a:lstStyle/>
                    <a:p>
                      <a:pPr algn="ctr">
                        <a:defRPr sz="1000" b="1">
                          <a:solidFill>
                            <a:srgbClr val="333333"/>
                          </a:solidFill>
                          <a:latin typeface="Calibri"/>
                        </a:defRPr>
                      </a:pPr>
                      <a:r>
                        <a:rPr lang="fr-FR" sz="2000" noProof="0" dirty="0"/>
                        <a:t>40%</a:t>
                      </a:r>
                    </a:p>
                  </a:txBody>
                  <a:tcPr anchor="ctr">
                    <a:solidFill>
                      <a:srgbClr val="E65C00"/>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50%</a:t>
                      </a:r>
                    </a:p>
                  </a:txBody>
                  <a:tcPr anchor="ctr">
                    <a:solidFill>
                      <a:srgbClr val="E65C00"/>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25%</a:t>
                      </a:r>
                    </a:p>
                  </a:txBody>
                  <a:tcPr anchor="ctr">
                    <a:solidFill>
                      <a:srgbClr val="E65C00"/>
                    </a:solidFill>
                  </a:tcPr>
                </a:tc>
                <a:tc>
                  <a:txBody>
                    <a:bodyPr/>
                    <a:lstStyle/>
                    <a:p>
                      <a:pPr algn="ctr">
                        <a:defRPr sz="1000" b="1">
                          <a:solidFill>
                            <a:srgbClr val="333333"/>
                          </a:solidFill>
                          <a:latin typeface="Calibri"/>
                        </a:defRPr>
                      </a:pPr>
                      <a:r>
                        <a:rPr lang="fr-FR" sz="2000" noProof="0" dirty="0"/>
                        <a:t>30%</a:t>
                      </a:r>
                    </a:p>
                  </a:txBody>
                  <a:tcPr anchor="ctr">
                    <a:solidFill>
                      <a:srgbClr val="E65C00"/>
                    </a:solidFill>
                  </a:tcPr>
                </a:tc>
                <a:extLst>
                  <a:ext uri="{0D108BD9-81ED-4DB2-BD59-A6C34878D82A}">
                    <a16:rowId xmlns:a16="http://schemas.microsoft.com/office/drawing/2014/main" val="10005"/>
                  </a:ext>
                </a:extLst>
              </a:tr>
              <a:tr h="638357">
                <a:tc>
                  <a:txBody>
                    <a:bodyPr/>
                    <a:lstStyle/>
                    <a:p>
                      <a:pPr algn="l">
                        <a:defRPr sz="1000" b="1">
                          <a:solidFill>
                            <a:srgbClr val="1A2E5C"/>
                          </a:solidFill>
                          <a:latin typeface="Calibri"/>
                        </a:defRPr>
                      </a:pPr>
                      <a:r>
                        <a:rPr lang="fr-FR" sz="2000" noProof="0" dirty="0"/>
                        <a:t>Pays résidence</a:t>
                      </a:r>
                    </a:p>
                  </a:txBody>
                  <a:tcPr anchor="ctr">
                    <a:solidFill>
                      <a:srgbClr val="F5F5F5"/>
                    </a:solidFill>
                  </a:tcPr>
                </a:tc>
                <a:tc>
                  <a:txBody>
                    <a:bodyPr/>
                    <a:lstStyle/>
                    <a:p>
                      <a:pPr algn="ctr">
                        <a:defRPr sz="1000" b="1">
                          <a:solidFill>
                            <a:srgbClr val="333333"/>
                          </a:solidFill>
                          <a:latin typeface="Calibri"/>
                        </a:defRPr>
                      </a:pPr>
                      <a:r>
                        <a:rPr lang="fr-FR" sz="2000" noProof="0" dirty="0"/>
                        <a:t>12%</a:t>
                      </a:r>
                    </a:p>
                  </a:txBody>
                  <a:tcPr anchor="ctr">
                    <a:solidFill>
                      <a:srgbClr val="8BC34A"/>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FFFFFF"/>
                          </a:solidFill>
                          <a:latin typeface="Calibri"/>
                        </a:defRPr>
                      </a:pPr>
                      <a:r>
                        <a:rPr lang="fr-FR" sz="2000" noProof="0" dirty="0"/>
                        <a:t>100%</a:t>
                      </a:r>
                    </a:p>
                  </a:txBody>
                  <a:tcPr anchor="ctr">
                    <a:solidFill>
                      <a:srgbClr val="B71C1C"/>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333333"/>
                          </a:solidFill>
                          <a:latin typeface="Calibri"/>
                        </a:defRPr>
                      </a:pPr>
                      <a:r>
                        <a:rPr lang="fr-FR" sz="2000" noProof="0" dirty="0"/>
                        <a:t>50%</a:t>
                      </a:r>
                    </a:p>
                  </a:txBody>
                  <a:tcPr anchor="ctr">
                    <a:solidFill>
                      <a:srgbClr val="E65C00"/>
                    </a:solidFill>
                  </a:tcPr>
                </a:tc>
                <a:tc>
                  <a:txBody>
                    <a:bodyPr/>
                    <a:lstStyle/>
                    <a:p>
                      <a:pPr algn="ctr">
                        <a:defRPr sz="1000" b="1">
                          <a:solidFill>
                            <a:srgbClr val="333333"/>
                          </a:solidFill>
                          <a:latin typeface="Calibri"/>
                        </a:defRPr>
                      </a:pPr>
                      <a:r>
                        <a:rPr lang="fr-FR" sz="2000" noProof="0" dirty="0"/>
                        <a:t>0%</a:t>
                      </a:r>
                    </a:p>
                  </a:txBody>
                  <a:tcPr anchor="ctr">
                    <a:solidFill>
                      <a:srgbClr val="2E7D32"/>
                    </a:solidFill>
                  </a:tcPr>
                </a:tc>
                <a:tc>
                  <a:txBody>
                    <a:bodyPr/>
                    <a:lstStyle/>
                    <a:p>
                      <a:pPr algn="ctr">
                        <a:defRPr sz="1000" b="1">
                          <a:solidFill>
                            <a:srgbClr val="333333"/>
                          </a:solidFill>
                          <a:latin typeface="Calibri"/>
                        </a:defRPr>
                      </a:pPr>
                      <a:r>
                        <a:rPr lang="fr-FR" sz="2000" noProof="0" dirty="0"/>
                        <a:t>50%</a:t>
                      </a:r>
                    </a:p>
                  </a:txBody>
                  <a:tcPr anchor="ctr">
                    <a:solidFill>
                      <a:srgbClr val="E65C0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64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570" y="14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Analyse des erreurs de saisie</a:t>
            </a:r>
          </a:p>
          <a:p>
            <a:pPr>
              <a:spcBef>
                <a:spcPts val="400"/>
              </a:spcBef>
              <a:defRPr sz="1600">
                <a:solidFill>
                  <a:srgbClr val="C4A41A"/>
                </a:solidFill>
                <a:latin typeface="Calibri"/>
              </a:defRPr>
            </a:pPr>
            <a:r>
              <a:rPr lang="fr-FR" sz="3600" dirty="0">
                <a:solidFill>
                  <a:srgbClr val="FFC000"/>
                </a:solidFill>
                <a:latin typeface="Calibri"/>
              </a:rPr>
              <a:t>Autres incohérences</a:t>
            </a:r>
          </a:p>
        </p:txBody>
      </p:sp>
      <p:sp>
        <p:nvSpPr>
          <p:cNvPr id="8" name="TextBox 7"/>
          <p:cNvSpPr txBox="1"/>
          <p:nvPr/>
        </p:nvSpPr>
        <p:spPr>
          <a:xfrm>
            <a:off x="206172" y="1444972"/>
            <a:ext cx="11498148" cy="584775"/>
          </a:xfrm>
          <a:prstGeom prst="rect">
            <a:avLst/>
          </a:prstGeom>
          <a:noFill/>
        </p:spPr>
        <p:txBody>
          <a:bodyPr wrap="none">
            <a:spAutoFit/>
          </a:bodyPr>
          <a:lstStyle/>
          <a:p>
            <a:pPr>
              <a:defRPr sz="1300">
                <a:solidFill>
                  <a:srgbClr val="333333"/>
                </a:solidFill>
                <a:latin typeface="Calibri"/>
              </a:defRPr>
            </a:pPr>
            <a:r>
              <a:rPr lang="fr-FR" sz="1600" dirty="0"/>
              <a:t>547 enregistrements sur 628 (87,1 %) sont affectés par au moins une erreur de saisie. Les problèmes se concentrent sur les champs PPE </a:t>
            </a:r>
            <a:br>
              <a:rPr lang="fr-FR" sz="1600" dirty="0"/>
            </a:br>
            <a:r>
              <a:rPr lang="fr-FR" sz="1600" dirty="0"/>
              <a:t>et les participations financières</a:t>
            </a:r>
            <a:r>
              <a:rPr lang="fr-FR" dirty="0"/>
              <a:t>.</a:t>
            </a:r>
          </a:p>
        </p:txBody>
      </p:sp>
      <p:sp>
        <p:nvSpPr>
          <p:cNvPr id="9" name="Rounded Rectangle 8"/>
          <p:cNvSpPr/>
          <p:nvPr/>
        </p:nvSpPr>
        <p:spPr>
          <a:xfrm>
            <a:off x="206172" y="1995150"/>
            <a:ext cx="5749074" cy="3197104"/>
          </a:xfrm>
          <a:prstGeom prst="roundRect">
            <a:avLst/>
          </a:prstGeom>
          <a:solidFill>
            <a:srgbClr val="FFEBEE"/>
          </a:solidFill>
          <a:ln w="19050">
            <a:solidFill>
              <a:srgbClr val="B71C1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B71C1C"/>
                </a:solidFill>
                <a:latin typeface="Calibri"/>
              </a:defRPr>
            </a:pPr>
            <a:r>
              <a:rPr dirty="0"/>
              <a:t>ERREURS DE SAISIE</a:t>
            </a:r>
          </a:p>
          <a:p>
            <a:pPr>
              <a:spcAft>
                <a:spcPts val="100"/>
              </a:spcAft>
              <a:defRPr sz="1100" b="1">
                <a:solidFill>
                  <a:srgbClr val="333333"/>
                </a:solidFill>
                <a:latin typeface="Calibri"/>
              </a:defRPr>
            </a:pPr>
            <a:r>
              <a:rPr lang="fr-FR" sz="1600" dirty="0"/>
              <a:t>• Erreur 1 (14 cas):</a:t>
            </a:r>
          </a:p>
          <a:p>
            <a:pPr>
              <a:spcAft>
                <a:spcPts val="400"/>
              </a:spcAft>
              <a:defRPr sz="1000">
                <a:solidFill>
                  <a:srgbClr val="666666"/>
                </a:solidFill>
                <a:latin typeface="Calibri"/>
              </a:defRPr>
            </a:pPr>
            <a:r>
              <a:rPr lang="fr-FR" sz="1200" dirty="0"/>
              <a:t>  Nom de pays (SENEGAL, EGYPT) saisi dans le champ « Est Une PPE » au lieu du code binaire 0/1</a:t>
            </a:r>
          </a:p>
          <a:p>
            <a:pPr>
              <a:spcAft>
                <a:spcPts val="100"/>
              </a:spcAft>
              <a:defRPr sz="1100" b="1">
                <a:solidFill>
                  <a:srgbClr val="333333"/>
                </a:solidFill>
                <a:latin typeface="Calibri"/>
              </a:defRPr>
            </a:pPr>
            <a:r>
              <a:rPr lang="fr-FR" dirty="0"/>
              <a:t>• </a:t>
            </a:r>
            <a:r>
              <a:rPr lang="fr-FR" sz="1600" b="1" dirty="0">
                <a:solidFill>
                  <a:srgbClr val="333333"/>
                </a:solidFill>
                <a:latin typeface="Calibri"/>
              </a:rPr>
              <a:t>Erreur 2 (2 cas):</a:t>
            </a:r>
          </a:p>
          <a:p>
            <a:pPr>
              <a:spcAft>
                <a:spcPts val="400"/>
              </a:spcAft>
              <a:defRPr sz="1000">
                <a:solidFill>
                  <a:srgbClr val="666666"/>
                </a:solidFill>
                <a:latin typeface="Calibri"/>
              </a:defRPr>
            </a:pPr>
            <a:r>
              <a:rPr lang="fr-FR" sz="1200" dirty="0">
                <a:solidFill>
                  <a:srgbClr val="666666"/>
                </a:solidFill>
                <a:latin typeface="Calibri"/>
              </a:rPr>
              <a:t>  Nom de personne saisi dans « Fonction PPE » au lieu de l'intitulé de fonction</a:t>
            </a:r>
          </a:p>
          <a:p>
            <a:pPr>
              <a:spcAft>
                <a:spcPts val="100"/>
              </a:spcAft>
              <a:defRPr sz="1100" b="1">
                <a:solidFill>
                  <a:srgbClr val="333333"/>
                </a:solidFill>
                <a:latin typeface="Calibri"/>
              </a:defRPr>
            </a:pPr>
            <a:r>
              <a:rPr lang="fr-FR" sz="1600" b="1" dirty="0">
                <a:solidFill>
                  <a:srgbClr val="333333"/>
                </a:solidFill>
                <a:latin typeface="Calibri"/>
              </a:rPr>
              <a:t>• Erreur 3 (2 cas):</a:t>
            </a:r>
          </a:p>
          <a:p>
            <a:pPr>
              <a:spcAft>
                <a:spcPts val="400"/>
              </a:spcAft>
              <a:defRPr sz="1000">
                <a:solidFill>
                  <a:srgbClr val="666666"/>
                </a:solidFill>
                <a:latin typeface="Calibri"/>
              </a:defRPr>
            </a:pPr>
            <a:r>
              <a:rPr lang="fr-FR" sz="1200" dirty="0">
                <a:solidFill>
                  <a:srgbClr val="666666"/>
                </a:solidFill>
                <a:latin typeface="Calibri"/>
              </a:rPr>
              <a:t>  Libellé collectif (« les Directeurs généraux ») dans « </a:t>
            </a:r>
            <a:r>
              <a:rPr lang="fr-FR" sz="1200" dirty="0" err="1">
                <a:solidFill>
                  <a:srgbClr val="666666"/>
                </a:solidFill>
                <a:latin typeface="Calibri"/>
              </a:rPr>
              <a:t>NomPPE</a:t>
            </a:r>
            <a:r>
              <a:rPr lang="fr-FR" sz="1200" dirty="0">
                <a:solidFill>
                  <a:srgbClr val="666666"/>
                </a:solidFill>
                <a:latin typeface="Calibri"/>
              </a:rPr>
              <a:t> » au lieu d'un nom individuel</a:t>
            </a:r>
          </a:p>
          <a:p>
            <a:pPr>
              <a:spcAft>
                <a:spcPts val="100"/>
              </a:spcAft>
              <a:defRPr sz="1100" b="1">
                <a:solidFill>
                  <a:srgbClr val="333333"/>
                </a:solidFill>
                <a:latin typeface="Calibri"/>
              </a:defRPr>
            </a:pPr>
            <a:r>
              <a:rPr lang="fr-FR" sz="1600" b="1" dirty="0">
                <a:solidFill>
                  <a:srgbClr val="333333"/>
                </a:solidFill>
                <a:latin typeface="Calibri"/>
              </a:rPr>
              <a:t>• Erreur 4b (545 cas):</a:t>
            </a:r>
          </a:p>
          <a:p>
            <a:pPr>
              <a:spcAft>
                <a:spcPts val="400"/>
              </a:spcAft>
              <a:defRPr sz="1000">
                <a:solidFill>
                  <a:srgbClr val="666666"/>
                </a:solidFill>
                <a:latin typeface="Calibri"/>
              </a:defRPr>
            </a:pPr>
            <a:r>
              <a:rPr lang="fr-FR" sz="1200" dirty="0">
                <a:solidFill>
                  <a:srgbClr val="666666"/>
                </a:solidFill>
                <a:latin typeface="Calibri"/>
              </a:rPr>
              <a:t>  Code binaire (0 ou 1) dans « Fonction PPE » au lieu d'un texte : confusion systématique avec « Est Une PPE »</a:t>
            </a:r>
          </a:p>
        </p:txBody>
      </p:sp>
      <p:sp>
        <p:nvSpPr>
          <p:cNvPr id="10" name="Rounded Rectangle 9"/>
          <p:cNvSpPr/>
          <p:nvPr/>
        </p:nvSpPr>
        <p:spPr>
          <a:xfrm>
            <a:off x="6161418" y="2140846"/>
            <a:ext cx="5657634" cy="2924639"/>
          </a:xfrm>
          <a:prstGeom prst="roundRect">
            <a:avLst/>
          </a:prstGeom>
          <a:solidFill>
            <a:srgbClr val="E8F0FE"/>
          </a:solidFill>
          <a:ln w="19050">
            <a:solidFill>
              <a:srgbClr val="1A2E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1A2E5C"/>
                </a:solidFill>
                <a:latin typeface="Calibri"/>
              </a:defRPr>
            </a:pPr>
            <a:r>
              <a:rPr lang="fr-FR" dirty="0"/>
              <a:t>DOUBLONS</a:t>
            </a:r>
          </a:p>
          <a:p>
            <a:pPr>
              <a:spcAft>
                <a:spcPts val="100"/>
              </a:spcAft>
              <a:defRPr sz="1100" b="1">
                <a:solidFill>
                  <a:srgbClr val="333333"/>
                </a:solidFill>
                <a:latin typeface="Calibri"/>
              </a:defRPr>
            </a:pPr>
            <a:r>
              <a:rPr lang="fr-FR" sz="1600" b="1" dirty="0">
                <a:solidFill>
                  <a:srgbClr val="333333"/>
                </a:solidFill>
                <a:latin typeface="Calibri"/>
              </a:rPr>
              <a:t>• Doublons exacts (1):</a:t>
            </a:r>
          </a:p>
          <a:p>
            <a:pPr>
              <a:spcAft>
                <a:spcPts val="400"/>
              </a:spcAft>
              <a:defRPr sz="1000">
                <a:solidFill>
                  <a:srgbClr val="666666"/>
                </a:solidFill>
                <a:latin typeface="Calibri"/>
              </a:defRPr>
            </a:pPr>
            <a:r>
              <a:rPr lang="fr-FR" sz="1200" dirty="0"/>
              <a:t>  Ligne strictement identique saisie deux fois</a:t>
            </a:r>
          </a:p>
          <a:p>
            <a:pPr>
              <a:spcAft>
                <a:spcPts val="100"/>
              </a:spcAft>
              <a:defRPr sz="1100" b="1">
                <a:solidFill>
                  <a:srgbClr val="333333"/>
                </a:solidFill>
                <a:latin typeface="Calibri"/>
              </a:defRPr>
            </a:pPr>
            <a:r>
              <a:rPr lang="fr-FR" sz="1600" b="1" dirty="0">
                <a:solidFill>
                  <a:srgbClr val="333333"/>
                </a:solidFill>
                <a:latin typeface="Calibri"/>
              </a:rPr>
              <a:t>• Doublons orthographiques (9):</a:t>
            </a:r>
          </a:p>
          <a:p>
            <a:pPr>
              <a:spcAft>
                <a:spcPts val="400"/>
              </a:spcAft>
              <a:defRPr sz="1000">
                <a:solidFill>
                  <a:srgbClr val="666666"/>
                </a:solidFill>
                <a:latin typeface="Calibri"/>
              </a:defRPr>
            </a:pPr>
            <a:r>
              <a:rPr lang="fr-FR" dirty="0"/>
              <a:t>  </a:t>
            </a:r>
            <a:r>
              <a:rPr lang="fr-FR" sz="1200" dirty="0">
                <a:solidFill>
                  <a:srgbClr val="666666"/>
                </a:solidFill>
                <a:latin typeface="Calibri"/>
              </a:rPr>
              <a:t>Même bénéficiaire avec variation d'encodage (SENEGAL/SÉNÉGAL, EGYPT/ÉGYPTE)</a:t>
            </a:r>
          </a:p>
          <a:p>
            <a:pPr>
              <a:spcAft>
                <a:spcPts val="100"/>
              </a:spcAft>
              <a:defRPr sz="1100" b="1">
                <a:solidFill>
                  <a:srgbClr val="333333"/>
                </a:solidFill>
                <a:latin typeface="Calibri"/>
              </a:defRPr>
            </a:pPr>
            <a:r>
              <a:rPr lang="fr-FR" sz="1600" b="1" dirty="0">
                <a:solidFill>
                  <a:srgbClr val="333333"/>
                </a:solidFill>
                <a:latin typeface="Calibri"/>
              </a:rPr>
              <a:t>• Doublons avec conflit (2):</a:t>
            </a:r>
          </a:p>
          <a:p>
            <a:pPr>
              <a:spcAft>
                <a:spcPts val="400"/>
              </a:spcAft>
              <a:defRPr sz="1000">
                <a:solidFill>
                  <a:srgbClr val="666666"/>
                </a:solidFill>
                <a:latin typeface="Calibri"/>
              </a:defRPr>
            </a:pPr>
            <a:r>
              <a:rPr lang="fr-FR" dirty="0"/>
              <a:t>  </a:t>
            </a:r>
            <a:r>
              <a:rPr lang="fr-FR" sz="1200" dirty="0"/>
              <a:t>Valeurs financières contradictoires : HAILITHEN (100% vs 200%), HINDOR (50% vs 150%)</a:t>
            </a:r>
          </a:p>
        </p:txBody>
      </p:sp>
      <p:sp>
        <p:nvSpPr>
          <p:cNvPr id="11" name="Rounded Rectangle 10"/>
          <p:cNvSpPr/>
          <p:nvPr/>
        </p:nvSpPr>
        <p:spPr>
          <a:xfrm>
            <a:off x="206172" y="5271034"/>
            <a:ext cx="11612880" cy="1614262"/>
          </a:xfrm>
          <a:prstGeom prst="round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2E7D32"/>
                </a:solidFill>
                <a:latin typeface="Calibri"/>
              </a:defRPr>
            </a:pPr>
            <a:r>
              <a:rPr dirty="0"/>
              <a:t>PARTICIPATIONS FINANCIÈRES</a:t>
            </a:r>
          </a:p>
          <a:p>
            <a:pPr>
              <a:spcAft>
                <a:spcPts val="400"/>
              </a:spcAft>
              <a:defRPr sz="1200">
                <a:solidFill>
                  <a:srgbClr val="333333"/>
                </a:solidFill>
                <a:latin typeface="Calibri"/>
              </a:defRPr>
            </a:pPr>
            <a:r>
              <a:rPr lang="fr-FR" sz="1400" dirty="0"/>
              <a:t>Sur 238 couples entreprise-année avec des parts renseignées :</a:t>
            </a:r>
          </a:p>
          <a:p>
            <a:pPr>
              <a:spcAft>
                <a:spcPts val="200"/>
              </a:spcAft>
              <a:defRPr sz="1100">
                <a:solidFill>
                  <a:srgbClr val="333333"/>
                </a:solidFill>
                <a:latin typeface="Calibri"/>
              </a:defRPr>
            </a:pPr>
            <a:r>
              <a:rPr lang="fr-FR" sz="1400" dirty="0"/>
              <a:t>• 209 (87,8 %) atteignent exactement 100 % </a:t>
            </a:r>
          </a:p>
          <a:p>
            <a:pPr>
              <a:spcAft>
                <a:spcPts val="200"/>
              </a:spcAft>
              <a:defRPr sz="1100">
                <a:solidFill>
                  <a:srgbClr val="333333"/>
                </a:solidFill>
                <a:latin typeface="Calibri"/>
              </a:defRPr>
            </a:pPr>
            <a:r>
              <a:rPr lang="fr-FR" sz="1400" dirty="0"/>
              <a:t>• 21 (8,8 %) sont inférieurs à 100 % : bénéficiaires potentiellement non déclarés</a:t>
            </a:r>
          </a:p>
          <a:p>
            <a:pPr>
              <a:spcAft>
                <a:spcPts val="200"/>
              </a:spcAft>
              <a:defRPr sz="1100">
                <a:solidFill>
                  <a:srgbClr val="333333"/>
                </a:solidFill>
                <a:latin typeface="Calibri"/>
              </a:defRPr>
            </a:pPr>
            <a:r>
              <a:rPr lang="fr-FR" sz="1400" dirty="0"/>
              <a:t>• 8 (3,4 %) dépassent 100 % : erreurs de saisie graves (HAILITHEN atteint 300 %, HINDOR 200 %)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Recommandations</a:t>
            </a:r>
          </a:p>
          <a:p>
            <a:pPr>
              <a:spcBef>
                <a:spcPts val="400"/>
              </a:spcBef>
              <a:defRPr sz="1600">
                <a:solidFill>
                  <a:srgbClr val="C4A41A"/>
                </a:solidFill>
                <a:latin typeface="Calibri"/>
              </a:defRPr>
            </a:pPr>
            <a:r>
              <a:rPr lang="fr-FR" sz="3600" dirty="0">
                <a:solidFill>
                  <a:srgbClr val="FFC000"/>
                </a:solidFill>
                <a:latin typeface="Calibri"/>
              </a:rPr>
              <a:t>Axes d'amélioration du système RBE</a:t>
            </a:r>
          </a:p>
        </p:txBody>
      </p:sp>
      <p:sp>
        <p:nvSpPr>
          <p:cNvPr id="8" name="TextBox 7"/>
          <p:cNvSpPr txBox="1"/>
          <p:nvPr/>
        </p:nvSpPr>
        <p:spPr>
          <a:xfrm>
            <a:off x="783771" y="1457610"/>
            <a:ext cx="11501527" cy="584775"/>
          </a:xfrm>
          <a:prstGeom prst="rect">
            <a:avLst/>
          </a:prstGeom>
          <a:noFill/>
        </p:spPr>
        <p:txBody>
          <a:bodyPr wrap="square">
            <a:spAutoFit/>
          </a:bodyPr>
          <a:lstStyle/>
          <a:p>
            <a:pPr>
              <a:defRPr sz="1300">
                <a:solidFill>
                  <a:srgbClr val="333333"/>
                </a:solidFill>
                <a:latin typeface="Calibri"/>
              </a:defRPr>
            </a:pPr>
            <a:r>
              <a:rPr lang="fr-FR" sz="1600" dirty="0"/>
              <a:t>Sur la base des constats issus de l'audit qualité (2021-2025), </a:t>
            </a:r>
            <a:br>
              <a:rPr lang="fr-FR" sz="1600" dirty="0"/>
            </a:br>
            <a:r>
              <a:rPr lang="fr-FR" sz="1600" dirty="0"/>
              <a:t>les recommandations suivantes visent à renforcer l'efficacité du RBE et à aligner le système sur les standards internationaux.</a:t>
            </a:r>
          </a:p>
        </p:txBody>
      </p:sp>
      <p:sp>
        <p:nvSpPr>
          <p:cNvPr id="9" name="Rounded Rectangle 8"/>
          <p:cNvSpPr/>
          <p:nvPr/>
        </p:nvSpPr>
        <p:spPr>
          <a:xfrm>
            <a:off x="457200" y="2011680"/>
            <a:ext cx="3474720" cy="2148840"/>
          </a:xfrm>
          <a:prstGeom prst="roundRect">
            <a:avLst/>
          </a:prstGeom>
          <a:ln/>
        </p:spPr>
        <p:style>
          <a:lnRef idx="2">
            <a:schemeClr val="accent2"/>
          </a:lnRef>
          <a:fillRef idx="1">
            <a:schemeClr val="lt1"/>
          </a:fillRef>
          <a:effectRef idx="0">
            <a:schemeClr val="accent2"/>
          </a:effectRef>
          <a:fontRef idx="minor">
            <a:schemeClr val="dk1"/>
          </a:fontRef>
        </p:style>
        <p:txBody>
          <a:bodyPr wrap="square" rtlCol="0" anchor="ctr"/>
          <a:lstStyle/>
          <a:p>
            <a:pPr algn="ctr">
              <a:spcAft>
                <a:spcPts val="400"/>
              </a:spcAft>
              <a:defRPr sz="1300" b="1">
                <a:solidFill>
                  <a:srgbClr val="1A2E5C"/>
                </a:solidFill>
                <a:latin typeface="Calibri"/>
              </a:defRPr>
            </a:pPr>
            <a:r>
              <a:t>1. RENCONTRER LES AGENTS DE COLLECTE</a:t>
            </a:r>
          </a:p>
          <a:p>
            <a:pPr>
              <a:spcAft>
                <a:spcPts val="300"/>
              </a:spcAft>
              <a:defRPr sz="1100">
                <a:solidFill>
                  <a:srgbClr val="333333"/>
                </a:solidFill>
                <a:latin typeface="Calibri"/>
              </a:defRPr>
            </a:pPr>
            <a:r>
              <a:t>Organiser des sessions de travail avec les agents du Ministère de la Justice et des greffes pour :</a:t>
            </a:r>
          </a:p>
          <a:p>
            <a:pPr>
              <a:spcAft>
                <a:spcPts val="200"/>
              </a:spcAft>
              <a:defRPr sz="1000">
                <a:solidFill>
                  <a:srgbClr val="333333"/>
                </a:solidFill>
                <a:latin typeface="Calibri"/>
              </a:defRPr>
            </a:pPr>
            <a:r>
              <a:t>• Comprendre les difficultés réelles de collecte sur le terrain</a:t>
            </a:r>
          </a:p>
          <a:p>
            <a:pPr>
              <a:spcAft>
                <a:spcPts val="200"/>
              </a:spcAft>
              <a:defRPr sz="1000">
                <a:solidFill>
                  <a:srgbClr val="333333"/>
                </a:solidFill>
                <a:latin typeface="Calibri"/>
              </a:defRPr>
            </a:pPr>
            <a:r>
              <a:t>• Identifier les points de friction dans le processus de saisie</a:t>
            </a:r>
          </a:p>
          <a:p>
            <a:pPr>
              <a:spcAft>
                <a:spcPts val="200"/>
              </a:spcAft>
              <a:defRPr sz="1000">
                <a:solidFill>
                  <a:srgbClr val="333333"/>
                </a:solidFill>
                <a:latin typeface="Calibri"/>
              </a:defRPr>
            </a:pPr>
            <a:r>
              <a:t>• Co-construire des solutions adaptées aux contraintes opérationnelles</a:t>
            </a:r>
          </a:p>
        </p:txBody>
      </p:sp>
      <p:sp>
        <p:nvSpPr>
          <p:cNvPr id="10" name="Rounded Rectangle 9"/>
          <p:cNvSpPr/>
          <p:nvPr/>
        </p:nvSpPr>
        <p:spPr>
          <a:xfrm>
            <a:off x="4206239" y="2011680"/>
            <a:ext cx="3950789" cy="2103120"/>
          </a:xfrm>
          <a:prstGeom prst="roundRect">
            <a:avLst/>
          </a:prstGeom>
          <a:ln/>
        </p:spPr>
        <p:style>
          <a:lnRef idx="2">
            <a:schemeClr val="accent2"/>
          </a:lnRef>
          <a:fillRef idx="1">
            <a:schemeClr val="lt1"/>
          </a:fillRef>
          <a:effectRef idx="0">
            <a:schemeClr val="accent2"/>
          </a:effectRef>
          <a:fontRef idx="minor">
            <a:schemeClr val="dk1"/>
          </a:fontRef>
        </p:style>
        <p:txBody>
          <a:bodyPr wrap="square" rtlCol="0" anchor="ctr"/>
          <a:lstStyle/>
          <a:p>
            <a:pPr algn="ctr">
              <a:spcAft>
                <a:spcPts val="400"/>
              </a:spcAft>
              <a:defRPr sz="1300" b="1">
                <a:solidFill>
                  <a:srgbClr val="2E7D32"/>
                </a:solidFill>
                <a:latin typeface="Calibri"/>
              </a:defRPr>
            </a:pPr>
            <a:r>
              <a:rPr lang="fr-FR" dirty="0"/>
              <a:t>2. PROPOSER UN NOUVEAU FORMULAIRE</a:t>
            </a:r>
          </a:p>
          <a:p>
            <a:pPr>
              <a:spcAft>
                <a:spcPts val="300"/>
              </a:spcAft>
              <a:defRPr sz="1100">
                <a:solidFill>
                  <a:srgbClr val="333333"/>
                </a:solidFill>
                <a:latin typeface="Calibri"/>
              </a:defRPr>
            </a:pPr>
            <a:r>
              <a:rPr lang="fr-FR" dirty="0"/>
              <a:t>Concevoir un formulaire révisé intégrant :</a:t>
            </a:r>
          </a:p>
          <a:p>
            <a:pPr>
              <a:spcAft>
                <a:spcPts val="200"/>
              </a:spcAft>
              <a:defRPr sz="1000">
                <a:solidFill>
                  <a:srgbClr val="333333"/>
                </a:solidFill>
                <a:latin typeface="Calibri"/>
              </a:defRPr>
            </a:pPr>
            <a:r>
              <a:rPr lang="fr-FR" dirty="0"/>
              <a:t>• Champs obligatoires avec validation automatique des formats</a:t>
            </a:r>
          </a:p>
          <a:p>
            <a:pPr>
              <a:spcAft>
                <a:spcPts val="200"/>
              </a:spcAft>
              <a:defRPr sz="1000">
                <a:solidFill>
                  <a:srgbClr val="333333"/>
                </a:solidFill>
                <a:latin typeface="Calibri"/>
              </a:defRPr>
            </a:pPr>
            <a:r>
              <a:rPr lang="fr-FR" dirty="0"/>
              <a:t>• Listes déroulantes pour les codes binaires et les pays</a:t>
            </a:r>
          </a:p>
          <a:p>
            <a:pPr>
              <a:spcAft>
                <a:spcPts val="200"/>
              </a:spcAft>
              <a:defRPr sz="1000">
                <a:solidFill>
                  <a:srgbClr val="333333"/>
                </a:solidFill>
                <a:latin typeface="Calibri"/>
              </a:defRPr>
            </a:pPr>
            <a:r>
              <a:rPr lang="fr-FR" dirty="0"/>
              <a:t>• Instructions claires pour éviter les confusions de champs</a:t>
            </a:r>
          </a:p>
          <a:p>
            <a:pPr>
              <a:spcAft>
                <a:spcPts val="200"/>
              </a:spcAft>
              <a:defRPr sz="1000">
                <a:solidFill>
                  <a:srgbClr val="333333"/>
                </a:solidFill>
                <a:latin typeface="Calibri"/>
              </a:defRPr>
            </a:pPr>
            <a:r>
              <a:rPr lang="fr-FR" dirty="0"/>
              <a:t>• Version numérique et version papier harmonisées</a:t>
            </a:r>
          </a:p>
        </p:txBody>
      </p:sp>
      <p:sp>
        <p:nvSpPr>
          <p:cNvPr id="11" name="Rounded Rectangle 10"/>
          <p:cNvSpPr/>
          <p:nvPr/>
        </p:nvSpPr>
        <p:spPr>
          <a:xfrm>
            <a:off x="8431347" y="2042385"/>
            <a:ext cx="3474720" cy="2103120"/>
          </a:xfrm>
          <a:prstGeom prst="roundRect">
            <a:avLst/>
          </a:prstGeom>
          <a:ln/>
        </p:spPr>
        <p:style>
          <a:lnRef idx="2">
            <a:schemeClr val="accent2"/>
          </a:lnRef>
          <a:fillRef idx="1">
            <a:schemeClr val="lt1"/>
          </a:fillRef>
          <a:effectRef idx="0">
            <a:schemeClr val="accent2"/>
          </a:effectRef>
          <a:fontRef idx="minor">
            <a:schemeClr val="dk1"/>
          </a:fontRef>
        </p:style>
        <p:txBody>
          <a:bodyPr wrap="square" rtlCol="0" anchor="ctr"/>
          <a:lstStyle/>
          <a:p>
            <a:pPr algn="ctr">
              <a:spcAft>
                <a:spcPts val="400"/>
              </a:spcAft>
              <a:defRPr sz="1300" b="1">
                <a:solidFill>
                  <a:srgbClr val="C4A41A"/>
                </a:solidFill>
                <a:latin typeface="Calibri"/>
              </a:defRPr>
            </a:pPr>
            <a:r>
              <a:rPr lang="fr-FR" dirty="0"/>
              <a:t>3. DÉPLOYER UNE PLATEFORME NUMÉRIQUE</a:t>
            </a:r>
          </a:p>
          <a:p>
            <a:pPr>
              <a:spcAft>
                <a:spcPts val="300"/>
              </a:spcAft>
              <a:defRPr sz="1100">
                <a:solidFill>
                  <a:srgbClr val="333333"/>
                </a:solidFill>
                <a:latin typeface="Calibri"/>
              </a:defRPr>
            </a:pPr>
            <a:r>
              <a:rPr lang="fr-FR" dirty="0"/>
              <a:t>Mettre en place une plateforme de saisie en ligne avec :</a:t>
            </a:r>
          </a:p>
          <a:p>
            <a:pPr>
              <a:spcAft>
                <a:spcPts val="200"/>
              </a:spcAft>
              <a:defRPr sz="1000">
                <a:solidFill>
                  <a:srgbClr val="333333"/>
                </a:solidFill>
                <a:latin typeface="Calibri"/>
              </a:defRPr>
            </a:pPr>
            <a:r>
              <a:rPr lang="fr-FR" dirty="0"/>
              <a:t>• Interface intuitive pour les déclarants</a:t>
            </a:r>
          </a:p>
          <a:p>
            <a:pPr>
              <a:spcAft>
                <a:spcPts val="200"/>
              </a:spcAft>
              <a:defRPr sz="1000">
                <a:solidFill>
                  <a:srgbClr val="333333"/>
                </a:solidFill>
                <a:latin typeface="Calibri"/>
              </a:defRPr>
            </a:pPr>
            <a:r>
              <a:rPr lang="fr-FR" dirty="0"/>
              <a:t>• Contrôles de cohérence en temps réel (somme ≤ 100 %)</a:t>
            </a:r>
          </a:p>
          <a:p>
            <a:pPr>
              <a:spcAft>
                <a:spcPts val="200"/>
              </a:spcAft>
              <a:defRPr sz="1000">
                <a:solidFill>
                  <a:srgbClr val="333333"/>
                </a:solidFill>
                <a:latin typeface="Calibri"/>
              </a:defRPr>
            </a:pPr>
            <a:r>
              <a:rPr lang="fr-FR" dirty="0"/>
              <a:t>• Alertes automatiques en cas de données incohérentes</a:t>
            </a:r>
          </a:p>
          <a:p>
            <a:pPr>
              <a:spcAft>
                <a:spcPts val="200"/>
              </a:spcAft>
              <a:defRPr sz="1000">
                <a:solidFill>
                  <a:srgbClr val="333333"/>
                </a:solidFill>
                <a:latin typeface="Calibri"/>
              </a:defRPr>
            </a:pPr>
            <a:r>
              <a:rPr lang="fr-FR" dirty="0"/>
              <a:t>• Tableau de bord pour le suivi des déclarations</a:t>
            </a:r>
          </a:p>
        </p:txBody>
      </p:sp>
      <p:sp>
        <p:nvSpPr>
          <p:cNvPr id="12" name="Rounded Rectangle 11"/>
          <p:cNvSpPr/>
          <p:nvPr/>
        </p:nvSpPr>
        <p:spPr>
          <a:xfrm>
            <a:off x="457200" y="4297680"/>
            <a:ext cx="10972800" cy="2407920"/>
          </a:xfrm>
          <a:prstGeom prst="roundRect">
            <a:avLst/>
          </a:prstGeom>
          <a:ln/>
        </p:spPr>
        <p:style>
          <a:lnRef idx="2">
            <a:schemeClr val="accent1"/>
          </a:lnRef>
          <a:fillRef idx="1">
            <a:schemeClr val="lt1"/>
          </a:fillRef>
          <a:effectRef idx="0">
            <a:schemeClr val="accent1"/>
          </a:effectRef>
          <a:fontRef idx="minor">
            <a:schemeClr val="dk1"/>
          </a:fontRef>
        </p:style>
        <p:txBody>
          <a:bodyPr wrap="square" rtlCol="0" anchor="ctr"/>
          <a:lstStyle/>
          <a:p>
            <a:pPr algn="ctr">
              <a:spcAft>
                <a:spcPts val="600"/>
              </a:spcAft>
              <a:defRPr sz="1400" b="1">
                <a:solidFill>
                  <a:srgbClr val="1A2E5C"/>
                </a:solidFill>
                <a:latin typeface="Calibri"/>
              </a:defRPr>
            </a:pPr>
            <a:r>
              <a:rPr lang="fr-FR" dirty="0"/>
              <a:t>4. OBLIGATION DE DÉCLARATION EN CAS DE CHANGEMENT</a:t>
            </a:r>
          </a:p>
          <a:p>
            <a:pPr>
              <a:spcAft>
                <a:spcPts val="400"/>
              </a:spcAft>
              <a:defRPr sz="1200">
                <a:solidFill>
                  <a:srgbClr val="333333"/>
                </a:solidFill>
                <a:latin typeface="Calibri"/>
              </a:defRPr>
            </a:pPr>
            <a:r>
              <a:rPr lang="fr-FR" dirty="0"/>
              <a:t>Conformément à l'article 9 du Décret 2020-791, toute modification des informations relatives aux bénéficiaires effectifs doit faire l'objet d'une déclaration modificative dans le mois suivant la survenance du fait. Il est recommandé de :</a:t>
            </a:r>
          </a:p>
          <a:p>
            <a:pPr>
              <a:spcAft>
                <a:spcPts val="200"/>
              </a:spcAft>
              <a:defRPr sz="1100">
                <a:solidFill>
                  <a:srgbClr val="333333"/>
                </a:solidFill>
                <a:latin typeface="Calibri"/>
              </a:defRPr>
            </a:pPr>
            <a:r>
              <a:rPr lang="fr-FR" dirty="0"/>
              <a:t>• Institutionnaliser un système de notification automatique aux entreprises en cas de changement de structure de détention</a:t>
            </a:r>
          </a:p>
          <a:p>
            <a:pPr>
              <a:spcAft>
                <a:spcPts val="200"/>
              </a:spcAft>
              <a:defRPr sz="1100">
                <a:solidFill>
                  <a:srgbClr val="333333"/>
                </a:solidFill>
                <a:latin typeface="Calibri"/>
              </a:defRPr>
            </a:pPr>
            <a:r>
              <a:rPr lang="fr-FR" dirty="0"/>
              <a:t>• Fixer un calendrier annuel de mise à jour obligatoire (par exemple, dans les 30 jours suivant l'AGA)</a:t>
            </a:r>
          </a:p>
          <a:p>
            <a:pPr>
              <a:spcAft>
                <a:spcPts val="200"/>
              </a:spcAft>
              <a:defRPr sz="1100">
                <a:solidFill>
                  <a:srgbClr val="333333"/>
                </a:solidFill>
                <a:latin typeface="Calibri"/>
              </a:defRPr>
            </a:pPr>
            <a:r>
              <a:rPr lang="fr-FR" dirty="0"/>
              <a:t>• Sanctionner le défaut de déclaration modificative par une astreinte progressive</a:t>
            </a:r>
          </a:p>
          <a:p>
            <a:pPr>
              <a:spcAft>
                <a:spcPts val="200"/>
              </a:spcAft>
              <a:defRPr sz="1100">
                <a:solidFill>
                  <a:srgbClr val="333333"/>
                </a:solidFill>
                <a:latin typeface="Calibri"/>
              </a:defRPr>
            </a:pPr>
            <a:r>
              <a:rPr lang="fr-FR" dirty="0"/>
              <a:t>• Mettre en place un mécanisme de rappel (alertes par email/SMS) 15 jours avant l'échéance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0"/>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71600"/>
            <a:ext cx="12191695" cy="36576"/>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28600"/>
            <a:ext cx="11247120" cy="1220847"/>
          </a:xfrm>
          <a:prstGeom prst="rect">
            <a:avLst/>
          </a:prstGeom>
          <a:noFill/>
        </p:spPr>
        <p:txBody>
          <a:bodyPr wrap="square">
            <a:spAutoFit/>
          </a:bodyPr>
          <a:lstStyle/>
          <a:p>
            <a:pPr>
              <a:defRPr sz="3400" b="1">
                <a:solidFill>
                  <a:srgbClr val="FFFFFF"/>
                </a:solidFill>
                <a:latin typeface="Calibri"/>
              </a:defRPr>
            </a:pPr>
            <a:r>
              <a:rPr lang="fr-FR" dirty="0"/>
              <a:t>Conclusion et prochaines étapes</a:t>
            </a:r>
          </a:p>
          <a:p>
            <a:pPr>
              <a:spcBef>
                <a:spcPts val="400"/>
              </a:spcBef>
              <a:defRPr sz="1600">
                <a:solidFill>
                  <a:srgbClr val="C4A41A"/>
                </a:solidFill>
                <a:latin typeface="Calibri"/>
              </a:defRPr>
            </a:pPr>
            <a:r>
              <a:rPr lang="fr-FR" sz="3600" dirty="0">
                <a:solidFill>
                  <a:srgbClr val="FFC000"/>
                </a:solidFill>
                <a:latin typeface="Calibri"/>
              </a:rPr>
              <a:t>Vers un RBE fiable et transparent</a:t>
            </a:r>
          </a:p>
        </p:txBody>
      </p:sp>
      <p:sp>
        <p:nvSpPr>
          <p:cNvPr id="6" name="Rectangle 5"/>
          <p:cNvSpPr/>
          <p:nvPr/>
        </p:nvSpPr>
        <p:spPr>
          <a:xfrm>
            <a:off x="457200" y="6400800"/>
            <a:ext cx="11247120" cy="9144"/>
          </a:xfrm>
          <a:prstGeom prst="rect">
            <a:avLst/>
          </a:prstGeom>
          <a:solidFill>
            <a:srgbClr val="C4A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382" y="1525392"/>
            <a:ext cx="9483878" cy="492443"/>
          </a:xfrm>
          <a:prstGeom prst="rect">
            <a:avLst/>
          </a:prstGeom>
          <a:noFill/>
        </p:spPr>
        <p:txBody>
          <a:bodyPr wrap="none">
            <a:spAutoFit/>
          </a:bodyPr>
          <a:lstStyle/>
          <a:p>
            <a:pPr>
              <a:defRPr sz="1300">
                <a:solidFill>
                  <a:srgbClr val="333333"/>
                </a:solidFill>
                <a:latin typeface="Calibri"/>
              </a:defRPr>
            </a:pPr>
            <a:r>
              <a:rPr lang="fr-FR" dirty="0"/>
              <a:t>L'an</a:t>
            </a:r>
            <a:r>
              <a:rPr lang="en-US" dirty="0" err="1"/>
              <a:t>alyse</a:t>
            </a:r>
            <a:r>
              <a:rPr lang="fr-FR" dirty="0"/>
              <a:t> de la base RBE (2021-2025) révèle des lacunes structurelles qui compromettent son objectif </a:t>
            </a:r>
            <a:br>
              <a:rPr lang="fr-FR" dirty="0"/>
            </a:br>
            <a:r>
              <a:rPr lang="fr-FR" dirty="0"/>
              <a:t>premier : garantir la transparence sur la propriété réelle des entreprises extractives. Des actions correctives immédiates sont nécessaires.</a:t>
            </a:r>
          </a:p>
        </p:txBody>
      </p:sp>
      <p:sp>
        <p:nvSpPr>
          <p:cNvPr id="9" name="Rounded Rectangle 8"/>
          <p:cNvSpPr/>
          <p:nvPr/>
        </p:nvSpPr>
        <p:spPr>
          <a:xfrm>
            <a:off x="457200" y="2103120"/>
            <a:ext cx="5303520" cy="1828800"/>
          </a:xfrm>
          <a:prstGeom prst="roundRect">
            <a:avLst/>
          </a:prstGeom>
          <a:solidFill>
            <a:srgbClr val="FFEBEE"/>
          </a:solidFill>
          <a:ln w="19050">
            <a:solidFill>
              <a:srgbClr val="B71C1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B71C1C"/>
                </a:solidFill>
                <a:latin typeface="Calibri"/>
              </a:defRPr>
            </a:pPr>
            <a:r>
              <a:rPr dirty="0"/>
              <a:t>CONSTATS CLÉS</a:t>
            </a:r>
          </a:p>
          <a:p>
            <a:pPr>
              <a:spcAft>
                <a:spcPts val="300"/>
              </a:spcAft>
              <a:defRPr sz="1100">
                <a:solidFill>
                  <a:srgbClr val="333333"/>
                </a:solidFill>
                <a:latin typeface="Calibri"/>
              </a:defRPr>
            </a:pPr>
            <a:r>
              <a:rPr lang="fr-FR" dirty="0"/>
              <a:t>• 23 % des cellules sont manquantes dans la base</a:t>
            </a:r>
          </a:p>
          <a:p>
            <a:pPr>
              <a:spcAft>
                <a:spcPts val="300"/>
              </a:spcAft>
              <a:defRPr sz="1100">
                <a:solidFill>
                  <a:srgbClr val="333333"/>
                </a:solidFill>
                <a:latin typeface="Calibri"/>
              </a:defRPr>
            </a:pPr>
            <a:r>
              <a:rPr lang="fr-FR" dirty="0"/>
              <a:t>• 97,1 % des enregistrements n'indiquent pas le nom de la PPE</a:t>
            </a:r>
          </a:p>
          <a:p>
            <a:pPr>
              <a:spcAft>
                <a:spcPts val="300"/>
              </a:spcAft>
              <a:defRPr sz="1100">
                <a:solidFill>
                  <a:srgbClr val="333333"/>
                </a:solidFill>
                <a:latin typeface="Calibri"/>
              </a:defRPr>
            </a:pPr>
            <a:r>
              <a:rPr lang="fr-FR" dirty="0"/>
              <a:t>• 87,1 % des enregistrements comportent au moins une erreur de saisie</a:t>
            </a:r>
          </a:p>
          <a:p>
            <a:pPr>
              <a:spcAft>
                <a:spcPts val="300"/>
              </a:spcAft>
              <a:defRPr sz="1100">
                <a:solidFill>
                  <a:srgbClr val="333333"/>
                </a:solidFill>
                <a:latin typeface="Calibri"/>
              </a:defRPr>
            </a:pPr>
            <a:r>
              <a:rPr lang="fr-FR" dirty="0"/>
              <a:t>• 8 entreprises affichent des participations supérieures à 100 %</a:t>
            </a:r>
          </a:p>
          <a:p>
            <a:pPr>
              <a:spcAft>
                <a:spcPts val="300"/>
              </a:spcAft>
              <a:defRPr sz="1100">
                <a:solidFill>
                  <a:srgbClr val="333333"/>
                </a:solidFill>
                <a:latin typeface="Calibri"/>
              </a:defRPr>
            </a:pPr>
            <a:r>
              <a:rPr lang="fr-FR" dirty="0"/>
              <a:t>• Le pays de résidence a totalement disparu en 2025</a:t>
            </a:r>
          </a:p>
        </p:txBody>
      </p:sp>
      <p:sp>
        <p:nvSpPr>
          <p:cNvPr id="10" name="Rounded Rectangle 9"/>
          <p:cNvSpPr/>
          <p:nvPr/>
        </p:nvSpPr>
        <p:spPr>
          <a:xfrm>
            <a:off x="5943600" y="2103120"/>
            <a:ext cx="5669280" cy="1828800"/>
          </a:xfrm>
          <a:prstGeom prst="roundRect">
            <a:avLst/>
          </a:prstGeom>
          <a:solidFill>
            <a:srgbClr val="E8F5E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400" b="1">
                <a:solidFill>
                  <a:srgbClr val="2E7D32"/>
                </a:solidFill>
                <a:latin typeface="Calibri"/>
              </a:defRPr>
            </a:pPr>
            <a:r>
              <a:rPr dirty="0"/>
              <a:t>PLAN D'ACTION PRIORITAIRE</a:t>
            </a:r>
          </a:p>
          <a:p>
            <a:pPr>
              <a:spcAft>
                <a:spcPts val="100"/>
              </a:spcAft>
              <a:defRPr sz="1100" b="1">
                <a:solidFill>
                  <a:srgbClr val="2E7D32"/>
                </a:solidFill>
                <a:latin typeface="Calibri"/>
              </a:defRPr>
            </a:pPr>
            <a:r>
              <a:rPr lang="fr-FR" dirty="0"/>
              <a:t>• Court terme (0-3 mois):</a:t>
            </a:r>
          </a:p>
          <a:p>
            <a:pPr>
              <a:spcAft>
                <a:spcPts val="400"/>
              </a:spcAft>
              <a:defRPr sz="1000">
                <a:solidFill>
                  <a:srgbClr val="333333"/>
                </a:solidFill>
                <a:latin typeface="Calibri"/>
              </a:defRPr>
            </a:pPr>
            <a:r>
              <a:rPr lang="fr-FR" dirty="0"/>
              <a:t>  Rencontre avec les agents de collecte, correction des doublons et erreurs identifiées</a:t>
            </a:r>
          </a:p>
          <a:p>
            <a:pPr>
              <a:spcAft>
                <a:spcPts val="100"/>
              </a:spcAft>
              <a:defRPr sz="1100" b="1">
                <a:solidFill>
                  <a:srgbClr val="2E7D32"/>
                </a:solidFill>
                <a:latin typeface="Calibri"/>
              </a:defRPr>
            </a:pPr>
            <a:r>
              <a:rPr lang="fr-FR" dirty="0"/>
              <a:t>• Moyen terme (3-6 mois):</a:t>
            </a:r>
          </a:p>
          <a:p>
            <a:pPr>
              <a:spcAft>
                <a:spcPts val="400"/>
              </a:spcAft>
              <a:defRPr sz="1000">
                <a:solidFill>
                  <a:srgbClr val="333333"/>
                </a:solidFill>
                <a:latin typeface="Calibri"/>
              </a:defRPr>
            </a:pPr>
            <a:r>
              <a:rPr lang="fr-FR" dirty="0"/>
              <a:t>  Conception du nouveau formulaire, formation des agents, tests pilotes</a:t>
            </a:r>
          </a:p>
          <a:p>
            <a:pPr>
              <a:spcAft>
                <a:spcPts val="100"/>
              </a:spcAft>
              <a:defRPr sz="1100" b="1">
                <a:solidFill>
                  <a:srgbClr val="2E7D32"/>
                </a:solidFill>
                <a:latin typeface="Calibri"/>
              </a:defRPr>
            </a:pPr>
            <a:r>
              <a:rPr lang="fr-FR" dirty="0"/>
              <a:t>• Long terme (6-12 mois):</a:t>
            </a:r>
          </a:p>
          <a:p>
            <a:pPr>
              <a:spcAft>
                <a:spcPts val="400"/>
              </a:spcAft>
              <a:defRPr sz="1000">
                <a:solidFill>
                  <a:srgbClr val="333333"/>
                </a:solidFill>
                <a:latin typeface="Calibri"/>
              </a:defRPr>
            </a:pPr>
            <a:r>
              <a:rPr lang="fr-FR" dirty="0"/>
              <a:t>  Déploiement de la plateforme numérique, migration des données historiques</a:t>
            </a:r>
          </a:p>
        </p:txBody>
      </p:sp>
      <p:sp>
        <p:nvSpPr>
          <p:cNvPr id="11" name="Rounded Rectangle 10"/>
          <p:cNvSpPr/>
          <p:nvPr/>
        </p:nvSpPr>
        <p:spPr>
          <a:xfrm>
            <a:off x="502920" y="4249347"/>
            <a:ext cx="11155680" cy="1994118"/>
          </a:xfrm>
          <a:prstGeom prst="round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rPr lang="fr-FR" dirty="0"/>
              <a:t>Le RBE est un instrument essentiel de la gouvernance des ressources naturelles. Sa fiabilité conditionne la crédibilité du Sénégal auprès de ses partenaires internationaux (ITIE, GAFI, BEI) et la confiance de la société civile.</a:t>
            </a:r>
          </a:p>
          <a:p>
            <a:pPr algn="ctr">
              <a:spcBef>
                <a:spcPts val="800"/>
              </a:spcBef>
              <a:defRPr sz="1300">
                <a:solidFill>
                  <a:srgbClr val="C4A41A"/>
                </a:solidFill>
                <a:latin typeface="Calibri"/>
              </a:defRPr>
            </a:pPr>
            <a:r>
              <a:rPr lang="fr-FR" dirty="0"/>
              <a:t>La mise en œuvre de ces recommandations permettra de transformer le RBE en un outil opérationnel, transparent et conforme aux standards internationaux</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117</TotalTime>
  <Words>2119</Words>
  <Application>Microsoft Office PowerPoint</Application>
  <PresentationFormat>Grand écran</PresentationFormat>
  <Paragraphs>357</Paragraphs>
  <Slides>12</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BCS</dc:creator>
  <cp:keywords/>
  <dc:description>generated using python-pptx</dc:description>
  <cp:lastModifiedBy>sie rachid traore</cp:lastModifiedBy>
  <cp:revision>14</cp:revision>
  <dcterms:created xsi:type="dcterms:W3CDTF">2013-01-27T09:14:16Z</dcterms:created>
  <dcterms:modified xsi:type="dcterms:W3CDTF">2026-06-17T15:33:13Z</dcterms:modified>
  <cp:category/>
</cp:coreProperties>
</file>